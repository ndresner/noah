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anyone.Talk track: every one of these cars is already on a customer-pay RO in our drive. The inspection and the menu find the need; the advisor presents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Alignment, tire balance, brake fluid and fuel system service added together, every store: gross a year above (+) or below (-) the four benchmarks, at the store's own gross per service. Below-benchmark services count against above-benchmark ones here.TOYOTA SPOKANE: −$541K a year against the four benchmarks; under 4 of 4
CHEVY LV: −$475K a year against the four benchmarks; under 4 of 4
TOYOTA FLAGSTAFF: −$356K a year against the four benchmarks; under 4 of 4
TOYOTA HENDERSON: −$302K a year against the four benchmarks; under 3 of 4
KIA LV: −$247K a year against the four benchmarks; under 4 of 4
CDJR POST FALLS: −$245K a year against the four benchmarks; under 4 of 4
TOYOTA PRESCOTT: −$233K a year against the four benchmarks; under 4 of 4
AUDI RENO: −$216K a year against the four benchmarks; under 4 of 4
HONDA FLAGSTAFF: −$200K a year against the four benchmarks; under 4 of 4
NISSAN: −$200K a year against the four benchmarks; under 3 of 4
HONDA SPOKANE: −$186K a year against the four benchmarks; under 3 of 4
LEXUS: −$141K a year against the four benchmarks; under 4 of 4
VW HENDERSON: −$140K a year against the four benchmarks; under 4 of 4
CHEVY GMC BULLHEAD: −$133K a year against the four benchmarks; under 4 of 4
CADILLAC: −$126K a year against the four benchmarks; under 4 of 4
VW ST GEORGE: −$88K a year against the four benchmarks; under 4 of 4
HYUNDAI ST GEORGE: −$81K a year against the four benchmarks; under 4 of 4
GMC PRESCOTT: −$80K a year against the four benchmarks; under 4 of 4
SUBARU LV: −$79K a year against the four benchmarks; under 3 of 4
KIA ST GEORGE: −$70K a year against the four benchmarks; under 3 of 4
LINCOLN: −$64K a year against the four benchmarks; under 3 of 4
SUBARU ST GEORGE: −$55K a year against the four benchmarks; under 2 of 4
LR RENO: −$43K a year against the four benchmarks; under 3 of 4
VOLVO: −$38K a year against the four benchmarks; under 3 of 4
MAZDA: −$38K a year against the four benchmarks; under 3 of 4
AUDI HENDERSON: −$30K a year against the four benchmarks; under 3 of 4
HYUNDAI PRESCOTT: +$31K a year against the four benchmarks; under 3 of 4
ACURA: +$45K a year against the four benchmarks; under 1 of 4
SUBARU PRESCOTT: +$55K a year against the four benchmarks; under 2 of 4
HONDA NORTH: +$60K a year against the four benchmarks; under 1 of 4
LR HENDERSON: +$72K a year against the four benchmarks; under 1 of 4
LR LV: +$201K a year against the four benchmarks; under 1 of 4
HONDA HENDERSON: +$743K a year against the four benchmarks; under 0 of 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Alignment: every store, gross a year above (+) or below (-) the benchmark at the store's own gross per service; group gross per service $129. Rate = Jan-Sep closing %.Near-zero stores are included on purpose (Noah, Oct 19 2026): some stores sell little of a service by OEM recommendation or local habit (e.g. Spokane customers swap seasonal tires, so fewer balances), but not every customer fits that pattern, so the opportunity is real. A store with a high RO count can show more opportunity than one selling at zero.
TOYOTA SPOKANE: 4.2%, −$225K a year at $90/service
TOYOTA FLAGSTAFF: 9.7%, −$90K a year at $84/service
NISSAN: 7.4%, −$83K a year at $119/service
KIA LV: 9.7%, −$77K a year at $135/service
CHEVY LV: 12.8%, −$75K a year at $136/service
CDJR POST FALLS: 4.2%, −$57K a year at $74/service
TOYOTA PRESCOTT: 12.3%, −$49K a year at $103/service
KIA ST GEORGE: 8.0%, −$38K a year at $105/service
HONDA SPOKANE: 12.5%, −$36K a year at $124/service
AUDI RENO: 11.8%, −$34K a year at $230/service
TOYOTA HENDERSON: 14.5%, −$33K a year at $102/service
LEXUS: 11.3%, −$33K a year at $147/service
LINCOLN: 8.4%, −$26K a year at $114/service
CHEVY GMC BULLHEAD: 11.1%, −$25K a year at $78/service
VW HENDERSON: 13.6%, −$23K a year at $245/service
SUBARU ST GEORGE: 11.0%, −$23K a year at $78/service
HONDA FLAGSTAFF: 11.0%, −$21K a year at $100/service
VW ST GEORGE: 5.6%, −$18K a year at $74/service
SUBARU PRESCOTT: 12.5%, −$12K a year at $73/service
GMC PRESCOTT: 11.7%, −$11K a year at $85/service
LR RENO: 12.8%, −$10K a year at $259/service (capped; raw $715/service)
SUBARU LV: 14.5%, −$10K a year at $117/service
CADILLAC: 13.8%, −$9K a year at $115/service
VOLVO: 13.8%, −$7K a year at $142/service
HYUNDAI ST GEORGE: 14.8%, −$865 a year at $121/service
ACURA: 17.5%, +$14K a year at $117/service
MAZDA: 16.6%, +$17K a year at $132/service
LR LV: 17.3%, +$23K a year at $210/service
HONDA NORTH: 16.1%, +$27K a year at $112/service
LR HENDERSON: 24.4%, +$41K a year at $209/service
HYUNDAI PRESCOTT: 21.7%, +$42K a year at $228/service
AUDI HENDERSON: 27.5%, +$163K a year at $259/service (capped; raw $390/service)
HONDA HENDERSON: 21.3%, +$229K a year at $121/service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Tire Balance: every store, gross a year above (+) or below (-) the benchmark at the store's own gross per service; group gross per service $75. Rate = Jan-Sep closing %.Near-zero stores are included on purpose (Noah, Oct 19 2026): some stores sell little of a service by OEM recommendation or local habit (e.g. Spokane customers swap seasonal tires, so fewer balances), but not every customer fits that pattern, so the opportunity is real. A store with a high RO count can show more opportunity than one selling at zero.
TOYOTA SPOKANE: 0.4%, −$180K a year at $53/service
TOYOTA HENDERSON: 11.2%, −$147K a year at $55/service
TOYOTA PRESCOTT: 6.1%, −$132K a year at $83/service
SUBARU ST GEORGE: 3.6%, −$125K a year at $149/service (capped; raw $247/service)
TOYOTA FLAGSTAFF: 4.9%, −$109K a year at $54/service
CHEVY LV: 7.3%, −$106K a year at $53/service
HONDA SPOKANE: 2.1%, −$80K a year at $52/service
NISSAN: 1.0%, −$77K a year at $59/service
CDJR POST FALLS: 1.2%, −$73K a year at $75/service
KIA LV: 5.2%, −$72K a year at $68/service
LEXUS: 0.0%, −$68K a year at $75/service (group avg)
SUBARU LV: 10.2%, −$68K a year at $75/service
AUDI HENDERSON: 0.0%, −$56K a year at $75/service (group avg)
AUDI RENO: 0.1%, −$52K a year at $75/service (group avg)
HONDA FLAGSTAFF: 1.3%, −$52K a year at $70/service
HONDA NORTH: 12.0%, −$38K a year at $64/service
HYUNDAI ST GEORGE: 1.2%, −$36K a year at $58/service
LINCOLN: 1.6%, −$31K a year at $66/service
VW ST GEORGE: 0.4%, −$28K a year at $75/service (group avg)
VW HENDERSON: 8.2%, −$27K a year at $60/service
GMC PRESCOTT: 7.7%, −$27K a year at $90/service
CHEVY GMC BULLHEAD: 9.0%, −$21K a year at $42/service
KIA ST GEORGE: 7.7%, −$18K a year at $48/service
CADILLAC: 5.9%, −$14K a year at $22/service
MAZDA: 13.1%, −$11K a year at $79/service
VOLVO: 11.7%, −$8K a year at $51/service
HYUNDAI PRESCOTT: 13.5%, −$6K a year at $149/service (capped; raw $311/service)
ACURA: 14.1%, −$3K a year at $64/service
SUBARU PRESCOTT: 14.9%, −$34 a year at $34/service
LR RENO: 16.9%, +$6K a year at $149/service (capped; raw $647/service)
LR LV: 16.9%, +$14K a year at $149/service
LR HENDERSON: 27.0%, +$31K a year at $122/service
HONDA HENDERSON: 18.4%, +$70K a year at $68/service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Brake Fluid: every store, gross a year above (+) or below (-) the benchmark at the store's own gross per service; group gross per service $189. Rate = Jan-Sep closing %.Near-zero stores are included on purpose (Noah, Oct 19 2026): some stores sell little of a service by OEM recommendation or local habit (e.g. Spokane customers swap seasonal tires, so fewer balances), but not every customer fits that pattern, so the opportunity is real. A store with a high RO count can show more opportunity than one selling at zero.
CHEVY LV: 5.7%, −$151K a year at $138/service
TOYOTA SPOKANE: 7.0%, −$80K a year at $117/service
AUDI RENO: 1.9%, −$78K a year at $206/service
AUDI HENDERSON: 2.4%, −$74K a year at $196/service
HONDA FLAGSTAFF: 3.1%, −$67K a year at $184/service
CADILLAC: 4.6%, −$57K a year at $150/service
CDJR POST FALLS: 4.2%, −$53K a year at $128/service
TOYOTA FLAGSTAFF: 8.0%, −$48K a year at $123/service
TOYOTA PRESCOTT: 8.4%, −$32K a year at $112/service
HYUNDAI ST GEORGE: 4.7%, −$32K a year at $134/service
KIA ST GEORGE: 5.9%, −$25K a year at $119/service
KIA LV: 8.2%, −$22K a year at $120/service
CHEVY GMC BULLHEAD: 7.0%, −$21K a year at $87/service
GMC PRESCOTT: 6.0%, −$21K a year at $127/service
LR RENO: 7.2%, −$20K a year at $377/service (capped; raw $1,380/service)
MAZDA: 8.4%, −$18K a year at $154/service
LEXUS: 8.3%, −$15K a year at $154/service
VW ST GEORGE: 5.4%, −$13K a year at $111/service
LINCOLN: 7.5%, −$11K a year at $126/service
VW HENDERSON: 9.5%, −$4K a year at $134/service
HYUNDAI PRESCOTT: 9.6%, −$3K a year at $354/service
HONDA SPOKANE: 10.3%, +$5K a year at $126/service
TOYOTA HENDERSON: 10.0%, +$7K a year at $141/service
SUBARU LV: 10.1%, +$9K a year at $333/service
SUBARU PRESCOTT: 10.6%, +$16K a year at $377/service (capped; raw $380/service)
ACURA: 12.7%, +$20K a year at $147/service
SUBARU ST GEORGE: 10.7%, +$21K a year at $377/service (capped; raw $489/service)
NISSAN: 11.6%, +$24K a year at $155/service
VOLVO: 11.9%, +$33K a year at $377/service (capped; raw $538/service)
LR HENDERSON: 14.3%, +$34K a year at $377/service (capped; raw $709/service)
HONDA NORTH: 12.1%, +$67K a year at $160/service
LR LV: 20.6%, +$187K a year at $377/service (capped; raw $424/service)
HONDA HENDERSON: 15.5%, +$260K a year at $155/service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Jan-Sep 2026 by close date, op code report basis. Same-store, INEOS excluded (opened 2026). Services short = benchmark x the store's CP ROs, minus the services it sold. Each service valued at the store's own labor + parts gross per service sold (group average where the store sold fewer than 30), capped at twice the group average because some flagged lines carry other work bundled on them. A year = Jan-Sep x 12 / 9. Stores at or above the benchmark are not shown and do not offset anyone. Fuel System Service: every store, gross a year above (+) or below (-) the benchmark at the store's own gross per service; group gross per service $165. Rate = Jan-Sep closing %.Near-zero stores are included on purpose (Noah, Oct 19 2026): some stores sell little of a service by OEM recommendation or local habit (e.g. Spokane customers swap seasonal tires, so fewer balances), but not every customer fits that pattern, so the opportunity is real. A store with a high RO count can show more opportunity than one selling at zero.
CHEVY LV: 5.2%, −$142K a year at $243/service
TOYOTA HENDERSON: 6.0%, −$129K a year at $122/service
TOYOTA FLAGSTAFF: 1.6%, −$109K a year at $93/service
VW HENDERSON: 0.0%, −$85K a year at $165/service (group avg)
KIA LV: 3.2%, −$76K a year at $163/service
HONDA SPOKANE: 3.2%, −$75K a year at $147/service
CHEVY GMC BULLHEAD: 2.7%, −$65K a year at $163/service
NISSAN: 4.1%, −$64K a year at $206/service
AUDI HENDERSON: 0.0%, −$62K a year at $165/service (group avg)
CDJR POST FALLS: 3.0%, −$62K a year at $192/service
HONDA FLAGSTAFF: 0.7%, −$60K a year at $165/service (group avg)
TOYOTA SPOKANE: 5.8%, −$56K a year at $145/service
VOLVO: 0.0%, −$56K a year at $165/service (group avg)
AUDI RENO: 0.8%, −$51K a year at $165/service (group avg)
CADILLAC: 5.1%, −$46K a year at $269/service
LR HENDERSON: 2.5%, −$34K a year at $329/service (capped; raw $774/service)
VW ST GEORGE: 2.7%, −$29K a year at $236/service
MAZDA: 5.2%, −$26K a year at $150/service
LEXUS: 4.2%, −$25K a year at $128/service
LR LV: 5.5%, −$24K a year at $258/service
GMC PRESCOTT: 3.6%, −$21K a year at $133/service
TOYOTA PRESCOTT: 6.4%, −$19K a year at $101/service
LR RENO: 4.5%, −$18K a year at $329/service (capped; raw $1,631/service)
HYUNDAI ST GEORGE: 5.8%, −$13K a year at $176/service
SUBARU LV: 7.0%, −$10K a year at $130/service
HYUNDAI PRESCOTT: 7.3%, −$1K a year at $329/service (capped; raw $459/service)
HONDA NORTH: 7.6%, +$4K a year at $118/service
LINCOLN: 8.2%, +$4K a year at $175/service
KIA ST GEORGE: 8.9%, +$12K a year at $154/service
ACURA: 9.3%, +$13K a year at $145/service
SUBARU PRESCOTT: 9.7%, +$51K a year at $329/service (capped; raw $406/service)
SUBARU ST GEORGE: 13.8%, +$72K a year at $153/service
HONDA HENDERSON: 12.0%, +$185K a year at $135/service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Store at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481328"/>
            <a:ext cx="107259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4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EVERY STORE REACHED ALL FOUR BENCHMARKS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874520"/>
            <a:ext cx="1072591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$4,895,199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90672"/>
            <a:ext cx="10725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 in labor and parts gross · about $407,933 a month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6092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Shape 8"/>
          <p:cNvSpPr/>
          <p:nvPr/>
        </p:nvSpPr>
        <p:spPr>
          <a:xfrm>
            <a:off x="736092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7532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· 15%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7532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$1,029,276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27532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9,935 more services a year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61004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461004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552444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 · 15%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552444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$1,664,385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3552444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26,062 more services a year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5916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0" name="Shape 18"/>
          <p:cNvSpPr/>
          <p:nvPr/>
        </p:nvSpPr>
        <p:spPr>
          <a:xfrm>
            <a:off x="6185916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77356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· 10%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77356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$844,657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277356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5,919 more services a year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10828" y="3794760"/>
            <a:ext cx="2542032" cy="1691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910828" y="3794760"/>
            <a:ext cx="2542032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02268" y="3950208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6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 · 7.5%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002268" y="4315968"/>
            <a:ext cx="2359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$1,356,881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002268" y="4892040"/>
            <a:ext cx="2359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8,527 more services a year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50,442 more services a year on cars already in our drives. No new customers needed.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Variance from Benchmark by Store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18888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95511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369296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345919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00997" y="1756697"/>
            <a:ext cx="96302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18888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+$743K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00997" y="2005199"/>
            <a:ext cx="260306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18888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+$201K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800997" y="2253700"/>
            <a:ext cx="9275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18888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+$72K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00997" y="2502202"/>
            <a:ext cx="7770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818888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+$60K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800997" y="2750703"/>
            <a:ext cx="7142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18888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+$55K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00997" y="2999205"/>
            <a:ext cx="5769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818888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+$45K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800997" y="3247707"/>
            <a:ext cx="4033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818888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+$31K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762731" y="3496208"/>
            <a:ext cx="3826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18888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−$30K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752270" y="3744710"/>
            <a:ext cx="4872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818888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751591" y="3993212"/>
            <a:ext cx="4940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818888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50" name="Text 48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3745550" y="4241713"/>
            <a:ext cx="5544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4818888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−$43K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3729945" y="4490215"/>
            <a:ext cx="7105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818888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−$55K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718481" y="4738717"/>
            <a:ext cx="8251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4818888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−$64K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710263" y="4987218"/>
            <a:ext cx="9073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818888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−$70K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3698735" y="5235720"/>
            <a:ext cx="1022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4818888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−$79K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3697071" y="5484222"/>
            <a:ext cx="10392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818888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−$80K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3696290" y="5732723"/>
            <a:ext cx="10470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818888" y="567681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−$81K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9237983" y="1756697"/>
            <a:ext cx="11342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10369296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−$88K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9188179" y="2005199"/>
            <a:ext cx="16322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10369296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−$126K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9179400" y="2253700"/>
            <a:ext cx="17200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10369296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−$133K</a:t>
            </a:r>
            <a:endParaRPr lang="en-US" sz="1300" dirty="0"/>
          </a:p>
        </p:txBody>
      </p:sp>
      <p:sp>
        <p:nvSpPr>
          <p:cNvPr id="90" name="Text 88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9170174" y="2502202"/>
            <a:ext cx="1812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369296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−$140K</a:t>
            </a:r>
            <a:endParaRPr lang="en-US" sz="1300" dirty="0"/>
          </a:p>
        </p:txBody>
      </p:sp>
      <p:sp>
        <p:nvSpPr>
          <p:cNvPr id="94" name="Text 92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9169305" y="2750703"/>
            <a:ext cx="18210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10369296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−$141K</a:t>
            </a:r>
            <a:endParaRPr lang="en-US" sz="1300" dirty="0"/>
          </a:p>
        </p:txBody>
      </p:sp>
      <p:sp>
        <p:nvSpPr>
          <p:cNvPr id="98" name="Text 96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00" name="Shape 98"/>
          <p:cNvSpPr/>
          <p:nvPr/>
        </p:nvSpPr>
        <p:spPr>
          <a:xfrm>
            <a:off x="9109792" y="2999205"/>
            <a:ext cx="24161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10369296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−$186K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9092573" y="3247707"/>
            <a:ext cx="25883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10369296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−$200K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8" name="Shape 106"/>
          <p:cNvSpPr/>
          <p:nvPr/>
        </p:nvSpPr>
        <p:spPr>
          <a:xfrm>
            <a:off x="9092243" y="3496208"/>
            <a:ext cx="2591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9" name="Text 107"/>
          <p:cNvSpPr txBox="1"/>
          <p:nvPr/>
        </p:nvSpPr>
        <p:spPr>
          <a:xfrm>
            <a:off x="10369296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−$200K</a:t>
            </a:r>
            <a:endParaRPr lang="en-US" sz="13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12" name="Shape 110"/>
          <p:cNvSpPr/>
          <p:nvPr/>
        </p:nvSpPr>
        <p:spPr>
          <a:xfrm>
            <a:off x="9072005" y="3744710"/>
            <a:ext cx="27940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10369296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−$216K</a:t>
            </a:r>
            <a:endParaRPr lang="en-US" sz="1300" dirty="0"/>
          </a:p>
        </p:txBody>
      </p:sp>
      <p:sp>
        <p:nvSpPr>
          <p:cNvPr id="114" name="Text 112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16" name="Shape 114"/>
          <p:cNvSpPr/>
          <p:nvPr/>
        </p:nvSpPr>
        <p:spPr>
          <a:xfrm>
            <a:off x="9049807" y="3993212"/>
            <a:ext cx="30159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10369296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−$233K</a:t>
            </a:r>
            <a:endParaRPr lang="en-US" sz="1300" dirty="0"/>
          </a:p>
        </p:txBody>
      </p:sp>
      <p:sp>
        <p:nvSpPr>
          <p:cNvPr id="118" name="Text 116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20" name="Shape 118"/>
          <p:cNvSpPr/>
          <p:nvPr/>
        </p:nvSpPr>
        <p:spPr>
          <a:xfrm>
            <a:off x="9034236" y="4241713"/>
            <a:ext cx="31717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10369296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−$245K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9031867" y="4490215"/>
            <a:ext cx="31953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10369296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−$247K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28" name="Shape 126"/>
          <p:cNvSpPr/>
          <p:nvPr/>
        </p:nvSpPr>
        <p:spPr>
          <a:xfrm>
            <a:off x="8959526" y="4738717"/>
            <a:ext cx="39188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10369296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−$302K</a:t>
            </a:r>
            <a:endParaRPr lang="en-US" sz="1300" dirty="0"/>
          </a:p>
        </p:txBody>
      </p:sp>
      <p:sp>
        <p:nvSpPr>
          <p:cNvPr id="130" name="Text 128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32" name="Shape 130"/>
          <p:cNvSpPr/>
          <p:nvPr/>
        </p:nvSpPr>
        <p:spPr>
          <a:xfrm>
            <a:off x="8890482" y="4987218"/>
            <a:ext cx="46092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10369296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−$356K</a:t>
            </a:r>
            <a:endParaRPr lang="en-US" sz="1300" dirty="0"/>
          </a:p>
        </p:txBody>
      </p:sp>
      <p:sp>
        <p:nvSpPr>
          <p:cNvPr id="134" name="Text 132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36" name="Shape 134"/>
          <p:cNvSpPr/>
          <p:nvPr/>
        </p:nvSpPr>
        <p:spPr>
          <a:xfrm>
            <a:off x="8735965" y="5235720"/>
            <a:ext cx="61544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7" name="Text 135"/>
          <p:cNvSpPr txBox="1"/>
          <p:nvPr/>
        </p:nvSpPr>
        <p:spPr>
          <a:xfrm>
            <a:off x="10369296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−$475K</a:t>
            </a:r>
            <a:endParaRPr lang="en-US" sz="1300" dirty="0"/>
          </a:p>
        </p:txBody>
      </p:sp>
      <p:sp>
        <p:nvSpPr>
          <p:cNvPr id="138" name="Text 136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40" name="Shape 138"/>
          <p:cNvSpPr/>
          <p:nvPr/>
        </p:nvSpPr>
        <p:spPr>
          <a:xfrm>
            <a:off x="8650224" y="5484222"/>
            <a:ext cx="70118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1" name="Text 139"/>
          <p:cNvSpPr txBox="1"/>
          <p:nvPr/>
        </p:nvSpPr>
        <p:spPr>
          <a:xfrm>
            <a:off x="10369296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−$541K</a:t>
            </a:r>
            <a:endParaRPr lang="en-US" sz="1300" dirty="0"/>
          </a:p>
        </p:txBody>
      </p:sp>
      <p:sp>
        <p:nvSpPr>
          <p:cNvPr id="142" name="Shape 140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43" name="Shape 14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 is furthest below at −$541K a year; 7 of 33 stores are ahead of benchmark across the four services. 15 stores are under all four.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78808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7608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02724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29216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82649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153132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08210" y="1756697"/>
            <a:ext cx="515734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8808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+$229K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21.3%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08210" y="2005199"/>
            <a:ext cx="36862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8808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+$163K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27.5%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08210" y="2253700"/>
            <a:ext cx="9366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8808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7608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21.7%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08210" y="2502202"/>
            <a:ext cx="9251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78808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+$41K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24.4%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08210" y="2750703"/>
            <a:ext cx="6043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78808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+$27K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7608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16.1%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08210" y="2999205"/>
            <a:ext cx="52903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178808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+$23K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7608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17.3%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608210" y="3247707"/>
            <a:ext cx="38422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78808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+$17K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16.6%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08210" y="3496208"/>
            <a:ext cx="3240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178808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7608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17.5%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606258" y="3744710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178808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−$865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7608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14.8%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591832" y="3993212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178808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−$7K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7608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587605" y="4241713"/>
            <a:ext cx="2060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178808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27608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586165" y="4490215"/>
            <a:ext cx="2204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178808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27608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584721" y="4738717"/>
            <a:ext cx="2348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178808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27608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582272" y="4987218"/>
            <a:ext cx="2593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178808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27608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580943" y="5235720"/>
            <a:ext cx="2726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178808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−$12K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7608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568116" y="5484222"/>
            <a:ext cx="4009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178808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27608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560947" y="5732723"/>
            <a:ext cx="4726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4178808" y="567681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27608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9107541" y="1756697"/>
            <a:ext cx="5107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9729216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−$23K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82649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11.0%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9105708" y="2005199"/>
            <a:ext cx="5291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9729216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−$23K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82649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9101403" y="2253700"/>
            <a:ext cx="5721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29216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82649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9099265" y="2502202"/>
            <a:ext cx="5935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729216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−$26K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82649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9084954" y="2750703"/>
            <a:ext cx="7366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9729216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−$33K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82649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11.3%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9083815" y="2999205"/>
            <a:ext cx="7480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9729216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−$33K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82649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9081129" y="3247707"/>
            <a:ext cx="7749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729216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−$34K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82649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9076646" y="3496208"/>
            <a:ext cx="8197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729216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−$36K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82649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9072387" y="3744710"/>
            <a:ext cx="862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9729216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82649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9047176" y="3993212"/>
            <a:ext cx="11144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9729216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−$49K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82649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12.3%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9029635" y="4241713"/>
            <a:ext cx="12898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9729216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−$57K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82649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988331" y="4490215"/>
            <a:ext cx="17028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729216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−$75K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82649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12.8%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985336" y="4738717"/>
            <a:ext cx="17328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29216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−$77K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82649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971042" y="4987218"/>
            <a:ext cx="18757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29216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−$83K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82649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7.4%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8955629" y="5235720"/>
            <a:ext cx="20299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9729216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−$90K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82649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3" name="Text 171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8650224" y="5484222"/>
            <a:ext cx="50839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9729216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−$225K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82649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 stores under 15% leave $1,029,276 a year; 8 are at or above it. Toyota Spokane is furthest below at −$225K.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78808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7608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31949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29216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82649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382357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837435" y="1756697"/>
            <a:ext cx="28650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8808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+$70K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18.4%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837435" y="2005199"/>
            <a:ext cx="12539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8808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+$31K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27.0%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37435" y="2253700"/>
            <a:ext cx="56794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8808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7608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837435" y="2502202"/>
            <a:ext cx="2273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78808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16.9%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837294" y="2750703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78808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7608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14.9%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826086" y="2999205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178808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7608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14.1%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813350" y="3247707"/>
            <a:ext cx="2408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78808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13.5%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806604" y="3496208"/>
            <a:ext cx="308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178808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7608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792816" y="3744710"/>
            <a:ext cx="4461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178808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7608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13.1%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778841" y="3993212"/>
            <a:ext cx="5859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178808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−$14K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7608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762034" y="4241713"/>
            <a:ext cx="7540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178808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27608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751798" y="4490215"/>
            <a:ext cx="8563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178808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27608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9.0%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727198" y="4738717"/>
            <a:ext cx="11023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178808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−$27K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27608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725070" y="4987218"/>
            <a:ext cx="11236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178808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−$27K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27608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723194" y="5235720"/>
            <a:ext cx="11424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178808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−$28K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7608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710862" y="5484222"/>
            <a:ext cx="12657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178808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−$31K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27608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690964" y="5732723"/>
            <a:ext cx="14647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4178808" y="567681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−$36K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27608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9230771" y="1756697"/>
            <a:ext cx="15707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9729216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−$38K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82649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9175412" y="2005199"/>
            <a:ext cx="2124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9729216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−$52K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82649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9174770" y="2253700"/>
            <a:ext cx="21307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29216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−$52K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82649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9156849" y="2502202"/>
            <a:ext cx="23099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729216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82649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9109512" y="2750703"/>
            <a:ext cx="2783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9729216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−$68K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82649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10.2%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9109414" y="2999205"/>
            <a:ext cx="27843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9729216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−$68K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82649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9093262" y="3247707"/>
            <a:ext cx="29458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729216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−$72K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82649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9087005" y="3496208"/>
            <a:ext cx="30083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729216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−$73K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82649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9073146" y="3744710"/>
            <a:ext cx="31469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9729216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−$77K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82649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1.0%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9059221" y="3993212"/>
            <a:ext cx="32862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9729216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−$80K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82649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2.1%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8951542" y="4241713"/>
            <a:ext cx="43630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9729216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−$106K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82649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940210" y="4490215"/>
            <a:ext cx="44763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729216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−$109K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82649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875154" y="4738717"/>
            <a:ext cx="51269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29216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−$125K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82649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844728" y="4987218"/>
            <a:ext cx="54311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29216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−$132K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82649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8783012" y="5235720"/>
            <a:ext cx="6048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9729216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−$147K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82649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3" name="Text 171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8650224" y="5484222"/>
            <a:ext cx="73761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9729216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−$180K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82649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 stores under 15% leave $1,664,385 a year; 4 are at or above it. Toyota Spokane is furthest below at −$180K.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78808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7608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0240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29216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82649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20648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75726" y="1756697"/>
            <a:ext cx="64821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8808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+$260K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15.5%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5726" y="2005199"/>
            <a:ext cx="467053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8808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+$187K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20.6%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75726" y="2253700"/>
            <a:ext cx="16809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8808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+$67K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7608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12.1%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75726" y="2502202"/>
            <a:ext cx="8415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78808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+$34K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14.3%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475726" y="2750703"/>
            <a:ext cx="81270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78808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7608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11.9%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75726" y="2999205"/>
            <a:ext cx="5892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178808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+$24K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7608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11.6%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475726" y="3247707"/>
            <a:ext cx="5229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78808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475726" y="3496208"/>
            <a:ext cx="48881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178808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7608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12.7%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475726" y="3744710"/>
            <a:ext cx="39506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178808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+$16K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7608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10.6%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475726" y="3993212"/>
            <a:ext cx="2211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178808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+$9K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7608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10.1%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475726" y="4241713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178808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27608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10.0%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475726" y="4490215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178808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+$5K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27608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10.3%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467487" y="4738717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178808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27608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9.6%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464806" y="498721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178808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−$4K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27608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9.5%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448532" y="5235720"/>
            <a:ext cx="2719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178808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−$11K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7608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443206" y="5484222"/>
            <a:ext cx="3252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178808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−$13K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27608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438055" y="5732723"/>
            <a:ext cx="3767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4178808" y="567681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−$15K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27608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8982059" y="1756697"/>
            <a:ext cx="4407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9729216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82649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977096" y="2005199"/>
            <a:ext cx="4903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9729216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−$20K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82649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8974752" y="2253700"/>
            <a:ext cx="5138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29216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82649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973015" y="2502202"/>
            <a:ext cx="5311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729216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82649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8970285" y="2750703"/>
            <a:ext cx="5585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9729216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−$22K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82649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8963737" y="2999205"/>
            <a:ext cx="6239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9729216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82649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8947585" y="3247707"/>
            <a:ext cx="7855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729216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−$32K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82649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946049" y="3496208"/>
            <a:ext cx="8008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729216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−$32K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82649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8907086" y="3744710"/>
            <a:ext cx="11904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9729216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−$48K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82649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8895233" y="3993212"/>
            <a:ext cx="13090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9729216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−$53K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82649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8884789" y="4241713"/>
            <a:ext cx="14134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9729216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−$57K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82649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858308" y="4490215"/>
            <a:ext cx="16782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729216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−$67K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82649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3.1%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840630" y="4738717"/>
            <a:ext cx="18550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29216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−$74K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82649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831965" y="4987218"/>
            <a:ext cx="19416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29216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−$78K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82649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8826849" y="5235720"/>
            <a:ext cx="19928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9729216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−$80K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82649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3" name="Text 171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8650224" y="5484222"/>
            <a:ext cx="37591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9729216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−$151K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82649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5.7%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stores under 10% leave $844,657 a year; 12 are at or above it. Chevy LV is furthest below at −$151K.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JAN–SEP 2026, ANNUALIZED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System Service Variance from Benchmark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178808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276088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40063" y="1700784"/>
            <a:ext cx="10973" cy="4224528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729216" y="13167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826496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090471" y="1700784"/>
            <a:ext cx="10973" cy="3976026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14984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545549" y="1756697"/>
            <a:ext cx="578395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78808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+$185K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14984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545549" y="2005199"/>
            <a:ext cx="224689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178808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+$72K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276088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13.8%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545549" y="2253700"/>
            <a:ext cx="160950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178808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+$51K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276088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545549" y="2502202"/>
            <a:ext cx="41697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178808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+$13K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76088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9.3%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1014984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45549" y="2750703"/>
            <a:ext cx="36360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178808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+$12K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276088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8.9%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1014984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545549" y="2999205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178808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+$4K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5276088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8.2%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14984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3545549" y="3247707"/>
            <a:ext cx="18288" cy="13667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4178808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+$4K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5276088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7.6%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541770" y="3496208"/>
            <a:ext cx="1828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178808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−$1K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76088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658368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3513580" y="3744710"/>
            <a:ext cx="3196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178808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−$10K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5276088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658368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505684" y="3993212"/>
            <a:ext cx="3986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178808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−$13K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76088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3488418" y="4241713"/>
            <a:ext cx="5713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178808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−$18K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5276088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4.5%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3486400" y="4490215"/>
            <a:ext cx="5915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178808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−$19K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276088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6.4%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658368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73" name="Text 71"/>
          <p:cNvSpPr txBox="1"/>
          <p:nvPr/>
        </p:nvSpPr>
        <p:spPr>
          <a:xfrm>
            <a:off x="1014984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74" name="Shape 72"/>
          <p:cNvSpPr/>
          <p:nvPr/>
        </p:nvSpPr>
        <p:spPr>
          <a:xfrm>
            <a:off x="3479069" y="4738717"/>
            <a:ext cx="6648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4178808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−$21K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5276088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3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78" name="Text 76"/>
          <p:cNvSpPr txBox="1"/>
          <p:nvPr/>
        </p:nvSpPr>
        <p:spPr>
          <a:xfrm>
            <a:off x="1014984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79" name="Shape 77"/>
          <p:cNvSpPr/>
          <p:nvPr/>
        </p:nvSpPr>
        <p:spPr>
          <a:xfrm>
            <a:off x="3470893" y="4987218"/>
            <a:ext cx="7465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4178808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−$24K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5276088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5.5%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658368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1014984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3467487" y="5235720"/>
            <a:ext cx="780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4178808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−$25K</a:t>
            </a:r>
            <a:endParaRPr lang="en-US" sz="1300" dirty="0"/>
          </a:p>
        </p:txBody>
      </p:sp>
      <p:sp>
        <p:nvSpPr>
          <p:cNvPr id="86" name="Text 84"/>
          <p:cNvSpPr txBox="1"/>
          <p:nvPr/>
        </p:nvSpPr>
        <p:spPr>
          <a:xfrm>
            <a:off x="5276088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658368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1014984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3463887" y="5484222"/>
            <a:ext cx="816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4178808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−$26K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5276088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7681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1014984" y="567681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94" name="Shape 92"/>
          <p:cNvSpPr/>
          <p:nvPr/>
        </p:nvSpPr>
        <p:spPr>
          <a:xfrm>
            <a:off x="3455112" y="5732723"/>
            <a:ext cx="9043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4178808" y="567681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−$29K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5276088" y="567681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97" name="Text 95"/>
          <p:cNvSpPr txBox="1"/>
          <p:nvPr/>
        </p:nvSpPr>
        <p:spPr>
          <a:xfrm>
            <a:off x="6208776" y="170078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98" name="Text 96"/>
          <p:cNvSpPr txBox="1"/>
          <p:nvPr/>
        </p:nvSpPr>
        <p:spPr>
          <a:xfrm>
            <a:off x="6565392" y="170078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8990249" y="1756697"/>
            <a:ext cx="105708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9729216" y="170078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−$34K</a:t>
            </a:r>
            <a:endParaRPr lang="en-US" sz="1300" dirty="0"/>
          </a:p>
        </p:txBody>
      </p:sp>
      <p:sp>
        <p:nvSpPr>
          <p:cNvPr id="101" name="Text 99"/>
          <p:cNvSpPr txBox="1"/>
          <p:nvPr/>
        </p:nvSpPr>
        <p:spPr>
          <a:xfrm>
            <a:off x="10826496" y="170078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300" dirty="0"/>
          </a:p>
        </p:txBody>
      </p:sp>
      <p:sp>
        <p:nvSpPr>
          <p:cNvPr id="102" name="Text 100"/>
          <p:cNvSpPr txBox="1"/>
          <p:nvPr/>
        </p:nvSpPr>
        <p:spPr>
          <a:xfrm>
            <a:off x="6208776" y="194928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565392" y="194928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8952406" y="2005199"/>
            <a:ext cx="143551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05" name="Text 103"/>
          <p:cNvSpPr txBox="1"/>
          <p:nvPr/>
        </p:nvSpPr>
        <p:spPr>
          <a:xfrm>
            <a:off x="9729216" y="194928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−$46K</a:t>
            </a:r>
            <a:endParaRPr lang="en-US" sz="1300" dirty="0"/>
          </a:p>
        </p:txBody>
      </p:sp>
      <p:sp>
        <p:nvSpPr>
          <p:cNvPr id="106" name="Text 104"/>
          <p:cNvSpPr txBox="1"/>
          <p:nvPr/>
        </p:nvSpPr>
        <p:spPr>
          <a:xfrm>
            <a:off x="10826496" y="194928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5.1%</a:t>
            </a:r>
            <a:endParaRPr lang="en-US" sz="13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219778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219778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109" name="Shape 107"/>
          <p:cNvSpPr/>
          <p:nvPr/>
        </p:nvSpPr>
        <p:spPr>
          <a:xfrm>
            <a:off x="8934853" y="2253700"/>
            <a:ext cx="161104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729216" y="219778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−$51K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10826496" y="219778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0.8%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6208776" y="244628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13" name="Text 111"/>
          <p:cNvSpPr txBox="1"/>
          <p:nvPr/>
        </p:nvSpPr>
        <p:spPr>
          <a:xfrm>
            <a:off x="6565392" y="244628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114" name="Shape 112"/>
          <p:cNvSpPr/>
          <p:nvPr/>
        </p:nvSpPr>
        <p:spPr>
          <a:xfrm>
            <a:off x="8920647" y="2502202"/>
            <a:ext cx="17531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5" name="Text 113"/>
          <p:cNvSpPr txBox="1"/>
          <p:nvPr/>
        </p:nvSpPr>
        <p:spPr>
          <a:xfrm>
            <a:off x="9729216" y="244628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16" name="Text 114"/>
          <p:cNvSpPr txBox="1"/>
          <p:nvPr/>
        </p:nvSpPr>
        <p:spPr>
          <a:xfrm>
            <a:off x="10826496" y="244628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17" name="Text 115"/>
          <p:cNvSpPr txBox="1"/>
          <p:nvPr/>
        </p:nvSpPr>
        <p:spPr>
          <a:xfrm>
            <a:off x="6208776" y="2694791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18" name="Text 116"/>
          <p:cNvSpPr txBox="1"/>
          <p:nvPr/>
        </p:nvSpPr>
        <p:spPr>
          <a:xfrm>
            <a:off x="6565392" y="2694791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119" name="Shape 117"/>
          <p:cNvSpPr/>
          <p:nvPr/>
        </p:nvSpPr>
        <p:spPr>
          <a:xfrm>
            <a:off x="8920267" y="2750703"/>
            <a:ext cx="17569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0" name="Text 118"/>
          <p:cNvSpPr txBox="1"/>
          <p:nvPr/>
        </p:nvSpPr>
        <p:spPr>
          <a:xfrm>
            <a:off x="9729216" y="2694791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−$56K</a:t>
            </a:r>
            <a:endParaRPr lang="en-US" sz="1300" dirty="0"/>
          </a:p>
        </p:txBody>
      </p:sp>
      <p:sp>
        <p:nvSpPr>
          <p:cNvPr id="121" name="Text 119"/>
          <p:cNvSpPr txBox="1"/>
          <p:nvPr/>
        </p:nvSpPr>
        <p:spPr>
          <a:xfrm>
            <a:off x="10826496" y="2694791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300" dirty="0"/>
          </a:p>
        </p:txBody>
      </p:sp>
      <p:sp>
        <p:nvSpPr>
          <p:cNvPr id="122" name="Text 120"/>
          <p:cNvSpPr txBox="1"/>
          <p:nvPr/>
        </p:nvSpPr>
        <p:spPr>
          <a:xfrm>
            <a:off x="6208776" y="294329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565392" y="294329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300" dirty="0"/>
          </a:p>
        </p:txBody>
      </p:sp>
      <p:sp>
        <p:nvSpPr>
          <p:cNvPr id="124" name="Shape 122"/>
          <p:cNvSpPr/>
          <p:nvPr/>
        </p:nvSpPr>
        <p:spPr>
          <a:xfrm>
            <a:off x="8908211" y="2999205"/>
            <a:ext cx="18774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9729216" y="294329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−$60K</a:t>
            </a:r>
            <a:endParaRPr lang="en-US" sz="1300" dirty="0"/>
          </a:p>
        </p:txBody>
      </p:sp>
      <p:sp>
        <p:nvSpPr>
          <p:cNvPr id="126" name="Text 124"/>
          <p:cNvSpPr txBox="1"/>
          <p:nvPr/>
        </p:nvSpPr>
        <p:spPr>
          <a:xfrm>
            <a:off x="10826496" y="294329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</a:t>
            </a:r>
            <a:endParaRPr lang="en-US" sz="13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319179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319179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129" name="Shape 127"/>
          <p:cNvSpPr/>
          <p:nvPr/>
        </p:nvSpPr>
        <p:spPr>
          <a:xfrm>
            <a:off x="8902495" y="3247707"/>
            <a:ext cx="19346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9729216" y="319179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−$62K</a:t>
            </a:r>
            <a:endParaRPr lang="en-US" sz="1300" dirty="0"/>
          </a:p>
        </p:txBody>
      </p:sp>
      <p:sp>
        <p:nvSpPr>
          <p:cNvPr id="131" name="Text 129"/>
          <p:cNvSpPr txBox="1"/>
          <p:nvPr/>
        </p:nvSpPr>
        <p:spPr>
          <a:xfrm>
            <a:off x="10826496" y="319179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</a:t>
            </a:r>
            <a:endParaRPr lang="en-US" sz="1300" dirty="0"/>
          </a:p>
        </p:txBody>
      </p:sp>
      <p:sp>
        <p:nvSpPr>
          <p:cNvPr id="132" name="Text 130"/>
          <p:cNvSpPr txBox="1"/>
          <p:nvPr/>
        </p:nvSpPr>
        <p:spPr>
          <a:xfrm>
            <a:off x="6208776" y="3440296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33" name="Text 131"/>
          <p:cNvSpPr txBox="1"/>
          <p:nvPr/>
        </p:nvSpPr>
        <p:spPr>
          <a:xfrm>
            <a:off x="6565392" y="3440296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134" name="Shape 132"/>
          <p:cNvSpPr/>
          <p:nvPr/>
        </p:nvSpPr>
        <p:spPr>
          <a:xfrm>
            <a:off x="8901220" y="3496208"/>
            <a:ext cx="194737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9729216" y="3440296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−$62K</a:t>
            </a:r>
            <a:endParaRPr lang="en-US" sz="1300" dirty="0"/>
          </a:p>
        </p:txBody>
      </p:sp>
      <p:sp>
        <p:nvSpPr>
          <p:cNvPr id="136" name="Text 134"/>
          <p:cNvSpPr txBox="1"/>
          <p:nvPr/>
        </p:nvSpPr>
        <p:spPr>
          <a:xfrm>
            <a:off x="10826496" y="3440296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37" name="Text 135"/>
          <p:cNvSpPr txBox="1"/>
          <p:nvPr/>
        </p:nvSpPr>
        <p:spPr>
          <a:xfrm>
            <a:off x="6208776" y="368879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38" name="Text 136"/>
          <p:cNvSpPr txBox="1"/>
          <p:nvPr/>
        </p:nvSpPr>
        <p:spPr>
          <a:xfrm>
            <a:off x="6565392" y="368879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139" name="Shape 137"/>
          <p:cNvSpPr/>
          <p:nvPr/>
        </p:nvSpPr>
        <p:spPr>
          <a:xfrm>
            <a:off x="8896811" y="3744710"/>
            <a:ext cx="19914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0" name="Text 138"/>
          <p:cNvSpPr txBox="1"/>
          <p:nvPr/>
        </p:nvSpPr>
        <p:spPr>
          <a:xfrm>
            <a:off x="9729216" y="368879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−$64K</a:t>
            </a:r>
            <a:endParaRPr lang="en-US" sz="1300" dirty="0"/>
          </a:p>
        </p:txBody>
      </p:sp>
      <p:sp>
        <p:nvSpPr>
          <p:cNvPr id="141" name="Text 139"/>
          <p:cNvSpPr txBox="1"/>
          <p:nvPr/>
        </p:nvSpPr>
        <p:spPr>
          <a:xfrm>
            <a:off x="10826496" y="368879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4.1%</a:t>
            </a:r>
            <a:endParaRPr lang="en-US" sz="1300" dirty="0"/>
          </a:p>
        </p:txBody>
      </p:sp>
      <p:sp>
        <p:nvSpPr>
          <p:cNvPr id="142" name="Text 140"/>
          <p:cNvSpPr txBox="1"/>
          <p:nvPr/>
        </p:nvSpPr>
        <p:spPr>
          <a:xfrm>
            <a:off x="6208776" y="393729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43" name="Text 141"/>
          <p:cNvSpPr txBox="1"/>
          <p:nvPr/>
        </p:nvSpPr>
        <p:spPr>
          <a:xfrm>
            <a:off x="6565392" y="393729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300" dirty="0"/>
          </a:p>
        </p:txBody>
      </p:sp>
      <p:sp>
        <p:nvSpPr>
          <p:cNvPr id="144" name="Shape 142"/>
          <p:cNvSpPr/>
          <p:nvPr/>
        </p:nvSpPr>
        <p:spPr>
          <a:xfrm>
            <a:off x="8891747" y="3993212"/>
            <a:ext cx="204210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9729216" y="393729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−$65K</a:t>
            </a:r>
            <a:endParaRPr lang="en-US" sz="1300" dirty="0"/>
          </a:p>
        </p:txBody>
      </p:sp>
      <p:sp>
        <p:nvSpPr>
          <p:cNvPr id="146" name="Text 144"/>
          <p:cNvSpPr txBox="1"/>
          <p:nvPr/>
        </p:nvSpPr>
        <p:spPr>
          <a:xfrm>
            <a:off x="10826496" y="393729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300" dirty="0"/>
          </a:p>
        </p:txBody>
      </p:sp>
      <p:sp>
        <p:nvSpPr>
          <p:cNvPr id="147" name="Text 145"/>
          <p:cNvSpPr txBox="1"/>
          <p:nvPr/>
        </p:nvSpPr>
        <p:spPr>
          <a:xfrm>
            <a:off x="6208776" y="4185800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48" name="Text 146"/>
          <p:cNvSpPr txBox="1"/>
          <p:nvPr/>
        </p:nvSpPr>
        <p:spPr>
          <a:xfrm>
            <a:off x="6565392" y="4185800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149" name="Shape 147"/>
          <p:cNvSpPr/>
          <p:nvPr/>
        </p:nvSpPr>
        <p:spPr>
          <a:xfrm>
            <a:off x="8860792" y="4241713"/>
            <a:ext cx="235165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9729216" y="4185800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−$75K</a:t>
            </a:r>
            <a:endParaRPr lang="en-US" sz="1300" dirty="0"/>
          </a:p>
        </p:txBody>
      </p:sp>
      <p:sp>
        <p:nvSpPr>
          <p:cNvPr id="151" name="Text 149"/>
          <p:cNvSpPr txBox="1"/>
          <p:nvPr/>
        </p:nvSpPr>
        <p:spPr>
          <a:xfrm>
            <a:off x="10826496" y="4185800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152" name="Text 150"/>
          <p:cNvSpPr txBox="1"/>
          <p:nvPr/>
        </p:nvSpPr>
        <p:spPr>
          <a:xfrm>
            <a:off x="6208776" y="4434302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53" name="Text 151"/>
          <p:cNvSpPr txBox="1"/>
          <p:nvPr/>
        </p:nvSpPr>
        <p:spPr>
          <a:xfrm>
            <a:off x="6565392" y="4434302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154" name="Shape 152"/>
          <p:cNvSpPr/>
          <p:nvPr/>
        </p:nvSpPr>
        <p:spPr>
          <a:xfrm>
            <a:off x="8859151" y="4490215"/>
            <a:ext cx="236806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5" name="Text 153"/>
          <p:cNvSpPr txBox="1"/>
          <p:nvPr/>
        </p:nvSpPr>
        <p:spPr>
          <a:xfrm>
            <a:off x="9729216" y="4434302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−$76K</a:t>
            </a:r>
            <a:endParaRPr lang="en-US" sz="1300" dirty="0"/>
          </a:p>
        </p:txBody>
      </p:sp>
      <p:sp>
        <p:nvSpPr>
          <p:cNvPr id="156" name="Text 154"/>
          <p:cNvSpPr txBox="1"/>
          <p:nvPr/>
        </p:nvSpPr>
        <p:spPr>
          <a:xfrm>
            <a:off x="10826496" y="4434302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300" dirty="0"/>
          </a:p>
        </p:txBody>
      </p:sp>
      <p:sp>
        <p:nvSpPr>
          <p:cNvPr id="157" name="Text 155"/>
          <p:cNvSpPr txBox="1"/>
          <p:nvPr/>
        </p:nvSpPr>
        <p:spPr>
          <a:xfrm>
            <a:off x="6208776" y="4682804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682804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159" name="Shape 157"/>
          <p:cNvSpPr/>
          <p:nvPr/>
        </p:nvSpPr>
        <p:spPr>
          <a:xfrm>
            <a:off x="8830828" y="4738717"/>
            <a:ext cx="26512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29216" y="4682804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−$85K</a:t>
            </a:r>
            <a:endParaRPr lang="en-US" sz="1300" dirty="0"/>
          </a:p>
        </p:txBody>
      </p:sp>
      <p:sp>
        <p:nvSpPr>
          <p:cNvPr id="161" name="Text 159"/>
          <p:cNvSpPr txBox="1"/>
          <p:nvPr/>
        </p:nvSpPr>
        <p:spPr>
          <a:xfrm>
            <a:off x="10826496" y="4682804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0.0%</a:t>
            </a:r>
            <a:endParaRPr lang="en-US" sz="13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931305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931305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300" dirty="0"/>
          </a:p>
        </p:txBody>
      </p:sp>
      <p:sp>
        <p:nvSpPr>
          <p:cNvPr id="164" name="Shape 162"/>
          <p:cNvSpPr/>
          <p:nvPr/>
        </p:nvSpPr>
        <p:spPr>
          <a:xfrm>
            <a:off x="8754888" y="4987218"/>
            <a:ext cx="341069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29216" y="4931305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−$109K</a:t>
            </a:r>
            <a:endParaRPr lang="en-US" sz="1300" dirty="0"/>
          </a:p>
        </p:txBody>
      </p:sp>
      <p:sp>
        <p:nvSpPr>
          <p:cNvPr id="166" name="Text 164"/>
          <p:cNvSpPr txBox="1"/>
          <p:nvPr/>
        </p:nvSpPr>
        <p:spPr>
          <a:xfrm>
            <a:off x="10826496" y="4931305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300" dirty="0"/>
          </a:p>
        </p:txBody>
      </p:sp>
      <p:sp>
        <p:nvSpPr>
          <p:cNvPr id="167" name="Text 165"/>
          <p:cNvSpPr txBox="1"/>
          <p:nvPr/>
        </p:nvSpPr>
        <p:spPr>
          <a:xfrm>
            <a:off x="6208776" y="5179807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68" name="Text 166"/>
          <p:cNvSpPr txBox="1"/>
          <p:nvPr/>
        </p:nvSpPr>
        <p:spPr>
          <a:xfrm>
            <a:off x="6565392" y="5179807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300" dirty="0"/>
          </a:p>
        </p:txBody>
      </p:sp>
      <p:sp>
        <p:nvSpPr>
          <p:cNvPr id="169" name="Shape 167"/>
          <p:cNvSpPr/>
          <p:nvPr/>
        </p:nvSpPr>
        <p:spPr>
          <a:xfrm>
            <a:off x="8693205" y="5235720"/>
            <a:ext cx="402752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0" name="Text 168"/>
          <p:cNvSpPr txBox="1"/>
          <p:nvPr/>
        </p:nvSpPr>
        <p:spPr>
          <a:xfrm>
            <a:off x="9729216" y="5179807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−$129K</a:t>
            </a:r>
            <a:endParaRPr lang="en-US" sz="1300" dirty="0"/>
          </a:p>
        </p:txBody>
      </p:sp>
      <p:sp>
        <p:nvSpPr>
          <p:cNvPr id="171" name="Text 169"/>
          <p:cNvSpPr txBox="1"/>
          <p:nvPr/>
        </p:nvSpPr>
        <p:spPr>
          <a:xfrm>
            <a:off x="10826496" y="5179807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300" dirty="0"/>
          </a:p>
        </p:txBody>
      </p:sp>
      <p:sp>
        <p:nvSpPr>
          <p:cNvPr id="172" name="Text 170"/>
          <p:cNvSpPr txBox="1"/>
          <p:nvPr/>
        </p:nvSpPr>
        <p:spPr>
          <a:xfrm>
            <a:off x="6208776" y="5428309"/>
            <a:ext cx="310896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73" name="Text 171"/>
          <p:cNvSpPr txBox="1"/>
          <p:nvPr/>
        </p:nvSpPr>
        <p:spPr>
          <a:xfrm>
            <a:off x="6565392" y="5428309"/>
            <a:ext cx="20116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174" name="Shape 172"/>
          <p:cNvSpPr/>
          <p:nvPr/>
        </p:nvSpPr>
        <p:spPr>
          <a:xfrm>
            <a:off x="8650224" y="5484222"/>
            <a:ext cx="445733" cy="13667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5" name="Text 173"/>
          <p:cNvSpPr txBox="1"/>
          <p:nvPr/>
        </p:nvSpPr>
        <p:spPr>
          <a:xfrm>
            <a:off x="9729216" y="5428309"/>
            <a:ext cx="10972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−$142K</a:t>
            </a:r>
            <a:endParaRPr lang="en-US" sz="1300" dirty="0"/>
          </a:p>
        </p:txBody>
      </p:sp>
      <p:sp>
        <p:nvSpPr>
          <p:cNvPr id="176" name="Text 174"/>
          <p:cNvSpPr txBox="1"/>
          <p:nvPr/>
        </p:nvSpPr>
        <p:spPr>
          <a:xfrm>
            <a:off x="10826496" y="5428309"/>
            <a:ext cx="640080" cy="248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300" dirty="0"/>
          </a:p>
        </p:txBody>
      </p:sp>
      <p:sp>
        <p:nvSpPr>
          <p:cNvPr id="177" name="Shape 175"/>
          <p:cNvSpPr/>
          <p:nvPr/>
        </p:nvSpPr>
        <p:spPr>
          <a:xfrm>
            <a:off x="6085332" y="1700784"/>
            <a:ext cx="10973" cy="4224528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78" name="Shape 176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79" name="Text 177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 stores under 7.5% leave $1,356,881 a year; 7 are at or above it. Chevy LV is furthest below at −$142K.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2026-10-26T23:41:45Z</dcterms:created>
  <dcterms:modified xsi:type="dcterms:W3CDTF">2026-10-26T23:41:45Z</dcterms:modified>
</cp:coreProperties>
</file>