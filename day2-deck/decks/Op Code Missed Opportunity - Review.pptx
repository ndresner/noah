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Spokane is furthest below at −$406K so far this year; 7 of 33 stores are ahead of benchmark on net across the four services. 15 stores are under all four.Source: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Below-benchmark services count against above-benchmark ones here.TOYOTA SPOKANE: −$406K, −5,191 opcodes Jan-Sep against the four benchmarks; under 4 of 4
CHEVY LV: −$356K, −3,177 opcodes Jan-Sep against the four benchmarks; under 4 of 4
TOYOTA FLAGSTAFF: −$267K, −3,494 opcodes Jan-Sep against the four benchmarks; under 4 of 4
TOYOTA HENDERSON: −$227K, −3,005 opcodes Jan-Sep against the four benchmarks; under 3 of 4
KIA LV: −$185K, −1,708 opcodes Jan-Sep against the four benchmarks; under 4 of 4
CDJR POST FALLS: −$184K, −1,863 opcodes Jan-Sep against the four benchmarks; under 4 of 4
TOYOTA PRESCOTT: −$175K, −1,906 opcodes Jan-Sep against the four benchmarks; under 4 of 4
AUDI RENO: −$162K, −1,152 opcodes Jan-Sep against the four benchmarks; under 4 of 4
HONDA FLAGSTAFF: −$150K, −1,257 opcodes Jan-Sep against the four benchmarks; under 4 of 4
NISSAN: −$150K, −1,613 opcodes Jan-Sep against the four benchmarks; under 3 of 4
HONDA SPOKANE: −$140K, −1,717 opcodes Jan-Sep against the four benchmarks; under 3 of 4
LEXUS: −$105K, −1,068 opcodes Jan-Sep against the four benchmarks; under 4 of 4
VW HENDERSON: −$105K, −827 opcodes Jan-Sep against the four benchmarks; under 4 of 4
CHEVY GMC BULLHEAD: −$100K, −1,100 opcodes Jan-Sep against the four benchmarks; under 4 of 4
CADILLAC: −$94K, −954 opcodes Jan-Sep against the four benchmarks; under 4 of 4
VW ST GEORGE: −$66K, −640 opcodes Jan-Sep against the four benchmarks; under 4 of 4
HYUNDAI ST GEORGE: −$61K, −697 opcodes Jan-Sep against the four benchmarks; under 4 of 4
GMC PRESCOTT: −$60K, −568 opcodes Jan-Sep against the four benchmarks; under 4 of 4
SUBARU LV: −$59K, −783 opcodes Jan-Sep against the four benchmarks; under 3 of 4
KIA ST GEORGE: −$53K, −660 opcodes Jan-Sep against the four benchmarks; under 3 of 4
LINCOLN: −$48K, −569 opcodes Jan-Sep against the four benchmarks; under 3 of 4
SUBARU ST GEORGE: −$41K, −452 opcodes Jan-Sep against the four benchmarks; under 2 of 4
LR RENO: −$32K, −83 opcodes Jan-Sep against the four benchmarks; under 3 of 4
VOLVO: −$29K, −340 opcodes Jan-Sep against the four benchmarks; under 3 of 4
MAZDA: −$28K, −223 opcodes Jan-Sep against the four benchmarks; under 3 of 4
AUDI HENDERSON: −$22K, −661 opcodes Jan-Sep against the four benchmarks; under 3 of 4
HYUNDAI PRESCOTT: +$23K, +97 opcodes Jan-Sep against the four benchmarks; under 3 of 4
ACURA: +$33K, +228 opcodes Jan-Sep against the four benchmarks; under 1 of 4
SUBARU PRESCOTT: +$41K, +24 opcodes Jan-Sep against the four benchmarks; under 2 of 4
HONDA NORTH: +$45K, +70 opcodes Jan-Sep against the four benchmarks; under 1 of 4
LR HENDERSON: +$54K, +324 opcodes Jan-Sep against the four benchmarks; under 1 of 4
LR LV: +$151K, +456 opcodes Jan-Sep against the four benchmarks; under 1 of 4
HONDA HENDERSON: +$557K, +4,476 opcodes Jan-Sep against the four benchmarks; under 0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TOYOTA SPOKANE: 4.2%, −1,867 opcodes, −$169K Jan-Sep at $90/service
TOYOTA FLAGSTAFF: 9.7%, −799 opcodes, −$67K Jan-Sep at $84/service
NISSAN: 7.4%, −525 opcodes, −$62K Jan-Sep at $119/service
KIA LV: 9.7%, −426 opcodes, −$58K Jan-Sep at $135/service
CHEVY LV: 12.8%, −417 opcodes, −$57K Jan-Sep at $136/service
CDJR POST FALLS: 4.2%, −578 opcodes, −$43K Jan-Sep at $74/service
TOYOTA PRESCOTT: 12.3%, −359 opcodes, −$37K Jan-Sep at $103/service
KIA ST GEORGE: 8.0%, −274 opcodes, −$29K Jan-Sep at $105/service
HONDA SPOKANE: 12.5%, −221 opcodes, −$27K Jan-Sep at $124/service
AUDI RENO: 11.8%, −112 opcodes, −$26K Jan-Sep at $230/service
TOYOTA HENDERSON: 14.5%, −245 opcodes, −$25K Jan-Sep at $102/service
LEXUS: 11.3%, −166 opcodes, −$24K Jan-Sep at $147/service
LINCOLN: 8.4%, −173 opcodes, −$20K Jan-Sep at $114/service
CHEVY GMC BULLHEAD: 11.1%, −243 opcodes, −$19K Jan-Sep at $78/service
VW HENDERSON: 13.6%, −72 opcodes, −$18K Jan-Sep at $245/service
SUBARU ST GEORGE: 11.0%, −218 opcodes, −$17K Jan-Sep at $78/service
HONDA FLAGSTAFF: 11.0%, −158 opcodes, −$16K Jan-Sep at $100/service
VW ST GEORGE: 5.6%, −180 opcodes, −$13K Jan-Sep at $74/service
SUBARU PRESCOTT: 12.5%, −124 opcodes, −$9K Jan-Sep at $73/service
GMC PRESCOTT: 11.7%, −101 opcodes, −$9K Jan-Sep at $85/service
LR RENO: 12.8%, −30 opcodes, −$8K Jan-Sep at $259/service (capped; raw $715/service)
SUBARU LV: 14.5%, −63 opcodes, −$7K Jan-Sep at $117/service
CADILLAC: 13.8%, −60 opcodes, −$7K Jan-Sep at $115/service
VOLVO: 13.8%, −38 opcodes, −$5K Jan-Sep at $142/service
HYUNDAI ST GEORGE: 14.8%, −5 opcodes, −$649 Jan-Sep at $121/service
ACURA: 17.5%, +92 opcodes, +$11K Jan-Sep at $117/service
MAZDA: 16.6%, +97 opcodes, +$13K Jan-Sep at $132/service
LR LV: 17.3%, +84 opcodes, +$18K Jan-Sep at $210/service
HONDA NORTH: 16.1%, +179 opcodes, +$20K Jan-Sep at $112/service
LR HENDERSON: 24.4%, +147 opcodes, +$31K Jan-Sep at $209/service
HYUNDAI PRESCOTT: 21.7%, +137 opcodes, +$31K Jan-Sep at $228/service
AUDI HENDERSON: 27.5%, +473 opcodes, +$123K Jan-Sep at $259/service (capped; raw $390/service)
HONDA HENDERSON: 21.3%, +1,422 opcodes, +$171K Jan-Sep at $121/service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TOYOTA SPOKANE: 0.4%, −2,520 opcodes, −$135K Jan-Sep at $53/service
TOYOTA HENDERSON: 11.2%, −2,004 opcodes, −$111K Jan-Sep at $55/service
TOYOTA PRESCOTT: 6.1%, −1,193 opcodes, −$99K Jan-Sep at $83/service
SUBARU ST GEORGE: 3.6%, −628 opcodes, −$94K Jan-Sep at $149/service (capped; raw $247/service)
TOYOTA FLAGSTAFF: 4.9%, −1,523 opcodes, −$82K Jan-Sep at $54/service
CHEVY LV: 7.3%, −1,501 opcodes, −$80K Jan-Sep at $53/service
HONDA SPOKANE: 2.1%, −1,145 opcodes, −$60K Jan-Sep at $52/service
NISSAN: 1.0%, −972 opcodes, −$58K Jan-Sep at $59/service
CDJR POST FALLS: 1.2%, −736 opcodes, −$55K Jan-Sep at $75/service
KIA LV: 5.2%, −794 opcodes, −$54K Jan-Sep at $68/service
LEXUS: 0.0%, −682 opcodes, −$51K Jan-Sep at $75/service (group avg)
SUBARU LV: 10.2%, −682 opcodes, −$51K Jan-Sep at $75/service
AUDI HENDERSON: 0.0%, −566 opcodes, −$42K Jan-Sep at $75/service (group avg)
AUDI RENO: 0.1%, −522 opcodes, −$39K Jan-Sep at $75/service (group avg)
HONDA FLAGSTAFF: 1.3%, −552 opcodes, −$39K Jan-Sep at $70/service
HONDA NORTH: 12.0%, −450 opcodes, −$29K Jan-Sep at $64/service
HYUNDAI ST GEORGE: 1.2%, −461 opcodes, −$27K Jan-Sep at $58/service
LINCOLN: 1.6%, −351 opcodes, −$23K Jan-Sep at $66/service
VW ST GEORGE: 0.4%, −280 opcodes, −$21K Jan-Sep at $75/service (group avg)
VW HENDERSON: 8.2%, −345 opcodes, −$21K Jan-Sep at $60/service
GMC PRESCOTT: 7.7%, −225 opcodes, −$20K Jan-Sep at $90/service
CHEVY GMC BULLHEAD: 9.0%, −372 opcodes, −$16K Jan-Sep at $42/service
KIA ST GEORGE: 7.7%, −285 opcodes, −$14K Jan-Sep at $48/service
CADILLAC: 5.9%, −483 opcodes, −$11K Jan-Sep at $22/service
MAZDA: 13.1%, −103 opcodes, −$8K Jan-Sep at $79/service
VOLVO: 11.7%, −111 opcodes, −$6K Jan-Sep at $51/service
HYUNDAI PRESCOTT: 13.5%, −29 opcodes, −$4K Jan-Sep at $149/service (capped; raw $311/service)
ACURA: 14.1%, −33 opcodes, −$2K Jan-Sep at $64/service
SUBARU PRESCOTT: 14.9%, −1 opcodes, −$26 Jan-Sep at $34/service
LR RENO: 16.9%, +28 opcodes, +$4K Jan-Sep at $149/service (capped; raw $647/service)
LR LV: 16.9%, +70 opcodes, +$10K Jan-Sep at $149/service
LR HENDERSON: 27.0%, +187 opcodes, +$23K Jan-Sep at $122/service
HONDA HENDERSON: 18.4%, +769 opcodes, +$52K Jan-Sep at $68/service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CHEVY LV: 5.7%, −820 opcodes, −$113K Jan-Sep at $138/service
TOYOTA SPOKANE: 7.0%, −513 opcodes, −$60K Jan-Sep at $117/service
AUDI RENO: 1.9%, −283 opcodes, −$58K Jan-Sep at $206/service
AUDI HENDERSON: 2.4%, −285 opcodes, −$56K Jan-Sep at $196/service
HONDA FLAGSTAFF: 3.1%, −275 opcodes, −$51K Jan-Sep at $184/service
CADILLAC: 4.6%, −284 opcodes, −$43K Jan-Sep at $150/service
CDJR POST FALLS: 4.2%, −309 opcodes, −$39K Jan-Sep at $128/service
TOYOTA FLAGSTAFF: 8.0%, −292 opcodes, −$36K Jan-Sep at $123/service
TOYOTA PRESCOTT: 8.4%, −215 opcodes, −$24K Jan-Sep at $112/service
HYUNDAI ST GEORGE: 4.7%, −176 opcodes, −$24K Jan-Sep at $134/service
KIA ST GEORGE: 5.9%, −158 opcodes, −$19K Jan-Sep at $119/service
KIA LV: 8.2%, −140 opcodes, −$17K Jan-Sep at $120/service
CHEVY GMC BULLHEAD: 7.0%, −184 opcodes, −$16K Jan-Sep at $87/service
GMC PRESCOTT: 6.0%, −122 opcodes, −$15K Jan-Sep at $127/service
LR RENO: 7.2%, −39 opcodes, −$15K Jan-Sep at $377/service (capped; raw $1,380/service)
MAZDA: 8.4%, −86 opcodes, −$13K Jan-Sep at $154/service
LEXUS: 8.3%, −74 opcodes, −$11K Jan-Sep at $154/service
VW ST GEORGE: 5.4%, −88 opcodes, −$10K Jan-Sep at $111/service
LINCOLN: 7.5%, −65 opcodes, −$8K Jan-Sep at $126/service
VW HENDERSON: 9.5%, −25 opcodes, −$3K Jan-Sep at $134/service
HYUNDAI PRESCOTT: 9.6%, −7 opcodes, −$2K Jan-Sep at $354/service
HONDA SPOKANE: 10.3%, +30 opcodes, +$4K Jan-Sep at $126/service
TOYOTA HENDERSON: 10.0%, +36 opcodes, +$5K Jan-Sep at $141/service
SUBARU LV: 10.1%, +20 opcodes, +$7K Jan-Sep at $333/service
SUBARU PRESCOTT: 10.6%, +32 opcodes, +$12K Jan-Sep at $377/service (capped; raw $380/service)
ACURA: 12.7%, +100 opcodes, +$15K Jan-Sep at $147/service
SUBARU ST GEORGE: 10.7%, +42 opcodes, +$16K Jan-Sep at $377/service (capped; raw $489/service)
NISSAN: 11.6%, +115 opcodes, +$18K Jan-Sep at $155/service
VOLVO: 11.9%, +65 opcodes, +$24K Jan-Sep at $377/service (capped; raw $538/service)
LR HENDERSON: 14.3%, +67 opcodes, +$25K Jan-Sep at $377/service (capped; raw $709/service)
HONDA NORTH: 12.1%, +316 opcodes, +$51K Jan-Sep at $160/service
LR LV: 20.6%, +372 opcodes, +$141K Jan-Sep at $377/service (capped; raw $424/service)
HONDA HENDERSON: 15.5%, +1,260 opcodes, +$195K Jan-Sep at $155/service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CHEVY LV: 5.2%, −439 opcodes, −$107K Jan-Sep at $243/service
TOYOTA HENDERSON: 6.0%, −792 opcodes, −$96K Jan-Sep at $122/service
TOYOTA FLAGSTAFF: 1.6%, −880 opcodes, −$82K Jan-Sep at $93/service
VW HENDERSON: 0.0%, −386 opcodes, −$63K Jan-Sep at $165/service (group avg)
KIA LV: 3.2%, −348 opcodes, −$57K Jan-Sep at $163/service
HONDA SPOKANE: 3.2%, −382 opcodes, −$56K Jan-Sep at $147/service
CHEVY GMC BULLHEAD: 2.7%, −300 opcodes, −$49K Jan-Sep at $163/service
NISSAN: 4.1%, −231 opcodes, −$48K Jan-Sep at $206/service
AUDI HENDERSON: 0.0%, −283 opcodes, −$47K Jan-Sep at $165/service (group avg)
CDJR POST FALLS: 3.0%, −241 opcodes, −$46K Jan-Sep at $192/service
HONDA FLAGSTAFF: 0.7%, −273 opcodes, −$45K Jan-Sep at $165/service (group avg)
TOYOTA SPOKANE: 5.8%, −290 opcodes, −$42K Jan-Sep at $145/service
VOLVO: 0.0%, −255 opcodes, −$42K Jan-Sep at $165/service (group avg)
AUDI RENO: 0.8%, −234 opcodes, −$39K Jan-Sep at $165/service (group avg)
CADILLAC: 5.1%, −128 opcodes, −$34K Jan-Sep at $269/service
LR HENDERSON: 2.5%, −77 opcodes, −$25K Jan-Sep at $329/service (capped; raw $774/service)
VW ST GEORGE: 2.7%, −92 opcodes, −$22K Jan-Sep at $236/service
MAZDA: 5.2%, −131 opcodes, −$20K Jan-Sep at $150/service
LEXUS: 4.2%, −147 opcodes, −$19K Jan-Sep at $128/service
LR LV: 5.5%, −69 opcodes, −$18K Jan-Sep at $258/service
GMC PRESCOTT: 3.6%, −120 opcodes, −$16K Jan-Sep at $133/service
TOYOTA PRESCOTT: 6.4%, −140 opcodes, −$14K Jan-Sep at $101/service
LR RENO: 4.5%, −42 opcodes, −$14K Jan-Sep at $329/service (capped; raw $1,631/service)
HYUNDAI ST GEORGE: 5.8%, −54 opcodes, −$10K Jan-Sep at $176/service
SUBARU LV: 7.0%, −59 opcodes, −$8K Jan-Sep at $130/service
HYUNDAI PRESCOTT: 7.3%, −3 opcodes, −$905 Jan-Sep at $329/service (capped; raw $459/service)
HONDA NORTH: 7.6%, +25 opcodes, +$3K Jan-Sep at $118/service
LINCOLN: 8.2%, +19 opcodes, +$3K Jan-Sep at $175/service
KIA ST GEORGE: 8.9%, +57 opcodes, +$9K Jan-Sep at $154/service
ACURA: 9.3%, +69 opcodes, +$10K Jan-Sep at $145/service
SUBARU PRESCOTT: 9.7%, +117 opcodes, +$39K Jan-Sep at $329/service (capped; raw $406/service)
SUBARU ST GEORGE: 13.8%, +353 opcodes, +$54K Jan-Sep at $153/service
HONDA HENDERSON: 12.0%, +1,024 opcodes, +$138K Jan-Sep at $135/service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9502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Shape 6"/>
          <p:cNvSpPr/>
          <p:nvPr/>
        </p:nvSpPr>
        <p:spPr>
          <a:xfrm>
            <a:off x="3429510" y="1700784"/>
            <a:ext cx="10973" cy="4224528"/>
          </a:xfrm>
          <a:prstGeom prst="rect">
            <a:avLst/>
          </a:prstGeom>
          <a:solidFill>
            <a:srgbClr val="9AA3AD"/>
          </a:solidFill>
          <a:ln/>
        </p:spPr>
      </p:sp>
      <p:sp>
        <p:nvSpPr>
          <p:cNvPr id="9" name="Text 7"/>
          <p:cNvSpPr txBox="1"/>
          <p:nvPr/>
        </p:nvSpPr>
        <p:spPr>
          <a:xfrm>
            <a:off x="95006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1" name="Shape 9"/>
          <p:cNvSpPr/>
          <p:nvPr/>
        </p:nvSpPr>
        <p:spPr>
          <a:xfrm>
            <a:off x="897991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34996" y="1756697"/>
            <a:ext cx="460348" cy="136676"/>
          </a:xfrm>
          <a:prstGeom prst="rect">
            <a:avLst/>
          </a:prstGeom>
          <a:solidFill>
            <a:srgbClr val="12A566"/>
          </a:solidFill>
          <a:ln/>
        </p:spPr>
      </p:sp>
      <p:sp>
        <p:nvSpPr>
          <p:cNvPr id="15" name="Text 13"/>
          <p:cNvSpPr txBox="1"/>
          <p:nvPr/>
        </p:nvSpPr>
        <p:spPr>
          <a:xfrm>
            <a:off x="39502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6" name="Text 14"/>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17" name="Shape 15"/>
          <p:cNvSpPr/>
          <p:nvPr/>
        </p:nvSpPr>
        <p:spPr>
          <a:xfrm>
            <a:off x="5971032" y="1746504"/>
            <a:ext cx="54864" cy="157062"/>
          </a:xfrm>
          <a:prstGeom prst="rect">
            <a:avLst/>
          </a:prstGeom>
          <a:solidFill>
            <a:srgbClr val="12A566"/>
          </a:solidFill>
          <a:ln/>
        </p:spPr>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3434996" y="2005199"/>
            <a:ext cx="124432" cy="136676"/>
          </a:xfrm>
          <a:prstGeom prst="rect">
            <a:avLst/>
          </a:prstGeom>
          <a:solidFill>
            <a:srgbClr val="12A566"/>
          </a:solidFill>
          <a:ln/>
        </p:spPr>
      </p:sp>
      <p:sp>
        <p:nvSpPr>
          <p:cNvPr id="21" name="Text 19"/>
          <p:cNvSpPr txBox="1"/>
          <p:nvPr/>
        </p:nvSpPr>
        <p:spPr>
          <a:xfrm>
            <a:off x="39502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2" name="Text 20"/>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3" name="Shape 21"/>
          <p:cNvSpPr/>
          <p:nvPr/>
        </p:nvSpPr>
        <p:spPr>
          <a:xfrm>
            <a:off x="5971032" y="1995006"/>
            <a:ext cx="54864" cy="157062"/>
          </a:xfrm>
          <a:prstGeom prst="rect">
            <a:avLst/>
          </a:prstGeom>
          <a:solidFill>
            <a:srgbClr val="12A566"/>
          </a:solidFill>
          <a:ln/>
        </p:spPr>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6" name="Shape 24"/>
          <p:cNvSpPr/>
          <p:nvPr/>
        </p:nvSpPr>
        <p:spPr>
          <a:xfrm>
            <a:off x="3434996" y="2253700"/>
            <a:ext cx="44339" cy="136676"/>
          </a:xfrm>
          <a:prstGeom prst="rect">
            <a:avLst/>
          </a:prstGeom>
          <a:solidFill>
            <a:srgbClr val="12A566"/>
          </a:solidFill>
          <a:ln/>
        </p:spPr>
      </p:sp>
      <p:sp>
        <p:nvSpPr>
          <p:cNvPr id="27" name="Text 25"/>
          <p:cNvSpPr txBox="1"/>
          <p:nvPr/>
        </p:nvSpPr>
        <p:spPr>
          <a:xfrm>
            <a:off x="39502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8" name="Text 26"/>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29" name="Shape 27"/>
          <p:cNvSpPr/>
          <p:nvPr/>
        </p:nvSpPr>
        <p:spPr>
          <a:xfrm>
            <a:off x="5971032" y="2243507"/>
            <a:ext cx="54864" cy="157062"/>
          </a:xfrm>
          <a:prstGeom prst="rect">
            <a:avLst/>
          </a:prstGeom>
          <a:solidFill>
            <a:srgbClr val="12A566"/>
          </a:solidFill>
          <a:ln/>
        </p:spPr>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2" name="Shape 30"/>
          <p:cNvSpPr/>
          <p:nvPr/>
        </p:nvSpPr>
        <p:spPr>
          <a:xfrm>
            <a:off x="3434996" y="2502202"/>
            <a:ext cx="37145" cy="136676"/>
          </a:xfrm>
          <a:prstGeom prst="rect">
            <a:avLst/>
          </a:prstGeom>
          <a:solidFill>
            <a:srgbClr val="12A566"/>
          </a:solidFill>
          <a:ln/>
        </p:spPr>
      </p:sp>
      <p:sp>
        <p:nvSpPr>
          <p:cNvPr id="33" name="Text 31"/>
          <p:cNvSpPr txBox="1"/>
          <p:nvPr/>
        </p:nvSpPr>
        <p:spPr>
          <a:xfrm>
            <a:off x="39502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5" name="Text 33"/>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7" name="Shape 35"/>
          <p:cNvSpPr/>
          <p:nvPr/>
        </p:nvSpPr>
        <p:spPr>
          <a:xfrm>
            <a:off x="3434996" y="2750703"/>
            <a:ext cx="34144" cy="136676"/>
          </a:xfrm>
          <a:prstGeom prst="rect">
            <a:avLst/>
          </a:prstGeom>
          <a:solidFill>
            <a:srgbClr val="12A566"/>
          </a:solidFill>
          <a:ln/>
        </p:spPr>
      </p:sp>
      <p:sp>
        <p:nvSpPr>
          <p:cNvPr id="38" name="Text 36"/>
          <p:cNvSpPr txBox="1"/>
          <p:nvPr/>
        </p:nvSpPr>
        <p:spPr>
          <a:xfrm>
            <a:off x="39502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9" name="Text 37"/>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0" name="Text 3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2" name="Shape 40"/>
          <p:cNvSpPr/>
          <p:nvPr/>
        </p:nvSpPr>
        <p:spPr>
          <a:xfrm>
            <a:off x="3434996" y="2999205"/>
            <a:ext cx="27581" cy="136676"/>
          </a:xfrm>
          <a:prstGeom prst="rect">
            <a:avLst/>
          </a:prstGeom>
          <a:solidFill>
            <a:srgbClr val="12A566"/>
          </a:solidFill>
          <a:ln/>
        </p:spPr>
      </p:sp>
      <p:sp>
        <p:nvSpPr>
          <p:cNvPr id="43" name="Text 41"/>
          <p:cNvSpPr txBox="1"/>
          <p:nvPr/>
        </p:nvSpPr>
        <p:spPr>
          <a:xfrm>
            <a:off x="39502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44" name="Text 42"/>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45" name="Text 43"/>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7" name="Shape 45"/>
          <p:cNvSpPr/>
          <p:nvPr/>
        </p:nvSpPr>
        <p:spPr>
          <a:xfrm>
            <a:off x="3434996" y="3247707"/>
            <a:ext cx="19282" cy="136676"/>
          </a:xfrm>
          <a:prstGeom prst="rect">
            <a:avLst/>
          </a:prstGeom>
          <a:solidFill>
            <a:srgbClr val="12A566"/>
          </a:solidFill>
          <a:ln/>
        </p:spPr>
      </p:sp>
      <p:sp>
        <p:nvSpPr>
          <p:cNvPr id="48" name="Text 46"/>
          <p:cNvSpPr txBox="1"/>
          <p:nvPr/>
        </p:nvSpPr>
        <p:spPr>
          <a:xfrm>
            <a:off x="39502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9" name="Text 47"/>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0" name="Text 48"/>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2" name="Shape 50"/>
          <p:cNvSpPr/>
          <p:nvPr/>
        </p:nvSpPr>
        <p:spPr>
          <a:xfrm>
            <a:off x="3416704" y="3496208"/>
            <a:ext cx="18292" cy="136676"/>
          </a:xfrm>
          <a:prstGeom prst="rect">
            <a:avLst/>
          </a:prstGeom>
          <a:solidFill>
            <a:srgbClr val="C2352F"/>
          </a:solidFill>
          <a:ln/>
        </p:spPr>
      </p:sp>
      <p:sp>
        <p:nvSpPr>
          <p:cNvPr id="53" name="Text 51"/>
          <p:cNvSpPr txBox="1"/>
          <p:nvPr/>
        </p:nvSpPr>
        <p:spPr>
          <a:xfrm>
            <a:off x="39502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54" name="Text 5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55" name="Text 5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7" name="Shape 55"/>
          <p:cNvSpPr/>
          <p:nvPr/>
        </p:nvSpPr>
        <p:spPr>
          <a:xfrm>
            <a:off x="3411703" y="3744710"/>
            <a:ext cx="23293" cy="136676"/>
          </a:xfrm>
          <a:prstGeom prst="rect">
            <a:avLst/>
          </a:prstGeom>
          <a:solidFill>
            <a:srgbClr val="C2352F"/>
          </a:solidFill>
          <a:ln/>
        </p:spPr>
      </p:sp>
      <p:sp>
        <p:nvSpPr>
          <p:cNvPr id="58" name="Text 56"/>
          <p:cNvSpPr txBox="1"/>
          <p:nvPr/>
        </p:nvSpPr>
        <p:spPr>
          <a:xfrm>
            <a:off x="39502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59" name="Text 57"/>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60" name="Text 58"/>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2" name="Shape 60"/>
          <p:cNvSpPr/>
          <p:nvPr/>
        </p:nvSpPr>
        <p:spPr>
          <a:xfrm>
            <a:off x="3411379" y="3993212"/>
            <a:ext cx="23618" cy="136676"/>
          </a:xfrm>
          <a:prstGeom prst="rect">
            <a:avLst/>
          </a:prstGeom>
          <a:solidFill>
            <a:srgbClr val="C2352F"/>
          </a:solidFill>
          <a:ln/>
        </p:spPr>
      </p:sp>
      <p:sp>
        <p:nvSpPr>
          <p:cNvPr id="63" name="Text 61"/>
          <p:cNvSpPr txBox="1"/>
          <p:nvPr/>
        </p:nvSpPr>
        <p:spPr>
          <a:xfrm>
            <a:off x="39502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64" name="Text 62"/>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65" name="Text 63"/>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7" name="Shape 65"/>
          <p:cNvSpPr/>
          <p:nvPr/>
        </p:nvSpPr>
        <p:spPr>
          <a:xfrm>
            <a:off x="3408491" y="4241713"/>
            <a:ext cx="26505" cy="136676"/>
          </a:xfrm>
          <a:prstGeom prst="rect">
            <a:avLst/>
          </a:prstGeom>
          <a:solidFill>
            <a:srgbClr val="C2352F"/>
          </a:solidFill>
          <a:ln/>
        </p:spPr>
      </p:sp>
      <p:sp>
        <p:nvSpPr>
          <p:cNvPr id="68" name="Text 66"/>
          <p:cNvSpPr txBox="1"/>
          <p:nvPr/>
        </p:nvSpPr>
        <p:spPr>
          <a:xfrm>
            <a:off x="39502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9" name="Text 67"/>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70" name="Text 68"/>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2" name="Shape 70"/>
          <p:cNvSpPr/>
          <p:nvPr/>
        </p:nvSpPr>
        <p:spPr>
          <a:xfrm>
            <a:off x="3401031" y="4490215"/>
            <a:ext cx="33965" cy="136676"/>
          </a:xfrm>
          <a:prstGeom prst="rect">
            <a:avLst/>
          </a:prstGeom>
          <a:solidFill>
            <a:srgbClr val="C2352F"/>
          </a:solidFill>
          <a:ln/>
        </p:spPr>
      </p:sp>
      <p:sp>
        <p:nvSpPr>
          <p:cNvPr id="73" name="Text 71"/>
          <p:cNvSpPr txBox="1"/>
          <p:nvPr/>
        </p:nvSpPr>
        <p:spPr>
          <a:xfrm>
            <a:off x="39502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74" name="Text 72"/>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75" name="Text 73"/>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395551" y="4738717"/>
            <a:ext cx="39445" cy="136676"/>
          </a:xfrm>
          <a:prstGeom prst="rect">
            <a:avLst/>
          </a:prstGeom>
          <a:solidFill>
            <a:srgbClr val="C2352F"/>
          </a:solidFill>
          <a:ln/>
        </p:spPr>
      </p:sp>
      <p:sp>
        <p:nvSpPr>
          <p:cNvPr id="78" name="Text 76"/>
          <p:cNvSpPr txBox="1"/>
          <p:nvPr/>
        </p:nvSpPr>
        <p:spPr>
          <a:xfrm>
            <a:off x="39502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79" name="Text 7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80" name="Text 7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2" name="Shape 80"/>
          <p:cNvSpPr/>
          <p:nvPr/>
        </p:nvSpPr>
        <p:spPr>
          <a:xfrm>
            <a:off x="3391623" y="4987218"/>
            <a:ext cx="43373" cy="136676"/>
          </a:xfrm>
          <a:prstGeom prst="rect">
            <a:avLst/>
          </a:prstGeom>
          <a:solidFill>
            <a:srgbClr val="C2352F"/>
          </a:solidFill>
          <a:ln/>
        </p:spPr>
      </p:sp>
      <p:sp>
        <p:nvSpPr>
          <p:cNvPr id="83" name="Text 81"/>
          <p:cNvSpPr txBox="1"/>
          <p:nvPr/>
        </p:nvSpPr>
        <p:spPr>
          <a:xfrm>
            <a:off x="39502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84" name="Text 82"/>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85" name="Text 83"/>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7" name="Shape 85"/>
          <p:cNvSpPr/>
          <p:nvPr/>
        </p:nvSpPr>
        <p:spPr>
          <a:xfrm>
            <a:off x="3386113" y="5235720"/>
            <a:ext cx="48884" cy="136676"/>
          </a:xfrm>
          <a:prstGeom prst="rect">
            <a:avLst/>
          </a:prstGeom>
          <a:solidFill>
            <a:srgbClr val="C2352F"/>
          </a:solidFill>
          <a:ln/>
        </p:spPr>
      </p:sp>
      <p:sp>
        <p:nvSpPr>
          <p:cNvPr id="88" name="Text 86"/>
          <p:cNvSpPr txBox="1"/>
          <p:nvPr/>
        </p:nvSpPr>
        <p:spPr>
          <a:xfrm>
            <a:off x="39502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89" name="Text 87"/>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90" name="Text 8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2" name="Shape 90"/>
          <p:cNvSpPr/>
          <p:nvPr/>
        </p:nvSpPr>
        <p:spPr>
          <a:xfrm>
            <a:off x="3385317" y="5484222"/>
            <a:ext cx="49679" cy="136676"/>
          </a:xfrm>
          <a:prstGeom prst="rect">
            <a:avLst/>
          </a:prstGeom>
          <a:solidFill>
            <a:srgbClr val="C2352F"/>
          </a:solidFill>
          <a:ln/>
        </p:spPr>
      </p:sp>
      <p:sp>
        <p:nvSpPr>
          <p:cNvPr id="93" name="Text 91"/>
          <p:cNvSpPr txBox="1"/>
          <p:nvPr/>
        </p:nvSpPr>
        <p:spPr>
          <a:xfrm>
            <a:off x="39502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94" name="Text 92"/>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95" name="Text 93"/>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7" name="Shape 95"/>
          <p:cNvSpPr/>
          <p:nvPr/>
        </p:nvSpPr>
        <p:spPr>
          <a:xfrm>
            <a:off x="3384944" y="5732723"/>
            <a:ext cx="50052" cy="136676"/>
          </a:xfrm>
          <a:prstGeom prst="rect">
            <a:avLst/>
          </a:prstGeom>
          <a:solidFill>
            <a:srgbClr val="C2352F"/>
          </a:solidFill>
          <a:ln/>
        </p:spPr>
      </p:sp>
      <p:sp>
        <p:nvSpPr>
          <p:cNvPr id="98" name="Text 96"/>
          <p:cNvSpPr txBox="1"/>
          <p:nvPr/>
        </p:nvSpPr>
        <p:spPr>
          <a:xfrm>
            <a:off x="39502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99" name="Text 97"/>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00" name="Text 9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2" name="Shape 100"/>
          <p:cNvSpPr/>
          <p:nvPr/>
        </p:nvSpPr>
        <p:spPr>
          <a:xfrm>
            <a:off x="8931186" y="1756697"/>
            <a:ext cx="54219" cy="136676"/>
          </a:xfrm>
          <a:prstGeom prst="rect">
            <a:avLst/>
          </a:prstGeom>
          <a:solidFill>
            <a:srgbClr val="C2352F"/>
          </a:solidFill>
          <a:ln/>
        </p:spPr>
      </p:sp>
      <p:sp>
        <p:nvSpPr>
          <p:cNvPr id="103" name="Text 101"/>
          <p:cNvSpPr txBox="1"/>
          <p:nvPr/>
        </p:nvSpPr>
        <p:spPr>
          <a:xfrm>
            <a:off x="95006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04" name="Text 10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05" name="Text 10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7" name="Shape 105"/>
          <p:cNvSpPr/>
          <p:nvPr/>
        </p:nvSpPr>
        <p:spPr>
          <a:xfrm>
            <a:off x="8907378" y="2005199"/>
            <a:ext cx="78026" cy="136676"/>
          </a:xfrm>
          <a:prstGeom prst="rect">
            <a:avLst/>
          </a:prstGeom>
          <a:solidFill>
            <a:srgbClr val="C2352F"/>
          </a:solidFill>
          <a:ln/>
        </p:spPr>
      </p:sp>
      <p:sp>
        <p:nvSpPr>
          <p:cNvPr id="108" name="Text 106"/>
          <p:cNvSpPr txBox="1"/>
          <p:nvPr/>
        </p:nvSpPr>
        <p:spPr>
          <a:xfrm>
            <a:off x="95006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09" name="Text 107"/>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10" name="Text 108"/>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2" name="Shape 110"/>
          <p:cNvSpPr/>
          <p:nvPr/>
        </p:nvSpPr>
        <p:spPr>
          <a:xfrm>
            <a:off x="8903182" y="2253700"/>
            <a:ext cx="82223" cy="136676"/>
          </a:xfrm>
          <a:prstGeom prst="rect">
            <a:avLst/>
          </a:prstGeom>
          <a:solidFill>
            <a:srgbClr val="C2352F"/>
          </a:solidFill>
          <a:ln/>
        </p:spPr>
      </p:sp>
      <p:sp>
        <p:nvSpPr>
          <p:cNvPr id="113" name="Text 111"/>
          <p:cNvSpPr txBox="1"/>
          <p:nvPr/>
        </p:nvSpPr>
        <p:spPr>
          <a:xfrm>
            <a:off x="95006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14" name="Text 112"/>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15" name="Text 113"/>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7" name="Shape 115"/>
          <p:cNvSpPr/>
          <p:nvPr/>
        </p:nvSpPr>
        <p:spPr>
          <a:xfrm>
            <a:off x="8898772" y="2502202"/>
            <a:ext cx="86632" cy="136676"/>
          </a:xfrm>
          <a:prstGeom prst="rect">
            <a:avLst/>
          </a:prstGeom>
          <a:solidFill>
            <a:srgbClr val="C2352F"/>
          </a:solidFill>
          <a:ln/>
        </p:spPr>
      </p:sp>
      <p:sp>
        <p:nvSpPr>
          <p:cNvPr id="118" name="Text 116"/>
          <p:cNvSpPr txBox="1"/>
          <p:nvPr/>
        </p:nvSpPr>
        <p:spPr>
          <a:xfrm>
            <a:off x="95006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19" name="Text 117"/>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20" name="Text 118"/>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2" name="Shape 120"/>
          <p:cNvSpPr/>
          <p:nvPr/>
        </p:nvSpPr>
        <p:spPr>
          <a:xfrm>
            <a:off x="8898356" y="2750703"/>
            <a:ext cx="87048" cy="136676"/>
          </a:xfrm>
          <a:prstGeom prst="rect">
            <a:avLst/>
          </a:prstGeom>
          <a:solidFill>
            <a:srgbClr val="C2352F"/>
          </a:solidFill>
          <a:ln/>
        </p:spPr>
      </p:sp>
      <p:sp>
        <p:nvSpPr>
          <p:cNvPr id="123" name="Text 121"/>
          <p:cNvSpPr txBox="1"/>
          <p:nvPr/>
        </p:nvSpPr>
        <p:spPr>
          <a:xfrm>
            <a:off x="95006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24" name="Text 122"/>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25" name="Text 123"/>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7" name="Shape 125"/>
          <p:cNvSpPr/>
          <p:nvPr/>
        </p:nvSpPr>
        <p:spPr>
          <a:xfrm>
            <a:off x="8869908" y="2999205"/>
            <a:ext cx="115496" cy="136676"/>
          </a:xfrm>
          <a:prstGeom prst="rect">
            <a:avLst/>
          </a:prstGeom>
          <a:solidFill>
            <a:srgbClr val="C2352F"/>
          </a:solidFill>
          <a:ln/>
        </p:spPr>
      </p:sp>
      <p:sp>
        <p:nvSpPr>
          <p:cNvPr id="128" name="Text 126"/>
          <p:cNvSpPr txBox="1"/>
          <p:nvPr/>
        </p:nvSpPr>
        <p:spPr>
          <a:xfrm>
            <a:off x="95006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29" name="Text 12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30" name="Text 12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Shape 130"/>
          <p:cNvSpPr/>
          <p:nvPr/>
        </p:nvSpPr>
        <p:spPr>
          <a:xfrm>
            <a:off x="8861676" y="3247707"/>
            <a:ext cx="123728" cy="136676"/>
          </a:xfrm>
          <a:prstGeom prst="rect">
            <a:avLst/>
          </a:prstGeom>
          <a:solidFill>
            <a:srgbClr val="C2352F"/>
          </a:solidFill>
          <a:ln/>
        </p:spPr>
      </p:sp>
      <p:sp>
        <p:nvSpPr>
          <p:cNvPr id="133" name="Text 131"/>
          <p:cNvSpPr txBox="1"/>
          <p:nvPr/>
        </p:nvSpPr>
        <p:spPr>
          <a:xfrm>
            <a:off x="95006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4" name="Text 132"/>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35" name="Text 13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7" name="Shape 135"/>
          <p:cNvSpPr/>
          <p:nvPr/>
        </p:nvSpPr>
        <p:spPr>
          <a:xfrm>
            <a:off x="8861519" y="3496208"/>
            <a:ext cx="123885" cy="136676"/>
          </a:xfrm>
          <a:prstGeom prst="rect">
            <a:avLst/>
          </a:prstGeom>
          <a:solidFill>
            <a:srgbClr val="C2352F"/>
          </a:solidFill>
          <a:ln/>
        </p:spPr>
      </p:sp>
      <p:sp>
        <p:nvSpPr>
          <p:cNvPr id="138" name="Text 136"/>
          <p:cNvSpPr txBox="1"/>
          <p:nvPr/>
        </p:nvSpPr>
        <p:spPr>
          <a:xfrm>
            <a:off x="95006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9" name="Text 137"/>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40" name="Text 13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2" name="Shape 140"/>
          <p:cNvSpPr/>
          <p:nvPr/>
        </p:nvSpPr>
        <p:spPr>
          <a:xfrm>
            <a:off x="8851844" y="3744710"/>
            <a:ext cx="133560" cy="136676"/>
          </a:xfrm>
          <a:prstGeom prst="rect">
            <a:avLst/>
          </a:prstGeom>
          <a:solidFill>
            <a:srgbClr val="C2352F"/>
          </a:solidFill>
          <a:ln/>
        </p:spPr>
      </p:sp>
      <p:sp>
        <p:nvSpPr>
          <p:cNvPr id="143" name="Text 141"/>
          <p:cNvSpPr txBox="1"/>
          <p:nvPr/>
        </p:nvSpPr>
        <p:spPr>
          <a:xfrm>
            <a:off x="95006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44" name="Text 142"/>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45" name="Text 143"/>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7" name="Shape 145"/>
          <p:cNvSpPr/>
          <p:nvPr/>
        </p:nvSpPr>
        <p:spPr>
          <a:xfrm>
            <a:off x="8841233" y="3993212"/>
            <a:ext cx="144171" cy="136676"/>
          </a:xfrm>
          <a:prstGeom prst="rect">
            <a:avLst/>
          </a:prstGeom>
          <a:solidFill>
            <a:srgbClr val="C2352F"/>
          </a:solidFill>
          <a:ln/>
        </p:spPr>
      </p:sp>
      <p:sp>
        <p:nvSpPr>
          <p:cNvPr id="148" name="Text 146"/>
          <p:cNvSpPr txBox="1"/>
          <p:nvPr/>
        </p:nvSpPr>
        <p:spPr>
          <a:xfrm>
            <a:off x="95006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49" name="Text 147"/>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50" name="Text 14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833790" y="4241713"/>
            <a:ext cx="151614" cy="136676"/>
          </a:xfrm>
          <a:prstGeom prst="rect">
            <a:avLst/>
          </a:prstGeom>
          <a:solidFill>
            <a:srgbClr val="C2352F"/>
          </a:solidFill>
          <a:ln/>
        </p:spPr>
      </p:sp>
      <p:sp>
        <p:nvSpPr>
          <p:cNvPr id="153" name="Text 151"/>
          <p:cNvSpPr txBox="1"/>
          <p:nvPr/>
        </p:nvSpPr>
        <p:spPr>
          <a:xfrm>
            <a:off x="95006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54" name="Text 15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55" name="Text 15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7" name="Shape 155"/>
          <p:cNvSpPr/>
          <p:nvPr/>
        </p:nvSpPr>
        <p:spPr>
          <a:xfrm>
            <a:off x="8832658" y="4490215"/>
            <a:ext cx="152747" cy="136676"/>
          </a:xfrm>
          <a:prstGeom prst="rect">
            <a:avLst/>
          </a:prstGeom>
          <a:solidFill>
            <a:srgbClr val="C2352F"/>
          </a:solidFill>
          <a:ln/>
        </p:spPr>
      </p:sp>
      <p:sp>
        <p:nvSpPr>
          <p:cNvPr id="158" name="Text 156"/>
          <p:cNvSpPr txBox="1"/>
          <p:nvPr/>
        </p:nvSpPr>
        <p:spPr>
          <a:xfrm>
            <a:off x="95006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59" name="Text 157"/>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60" name="Text 158"/>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2" name="Shape 160"/>
          <p:cNvSpPr/>
          <p:nvPr/>
        </p:nvSpPr>
        <p:spPr>
          <a:xfrm>
            <a:off x="8798077" y="4738717"/>
            <a:ext cx="187327" cy="136676"/>
          </a:xfrm>
          <a:prstGeom prst="rect">
            <a:avLst/>
          </a:prstGeom>
          <a:solidFill>
            <a:srgbClr val="C2352F"/>
          </a:solidFill>
          <a:ln/>
        </p:spPr>
      </p:sp>
      <p:sp>
        <p:nvSpPr>
          <p:cNvPr id="163" name="Text 161"/>
          <p:cNvSpPr txBox="1"/>
          <p:nvPr/>
        </p:nvSpPr>
        <p:spPr>
          <a:xfrm>
            <a:off x="95006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64" name="Text 162"/>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65" name="Text 163"/>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7" name="Shape 165"/>
          <p:cNvSpPr/>
          <p:nvPr/>
        </p:nvSpPr>
        <p:spPr>
          <a:xfrm>
            <a:off x="8765072" y="4987218"/>
            <a:ext cx="220332" cy="136676"/>
          </a:xfrm>
          <a:prstGeom prst="rect">
            <a:avLst/>
          </a:prstGeom>
          <a:solidFill>
            <a:srgbClr val="C2352F"/>
          </a:solidFill>
          <a:ln/>
        </p:spPr>
      </p:sp>
      <p:sp>
        <p:nvSpPr>
          <p:cNvPr id="168" name="Text 166"/>
          <p:cNvSpPr txBox="1"/>
          <p:nvPr/>
        </p:nvSpPr>
        <p:spPr>
          <a:xfrm>
            <a:off x="95006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169" name="Text 167"/>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170" name="Shape 168"/>
          <p:cNvSpPr/>
          <p:nvPr/>
        </p:nvSpPr>
        <p:spPr>
          <a:xfrm>
            <a:off x="11521440" y="4977025"/>
            <a:ext cx="54864" cy="157062"/>
          </a:xfrm>
          <a:prstGeom prst="rect">
            <a:avLst/>
          </a:prstGeom>
          <a:solidFill>
            <a:srgbClr val="C2352F"/>
          </a:solidFill>
          <a:ln/>
        </p:spPr>
      </p:sp>
      <p:sp>
        <p:nvSpPr>
          <p:cNvPr id="171" name="Text 169"/>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2" name="Text 170"/>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3" name="Shape 171"/>
          <p:cNvSpPr/>
          <p:nvPr/>
        </p:nvSpPr>
        <p:spPr>
          <a:xfrm>
            <a:off x="8691210" y="5235720"/>
            <a:ext cx="294194" cy="136676"/>
          </a:xfrm>
          <a:prstGeom prst="rect">
            <a:avLst/>
          </a:prstGeom>
          <a:solidFill>
            <a:srgbClr val="C2352F"/>
          </a:solidFill>
          <a:ln/>
        </p:spPr>
      </p:sp>
      <p:sp>
        <p:nvSpPr>
          <p:cNvPr id="174" name="Text 172"/>
          <p:cNvSpPr txBox="1"/>
          <p:nvPr/>
        </p:nvSpPr>
        <p:spPr>
          <a:xfrm>
            <a:off x="95006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75" name="Text 173"/>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176" name="Shape 174"/>
          <p:cNvSpPr/>
          <p:nvPr/>
        </p:nvSpPr>
        <p:spPr>
          <a:xfrm>
            <a:off x="11521440" y="5225527"/>
            <a:ext cx="54864" cy="157062"/>
          </a:xfrm>
          <a:prstGeom prst="rect">
            <a:avLst/>
          </a:prstGeom>
          <a:solidFill>
            <a:srgbClr val="C2352F"/>
          </a:solidFill>
          <a:ln/>
        </p:spPr>
      </p:sp>
      <p:sp>
        <p:nvSpPr>
          <p:cNvPr id="177" name="Text 175"/>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8" name="Text 176"/>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9" name="Shape 177"/>
          <p:cNvSpPr/>
          <p:nvPr/>
        </p:nvSpPr>
        <p:spPr>
          <a:xfrm>
            <a:off x="8650224" y="5484222"/>
            <a:ext cx="335180" cy="136676"/>
          </a:xfrm>
          <a:prstGeom prst="rect">
            <a:avLst/>
          </a:prstGeom>
          <a:solidFill>
            <a:srgbClr val="C2352F"/>
          </a:solidFill>
          <a:ln/>
        </p:spPr>
      </p:sp>
      <p:sp>
        <p:nvSpPr>
          <p:cNvPr id="180" name="Text 178"/>
          <p:cNvSpPr txBox="1"/>
          <p:nvPr/>
        </p:nvSpPr>
        <p:spPr>
          <a:xfrm>
            <a:off x="95006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181" name="Text 179"/>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182" name="Shape 180"/>
          <p:cNvSpPr/>
          <p:nvPr/>
        </p:nvSpPr>
        <p:spPr>
          <a:xfrm>
            <a:off x="11521440" y="5474029"/>
            <a:ext cx="54864" cy="157062"/>
          </a:xfrm>
          <a:prstGeom prst="rect">
            <a:avLst/>
          </a:prstGeom>
          <a:solidFill>
            <a:srgbClr val="C2352F"/>
          </a:solidFill>
          <a:ln/>
        </p:spPr>
      </p:sp>
      <p:sp>
        <p:nvSpPr>
          <p:cNvPr id="183" name="Shape 181"/>
          <p:cNvSpPr/>
          <p:nvPr/>
        </p:nvSpPr>
        <p:spPr>
          <a:xfrm>
            <a:off x="6085332" y="1700784"/>
            <a:ext cx="10973" cy="4224528"/>
          </a:xfrm>
          <a:prstGeom prst="rect">
            <a:avLst/>
          </a:prstGeom>
          <a:solidFill>
            <a:srgbClr val="D9D9D9"/>
          </a:solidFill>
          <a:ln/>
        </p:spPr>
      </p:sp>
      <p:sp>
        <p:nvSpPr>
          <p:cNvPr id="185" name="Shape 182"/>
          <p:cNvSpPr/>
          <p:nvPr/>
        </p:nvSpPr>
        <p:spPr>
          <a:xfrm>
            <a:off x="457200" y="6126480"/>
            <a:ext cx="11274552" cy="364236"/>
          </a:xfrm>
          <a:prstGeom prst="rect">
            <a:avLst/>
          </a:prstGeom>
          <a:solidFill>
            <a:srgbClr val="FBEBEA"/>
          </a:solidFill>
          <a:ln/>
        </p:spPr>
      </p:sp>
      <p:sp>
        <p:nvSpPr>
          <p:cNvPr id="186" name="Text 18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7 of 33 stores are ahead of benchmark on net across the four services. 15 stores are under all four.</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2026-10-28T17:01:55Z</dcterms:created>
  <dcterms:modified xsi:type="dcterms:W3CDTF">2026-10-28T17:01:55Z</dcterms:modified>
</cp:coreProperties>
</file>