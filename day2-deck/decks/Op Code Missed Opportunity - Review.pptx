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together. Below = how many of the four benchmarks the store is under. Services = services short a year.TOYOTA SPOKANE: $541,039 a year, 6,921 services, under 4 of 4
CHEVY LV: $474,880 a year, 4,236 services, under 4 of 4
TOYOTA FLAGSTAFF: $355,653 a year, 4,659 services, under 4 of 4
TOYOTA HENDERSON: $309,068 a year, 4,054 services, under 3 of 4
KIA LV: $246,559 a year, 2,278 services, under 4 of 4
CDJR POST FALLS: $244,731 a year, 2,484 services, under 4 of 4
TOYOTA PRESCOTT: $232,717 a year, 2,541 services, under 4 of 4
NISSAN: $223,362 a year, 2,304 services, under 3 of 4
AUDI RENO: $215,588 a year, 1,536 services, under 4 of 4
HONDA FLAGSTAFF: $199,972 a year, 1,676 services, under 4 of 4
AUDI HENDERSON: $192,876 a year, 1,512 services, under 3 of 4
HONDA SPOKANE: $191,456 a year, 2,329 services, under 3 of 4
SUBARU ST GEORGE: $147,537 a year, 1,128 services, under 2 of 4
LEXUS: $140,511 a year, 1,424 services, under 4 of 4
VW HENDERSON: $139,840 a year, 1,103 services, under 4 of 4
CHEVY GMC BULLHEAD: $132,721 a year, 1,466 services, under 4 of 4
CADILLAC: $125,947 a year, 1,273 services, under 4 of 4
SUBARU LV: $87,782 a year, 1,070 services, under 3 of 4
VW ST GEORGE: $87,518 a year, 853 services, under 4 of 4
KIA ST GEORGE: $81,619 a year, 956 services, under 3 of 4
HYUNDAI ST GEORGE: $80,793 a year, 929 services, under 4 of 4
GMC PRESCOTT: $80,190 a year, 757 services, under 4 of 4
VOLVO: $70,733 a year, 540 services, under 3 of 4
LINCOLN: $68,050 a year, 784 services, under 3 of 4
MAZDA: $54,625 a year, 426 services, under 3 of 4
LR RENO: $48,324 a year, 148 services, under 3 of 4
HONDA NORTH: $38,266 a year, 600 services, under 1 of 4
LR HENDERSON: $33,745 a year, 103 services, under 1 of 4
LR LV: $23,832 a year, 92 services, under 1 of 4
SUBARU PRESCOTT: $12,118 a year, 166 services, under 2 of 4
HYUNDAI PRESCOTT: $10,380 a year, 52 services, under 3 of 4
ACURA: $2,765 a year, 44 services, under 1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group gross per service $129.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14.5%, 326 services short a year x $102/service = $33,148
CHEVY LV: 12.8%, 556 services short a year x $136/service = $75,460
TOYOTA SPOKANE: 4.2%, 2,490 services short a year x $90/service = $225,288
TOYOTA FLAGSTAFF: 9.7%, 1,066 services short a year x $84/service = $89,952
SUBARU LV: 14.5%, 83 services short a year x $117/service = $9,769
TOYOTA PRESCOTT: 12.3%, 478 services short a year x $103/service = $49,384
HONDA SPOKANE: 12.5%, 294 services short a year x $124/service = $36,325
KIA LV: 9.7%, 568 services short a year x $135/service = $76,788
NISSAN: 7.4%, 700 services short a year x $119/service = $83,122
CHEVY GMC BULLHEAD: 11.1%, 324 services short a year x $78/service = $25,354
SUBARU ST GEORGE: 11.0%, 291 services short a year x $78/service = $22,634
CDJR POST FALLS: 4.2%, 770 services short a year x $74/service = $57,157
CADILLAC: 13.8%, 79 services short a year x $115/service = $9,131
VW HENDERSON: 13.6%, 96 services short a year x $245/service = $23,446
SUBARU PRESCOTT: 12.5%, 165 services short a year x $73/service = $12,083
LEXUS: 11.3%, 221 services short a year x $147/service = $32,644
HONDA FLAGSTAFF: 11.0%, 210 services short a year x $100/service = $20,944
KIA ST GEORGE: 8.0%, 365 services short a year x $105/service = $38,212
AUDI RENO: 11.8%, 149 services short a year x $230/service = $34,339
VOLVO: 13.8%, 51 services short a year x $142/service = $7,258
HYUNDAI ST GEORGE: 14.8%, 7 services short a year x $121/service = $865
GMC PRESCOTT: 11.7%, 135 services short a year x $85/service = $11,494
LINCOLN: 8.4%, 230 services short a year x $114/service = $26,302
VW ST GEORGE: 5.6%, 240 services short a year x $74/service = $17,767
LR RENO: 12.8%, 40 services short a year x $259/service = $10,409 (capped; raw $715/service)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group gross per service $75.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11.2%, 2,671 services short a year x $55/service = $147,351
CHEVY LV: 7.3%, 2,001 services short a year x $53/service = $106,293
TOYOTA SPOKANE: 0.4%, 3,361 services short a year x $53/service = $179,701
TOYOTA FLAGSTAFF: 4.9%, 2,031 services short a year x $54/service = $109,054
HONDA NORTH: 12.0%, 600 services short a year x $64/service = $38,266
SUBARU LV: 10.2%, 909 services short a year x $75/service = $67,808
TOYOTA PRESCOTT: 6.1%, 1,590 services short a year x $83/service = $132,315
HONDA SPOKANE: 2.1%, 1,526 services short a year x $52/service = $80,060
KIA LV: 5.2%, 1,059 services short a year x $68/service = $71,767
NISSAN: 1.0%, 1,296 services short a year x $59/service = $76,668
CHEVY GMC BULLHEAD: 9.0%, 496 services short a year x $42/service = $20,863
MAZDA: 13.1%, 138 services short a year x $79/service = $10,870
SUBARU ST GEORGE: 3.6%, 837 services short a year x $149/service = $124,903 (capped; raw $247/service)
CDJR POST FALLS: 1.2%, 981 services short a year x $75/service = $73,291
CADILLAC: 5.9%, 643 services short a year x $22/service = $14,275
VW HENDERSON: 8.2%, 460 services short a year x $60/service = $27,375
SUBARU PRESCOTT: 14.9%, 1 services short a year x $34/service = $34
LEXUS: 0.0%, 909 services short a year x $75/service (group avg) = $67,832
HONDA FLAGSTAFF: 1.3%, 735 services short a year x $70/service = $51,753
KIA ST GEORGE: 7.7%, 380 services short a year x $48/service = $18,369
AUDI HENDERSON: 0.0%, 754 services short a year x $75/service (group avg) = $56,275
ACURA: 14.1%, 44 services short a year x $64/service = $2,765
AUDI RENO: 0.1%, 696 services short a year x $75/service (group avg) = $51,909
VOLVO: 11.7%, 148 services short a year x $51/service = $7,511
HYUNDAI ST GEORGE: 1.2%, 615 services short a year x $58/service = $35,684
GMC PRESCOTT: 7.7%, 300 services short a year x $90/service = $26,856
LINCOLN: 1.6%, 467 services short a year x $66/service = $30,836
HYUNDAI PRESCOTT: 13.5%, 39 services short a year x $149/service = $5,868 (capped; raw $311/service)
VW ST GEORGE: 0.4%, 373 services short a year x $75/service (group avg) = $27,832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group gross per service $189.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1,093 services short a year x $138/service = $150,836
TOYOTA SPOKANE: 7.0%, 683 services short a year x $117/service = $79,964
TOYOTA FLAGSTAFF: 8.0%, 389 services short a year x $123/service = $47,769
TOYOTA PRESCOTT: 8.4%, 287 services short a year x $112/service = $32,135
KIA LV: 8.2%, 187 services short a year x $120/service = $22,410
CHEVY GMC BULLHEAD: 7.0%, 245 services short a year x $87/service = $21,314
MAZDA: 8.4%, 115 services short a year x $154/service = $17,686
CDJR POST FALLS: 4.2%, 412 services short a year x $128/service = $52,525
CADILLAC: 4.6%, 379 services short a year x $150/service = $56,716
VW HENDERSON: 9.5%, 33 services short a year x $134/service = $4,382
LEXUS: 8.3%, 98 services short a year x $154/service = $15,116
HONDA FLAGSTAFF: 3.1%, 367 services short a year x $184/service = $67,341
KIA ST GEORGE: 5.9%, 211 services short a year x $119/service = $25,037
AUDI HENDERSON: 2.4%, 380 services short a year x $196/service = $74,435
AUDI RENO: 1.9%, 378 services short a year x $206/service = $77,911
HYUNDAI ST GEORGE: 4.7%, 235 services short a year x $134/service = $31,519
GMC PRESCOTT: 6.0%, 162 services short a year x $127/service = $20,618
LINCOLN: 7.5%, 87 services short a year x $126/service = $10,912
HYUNDAI PRESCOTT: 9.6%, 9 services short a year x $354/service = $3,306
VW ST GEORGE: 5.4%, 117 services short a year x $111/service = $13,049
LR RENO: 7.2%, 52 services short a year x $377/service = $19,677 (capped; raw $1,380/service)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group gross per service $165. Rate = Jan-Sep closing %. Services = services short a year.Near-zero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HENDERSON: 6.0%, 1,056 services short a year x $122/service = $128,570
CHEVY LV: 5.2%, 585 services short a year x $243/service = $142,290
TOYOTA SPOKANE: 5.8%, 387 services short a year x $145/service = $56,085
TOYOTA FLAGSTAFF: 1.6%, 1,173 services short a year x $93/service = $108,879
SUBARU LV: 7.0%, 78 services short a year x $130/service = $10,205
TOYOTA PRESCOTT: 6.4%, 186 services short a year x $101/service = $18,882
HONDA SPOKANE: 3.2%, 509 services short a year x $147/service = $75,071
KIA LV: 3.2%, 464 services short a year x $163/service = $75,595
NISSAN: 4.1%, 308 services short a year x $206/service = $63,573
CHEVY GMC BULLHEAD: 2.7%, 400 services short a year x $163/service = $65,189
MAZDA: 5.2%, 174 services short a year x $150/service = $26,069
CDJR POST FALLS: 3.0%, 321 services short a year x $192/service = $61,758
CADILLAC: 5.1%, 170 services short a year x $269/service = $45,825
VW HENDERSON: 0.0%, 515 services short a year x $165/service (group avg) = $84,636
LEXUS: 4.2%, 195 services short a year x $128/service = $24,920
HONDA FLAGSTAFF: 0.7%, 364 services short a year x $165/service (group avg) = $59,934
AUDI HENDERSON: 0.0%, 378 services short a year x $165/service (group avg) = $62,165
AUDI RENO: 0.8%, 313 services short a year x $165/service (group avg) = $51,429
LR LV: 5.5%, 92 services short a year x $258/service = $23,832
VOLVO: 0.0%, 340 services short a year x $165/service (group avg) = $55,964
HYUNDAI ST GEORGE: 5.8%, 72 services short a year x $176/service = $12,726
GMC PRESCOTT: 3.6%, 160 services short a year x $133/service = $21,222
HYUNDAI PRESCOTT: 7.3%, 4 services short a year x $329/service = $1,206 (capped; raw $459/service)
VW ST GEORGE: 2.7%, 123 services short a year x $236/service = $28,870
LR HENDERSON: 2.5%, 103 services short a year x $329/service = $33,745 (capped; raw $774/service)
LR RENO: 4.5%, 55 services short a year x $329/service = $18,238 (capped; raw $1,631/service)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Missed Opportunity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02736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5314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60191"/>
            <a:ext cx="877824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1700784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$541K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6,921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6481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24224"/>
            <a:ext cx="77048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02736" y="1964817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$475K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6481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196481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4,236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2885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88257"/>
            <a:ext cx="57704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02736" y="2228850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2885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22885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4,659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9288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52290"/>
            <a:ext cx="501457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02736" y="2492883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49288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49288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4,054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75691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816323"/>
            <a:ext cx="40003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602736" y="2756916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$247K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75691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275691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2,278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02094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080356"/>
            <a:ext cx="397072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02736" y="3020949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$245K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02094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02094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2,484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284982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344389"/>
            <a:ext cx="37757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02736" y="3284982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$233K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284982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3284982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2,541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549015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608422"/>
            <a:ext cx="362401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02736" y="3549015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$223K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549015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3549015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2,304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813048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872455"/>
            <a:ext cx="3497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602736" y="3813048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813048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3813048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1,536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077081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136488"/>
            <a:ext cx="324451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602736" y="4077081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077081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4077081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1,676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34111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400521"/>
            <a:ext cx="312937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602736" y="4341114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34111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029200" y="434111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60514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664554"/>
            <a:ext cx="310634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602736" y="4605147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$191K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60514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0" y="460514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2,329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86918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928587"/>
            <a:ext cx="23937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602736" y="4869180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486918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029200" y="486918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1,128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13321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192620"/>
            <a:ext cx="22797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602736" y="5133213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513321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029200" y="513321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39724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456653"/>
            <a:ext cx="226887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602736" y="5397246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39724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029200" y="539724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1,103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66127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720686"/>
            <a:ext cx="21533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602736" y="5661279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25696" y="566127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029200" y="566127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1,466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70078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1760191"/>
            <a:ext cx="204347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153144" y="1700784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70078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170078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1,273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96481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024224"/>
            <a:ext cx="142425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153144" y="1964817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196481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196481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1,070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22885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288257"/>
            <a:ext cx="14199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153144" y="2228850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$88K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22885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222885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49288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552290"/>
            <a:ext cx="132425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153144" y="2492883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49288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79608" y="249288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956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75691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816323"/>
            <a:ext cx="131085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153144" y="2756916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$81K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275691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79608" y="275691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929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302094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080356"/>
            <a:ext cx="130107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153144" y="3020949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302094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of 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79608" y="302094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284982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344389"/>
            <a:ext cx="114763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153144" y="3284982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$71K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284982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79608" y="3284982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549015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608422"/>
            <a:ext cx="11041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153144" y="3549015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549015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79608" y="3549015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813048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872455"/>
            <a:ext cx="88627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153144" y="3813048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$55K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3813048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79608" y="3813048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426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4077081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136488"/>
            <a:ext cx="78404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153144" y="4077081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4077081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79608" y="4077081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341114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400521"/>
            <a:ext cx="62086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153144" y="4341114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341114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79608" y="4341114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605147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664554"/>
            <a:ext cx="54750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153144" y="4605147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4605147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79608" y="4605147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869180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928587"/>
            <a:ext cx="38667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153144" y="4869180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4869180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79608" y="4869180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5133213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5192620"/>
            <a:ext cx="19661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153144" y="5133213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76104" y="5133213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of 4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79608" y="5133213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5397246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5456653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153144" y="5397246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76104" y="5397246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of 4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579608" y="5397246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661279"/>
            <a:ext cx="193852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720686"/>
            <a:ext cx="18288" cy="14521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153144" y="5661279"/>
            <a:ext cx="822960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76104" y="5661279"/>
            <a:ext cx="603504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of 4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579608" y="5661279"/>
            <a:ext cx="841248" cy="2640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72" name="Shape 17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leaves the most at $541,039 a year. 15 stores are under all four benchmarks.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02736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5314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3901"/>
            <a:ext cx="8778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170078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2,490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98865"/>
            <a:ext cx="35049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02736" y="2025748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1,066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423828"/>
            <a:ext cx="32388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02736" y="235071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748792"/>
            <a:ext cx="29919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02736" y="267567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568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73756"/>
            <a:ext cx="29402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602736" y="3000639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98719"/>
            <a:ext cx="22271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02736" y="3325602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723683"/>
            <a:ext cx="19242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02736" y="3650566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048647"/>
            <a:ext cx="14889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02736" y="3975530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373610"/>
            <a:ext cx="14153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602736" y="430049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698574"/>
            <a:ext cx="13379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602736" y="4625457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023538"/>
            <a:ext cx="12916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602736" y="495042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348501"/>
            <a:ext cx="12719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602736" y="527538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673465"/>
            <a:ext cx="10248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602736" y="5600348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3901"/>
            <a:ext cx="9879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153144" y="170078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98865"/>
            <a:ext cx="9135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153144" y="2025748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423828"/>
            <a:ext cx="8819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153144" y="235071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291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748792"/>
            <a:ext cx="8160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153144" y="267567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210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73756"/>
            <a:ext cx="6922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153144" y="3000639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240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98719"/>
            <a:ext cx="4708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153144" y="3325602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723683"/>
            <a:ext cx="4478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153144" y="3650566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4048647"/>
            <a:ext cx="4055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153144" y="3975530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373610"/>
            <a:ext cx="3806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153144" y="430049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698574"/>
            <a:ext cx="3557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153144" y="4625457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5023538"/>
            <a:ext cx="2828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153144" y="495042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348501"/>
            <a:ext cx="182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153144" y="527538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$865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year: 9,935 services. Toyota Spokane has the most at $225,288.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02736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5314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64152"/>
            <a:ext cx="877824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1700784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3,361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82419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45787"/>
            <a:ext cx="719796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02736" y="1982419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1982419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1982419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26405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327422"/>
            <a:ext cx="646349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02736" y="2264054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26405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26405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1,590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54569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609058"/>
            <a:ext cx="61014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02736" y="2545690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54569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54569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82732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890693"/>
            <a:ext cx="53271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602736" y="2827325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282732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282732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2,031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10896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172328"/>
            <a:ext cx="51923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02736" y="3108960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10896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10896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2,001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39059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453963"/>
            <a:ext cx="39108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02736" y="3390595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39059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39059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1,526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67223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735598"/>
            <a:ext cx="37451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02736" y="3672230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$77K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67223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67223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1,296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95386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017234"/>
            <a:ext cx="358021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602736" y="3953866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395386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395386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981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23550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298869"/>
            <a:ext cx="350574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602736" y="4235501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23550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23550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51713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580504"/>
            <a:ext cx="33135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602736" y="4517136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51713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51713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79877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862139"/>
            <a:ext cx="33123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602736" y="4798771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479877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479877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08040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143774"/>
            <a:ext cx="274901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602736" y="5080406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08040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08040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754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5362042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5425410"/>
            <a:ext cx="25357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602736" y="5362042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425696" y="5362042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992624" y="5362042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643677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707045"/>
            <a:ext cx="25281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602736" y="5643677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$52K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25696" y="5643677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92624" y="5643677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170078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1764152"/>
            <a:ext cx="18692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153144" y="1700784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$38K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170078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170078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600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1982419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045787"/>
            <a:ext cx="17431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153144" y="1982419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1982419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1982419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615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2264054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2327422"/>
            <a:ext cx="15063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153144" y="2264054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2264054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2264054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254569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609058"/>
            <a:ext cx="135957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153144" y="2545690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254569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254569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373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82732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890693"/>
            <a:ext cx="133724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153144" y="2827325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282732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282732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10896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3172328"/>
            <a:ext cx="13119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153144" y="3108960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10896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10896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3390595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3453963"/>
            <a:ext cx="101915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153144" y="3390595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3390595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3390595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3672230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3735598"/>
            <a:ext cx="8973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153144" y="3672230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3672230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3672230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95386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4017234"/>
            <a:ext cx="69731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153144" y="3953866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395386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395386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423550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4298869"/>
            <a:ext cx="53100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153144" y="4235501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423550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423550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451713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4580504"/>
            <a:ext cx="36692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153144" y="4517136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451713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451713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4798771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4862139"/>
            <a:ext cx="28663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153144" y="4798771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76104" y="4798771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43032" y="4798771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5080406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5143774"/>
            <a:ext cx="1828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153144" y="5080406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76104" y="5080406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43032" y="5080406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5362042"/>
            <a:ext cx="19385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5425410"/>
            <a:ext cx="18288" cy="15489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153144" y="5362042"/>
            <a:ext cx="8229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76104" y="5362042"/>
            <a:ext cx="566928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543032" y="5362042"/>
            <a:ext cx="877824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year: 26,062 services. Toyota Spokane has the most at $179,701.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02736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5314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87195"/>
            <a:ext cx="87782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170078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1,093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171243"/>
            <a:ext cx="4653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02736" y="208483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84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8483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555291"/>
            <a:ext cx="45342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02736" y="2468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$78K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6888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46888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939339"/>
            <a:ext cx="43319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02736" y="2852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852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85292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323387"/>
            <a:ext cx="39190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602736" y="3236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2369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23697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707435"/>
            <a:ext cx="33007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02736" y="36210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621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62102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091483"/>
            <a:ext cx="30568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02736" y="4005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4005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400507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475531"/>
            <a:ext cx="27800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02736" y="4389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4389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438912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389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859579"/>
            <a:ext cx="18701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602736" y="47731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7731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77316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287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243627"/>
            <a:ext cx="1834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602736" y="515721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515721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515721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235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5412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627675"/>
            <a:ext cx="14571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602736" y="554126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554126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554126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211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170078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1787195"/>
            <a:ext cx="1304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153144" y="170078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976104" y="170078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43032" y="170078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08483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171243"/>
            <a:ext cx="12404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153144" y="208483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976104" y="208483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43032" y="208483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46888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2555291"/>
            <a:ext cx="11998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153144" y="24688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246888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246888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162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85292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939339"/>
            <a:ext cx="11451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153144" y="28529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85292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85292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23697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323387"/>
            <a:ext cx="10292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153144" y="323697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323697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323697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115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362102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3707435"/>
            <a:ext cx="8797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153144" y="36210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3621024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3621024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00507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091483"/>
            <a:ext cx="7594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153144" y="400507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4005072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4005072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43891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4475531"/>
            <a:ext cx="6350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153144" y="4389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4389120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4389120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477316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4859579"/>
            <a:ext cx="2550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153144" y="47731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4773168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4773168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5157216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5243627"/>
            <a:ext cx="1924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153144" y="515721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5157216"/>
            <a:ext cx="566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5157216"/>
            <a:ext cx="877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17" name="Shape 1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year: 5,919 services. Chevy LV has the most at $150,836.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Missed Opportunity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02736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25696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5314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76104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43032" y="1316736"/>
            <a:ext cx="877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73901"/>
            <a:ext cx="87782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02736" y="170078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98865"/>
            <a:ext cx="79317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02736" y="2025748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425696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1,056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423828"/>
            <a:ext cx="67169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602736" y="235071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992624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1,173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748792"/>
            <a:ext cx="52214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02736" y="267567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25696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92624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073756"/>
            <a:ext cx="46636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602736" y="3000639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25696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92624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464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398719"/>
            <a:ext cx="463132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02736" y="3325602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25696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992624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723683"/>
            <a:ext cx="40217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602736" y="3650566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25696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92624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048647"/>
            <a:ext cx="39219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602736" y="3975530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425696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992624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4373610"/>
            <a:ext cx="38351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602736" y="430049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25696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92624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4698574"/>
            <a:ext cx="381003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602736" y="4625457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25696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92624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321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5023538"/>
            <a:ext cx="36974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602736" y="495042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425696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4992624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5348501"/>
            <a:ext cx="34600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602736" y="527538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25696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992624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5673465"/>
            <a:ext cx="34525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602736" y="5600348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$56K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25696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92624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170078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1773901"/>
            <a:ext cx="31727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153144" y="170078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976104" y="170078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43032" y="170078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313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20257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2098865"/>
            <a:ext cx="28270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153144" y="2025748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976104" y="20257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43032" y="20257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5071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2423828"/>
            <a:ext cx="208181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153144" y="235071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976104" y="235071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43032" y="235071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7567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2748792"/>
            <a:ext cx="17810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153144" y="267567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976104" y="267567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43032" y="267567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123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3000639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3073756"/>
            <a:ext cx="16082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153144" y="3000639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76104" y="3000639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43032" y="3000639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325602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3398719"/>
            <a:ext cx="153735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153144" y="3325602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76104" y="3325602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43032" y="3325602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195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650566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3723683"/>
            <a:ext cx="147027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153144" y="3650566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76104" y="3650566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543032" y="3650566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75530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4048647"/>
            <a:ext cx="130926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153144" y="3975530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76104" y="3975530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543032" y="3975530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4300494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4373610"/>
            <a:ext cx="11648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153144" y="4300494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76104" y="4300494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543032" y="4300494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186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625457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4698574"/>
            <a:ext cx="112514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153144" y="4625457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76104" y="4625457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543032" y="4625457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950421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5023538"/>
            <a:ext cx="78509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153144" y="4950421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76104" y="4950421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543032" y="4950421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275385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5348501"/>
            <a:ext cx="62960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153144" y="5275385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76104" y="5275385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543032" y="5275385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5600348"/>
            <a:ext cx="19385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5673465"/>
            <a:ext cx="18288" cy="17873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153144" y="5600348"/>
            <a:ext cx="822960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76104" y="5600348"/>
            <a:ext cx="56692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543032" y="5600348"/>
            <a:ext cx="87782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year: 8,527 services. Chevy LV has the most at $142,290.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2026-10-22T19:29:37Z</dcterms:created>
  <dcterms:modified xsi:type="dcterms:W3CDTF">2026-10-22T19:29:37Z</dcterms:modified>
</cp:coreProperties>
</file>