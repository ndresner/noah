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58.xml" ContentType="application/vnd.openxmlformats-officedocument.drawingml.chart+xml"/>
  <Override PartName="/ppt/charts/chart59.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notesMasters/notesMaster1.xml" ContentType="application/vnd.openxmlformats-officedocument.presentationml.notesMaster+xml"/>
  <Override PartName="/ppt/notesSlides/notesSlide52.xml" ContentType="application/vnd.openxmlformats-officedocument.presentationml.notesSlide+xml"/>
  <Override PartName="/ppt/notesSlides/notesSlide62.xml" ContentType="application/vnd.openxmlformats-officedocument.presentationml.notesSlide+xml"/>
  <Override PartName="/ppt/notesSlides/notesSlide68.xml" ContentType="application/vnd.openxmlformats-officedocument.presentationml.notesSlide+xml"/>
  <Override PartName="/ppt/notesSlides/notesSlide7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46.xml" ContentType="application/vnd.openxmlformats-officedocument.presentationml.slide+xml"/>
  <Override PartName="/ppt/slides/slide56.xml" ContentType="application/vnd.openxmlformats-officedocument.presentationml.slide+xml"/>
  <Override PartName="/ppt/slides/slide62.xml" ContentType="application/vnd.openxmlformats-officedocument.presentationml.slide+xml"/>
  <Override PartName="/ppt/slides/slide6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07" r:id="rId58"/>
    <p:sldId id="317" r:id="rId68"/>
    <p:sldId id="323" r:id="rId74"/>
    <p:sldId id="327" r:id="rId78"/>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58" Type="http://schemas.openxmlformats.org/officeDocument/2006/relationships/slide" Target="slides/slide46.xml"/><Relationship Id="rId68" Type="http://schemas.openxmlformats.org/officeDocument/2006/relationships/slide" Target="slides/slide56.xml"/><Relationship Id="rId74" Type="http://schemas.openxmlformats.org/officeDocument/2006/relationships/slide" Target="slides/slide62.xml"/><Relationship Id="rId78" Type="http://schemas.openxmlformats.org/officeDocument/2006/relationships/slide" Target="slides/slide66.xml"/></Relationships>
</file>

<file path=ppt/charts/_rels/chart58.xml.rels><?xml version='1.0' encoding='UTF-8' standalone='yes'?>
<Relationships xmlns="http://schemas.openxmlformats.org/package/2006/relationships"><Relationship Id="rId1" Type="http://schemas.openxmlformats.org/officeDocument/2006/relationships/package" Target="../embeddings/Microsoft_Excel_Worksheet58.xlsx"/></Relationships>
</file>

<file path=ppt/charts/_rels/chart59.xml.rels><?xml version='1.0' encoding='UTF-8' standalone='yes'?>
<Relationships xmlns="http://schemas.openxmlformats.org/package/2006/relationships"><Relationship Id="rId1" Type="http://schemas.openxmlformats.org/officeDocument/2006/relationships/package" Target="../embeddings/Microsoft_Excel_Worksheet59.xlsx"/></Relationships>
</file>

<file path=ppt/charts/_rels/chart60.xml.rels><?xml version='1.0' encoding='UTF-8' standalone='yes'?>
<Relationships xmlns="http://schemas.openxmlformats.org/package/2006/relationships"><Relationship Id="rId1" Type="http://schemas.openxmlformats.org/officeDocument/2006/relationships/package" Target="../embeddings/Microsoft_Excel_Worksheet60.xlsx"/></Relationships>
</file>

<file path=ppt/charts/_rels/chart61.xml.rels><?xml version='1.0' encoding='UTF-8' standalone='yes'?>
<Relationships xmlns="http://schemas.openxmlformats.org/package/2006/relationships"><Relationship Id="rId1" Type="http://schemas.openxmlformats.org/officeDocument/2006/relationships/package" Target="../embeddings/Microsoft_Excel_Worksheet61.xlsx"/></Relationships>
</file>

<file path=ppt/charts/_rels/chart62.xml.rels><?xml version='1.0' encoding='UTF-8' standalone='yes'?>
<Relationships xmlns="http://schemas.openxmlformats.org/package/2006/relationships"><Relationship Id="rId1" Type="http://schemas.openxmlformats.org/officeDocument/2006/relationships/package" Target="../embeddings/Microsoft_Excel_Worksheet62.xlsx"/></Relationships>
</file>

<file path=ppt/charts/chart5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quot;$&quot;#,##0.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161.13</c:v>
                </c:pt>
                <c:pt idx="1">
                  <c:v>162.3</c:v>
                </c:pt>
                <c:pt idx="2">
                  <c:v>162.02</c:v>
                </c:pt>
                <c:pt idx="3">
                  <c:v>162.06</c:v>
                </c:pt>
                <c:pt idx="4">
                  <c:v>161.12</c:v>
                </c:pt>
                <c:pt idx="5">
                  <c:v>162.01</c:v>
                </c:pt>
                <c:pt idx="6">
                  <c:v>162.6</c:v>
                </c:pt>
                <c:pt idx="7">
                  <c:v>164.83</c:v>
                </c:pt>
                <c:pt idx="8">
                  <c:v>163.61</c:v>
                </c:pt>
                <c:pt idx="9">
                  <c:v/>
                </c:pt>
                <c:pt idx="10">
                  <c:v/>
                </c:pt>
                <c:pt idx="11">
                  <c:v/>
                </c:pt>
              </c:numCache>
            </c:numRef>
          </c:val>
          <c:smooth val="0"/>
        </c:ser>
        <c:dLbls>
          <c:numFmt formatCode="&quot;$&quot;#,##0.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70"/>
          <c:min val="150"/>
        </c:scaling>
        <c:delete val="0"/>
        <c:axPos val="l"/>
        <c:majorGridlines>
          <c:spPr>
            <a:ln w="9525" cap="flat">
              <a:solidFill>
                <a:srgbClr val="D9D9D9"/>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quot;$&quot;#,##0.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161.13</c:v>
                </c:pt>
                <c:pt idx="1">
                  <c:v>162.3</c:v>
                </c:pt>
                <c:pt idx="2">
                  <c:v>162.02</c:v>
                </c:pt>
                <c:pt idx="3">
                  <c:v>162.06</c:v>
                </c:pt>
                <c:pt idx="4">
                  <c:v>161.12</c:v>
                </c:pt>
                <c:pt idx="5">
                  <c:v>162.01</c:v>
                </c:pt>
                <c:pt idx="6">
                  <c:v>162.6</c:v>
                </c:pt>
                <c:pt idx="7">
                  <c:v>164.83</c:v>
                </c:pt>
                <c:pt idx="8">
                  <c:v>163.61</c:v>
                </c:pt>
                <c:pt idx="9">
                  <c:v/>
                </c:pt>
                <c:pt idx="10">
                  <c:v/>
                </c:pt>
                <c:pt idx="11">
                  <c:v/>
                </c:pt>
              </c:numCache>
            </c:numRef>
          </c:val>
          <c:smooth val="0"/>
        </c:ser>
        <c:dLbls>
          <c:numFmt formatCode="&quot;$&quot;#,##0.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70"/>
          <c:min val="150"/>
        </c:scaling>
        <c:delete val="0"/>
        <c:axPos val="l"/>
        <c:numFmt formatCode="&quot;$&quot;#,##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quot;$&quot;#,##0.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
                </c:pt>
                <c:pt idx="4">
                  <c:v/>
                </c:pt>
                <c:pt idx="5">
                  <c:v/>
                </c:pt>
                <c:pt idx="6">
                  <c:v/>
                </c:pt>
                <c:pt idx="7">
                  <c:v/>
                </c:pt>
                <c:pt idx="8">
                  <c:v/>
                </c:pt>
                <c:pt idx="9">
                  <c:v/>
                </c:pt>
                <c:pt idx="10">
                  <c:v>160.67</c:v>
                </c:pt>
                <c:pt idx="11">
                  <c:v>160.87</c:v>
                </c:pt>
              </c:numCache>
            </c:numRef>
          </c:val>
          <c:smooth val="0"/>
        </c:ser>
        <c:dLbls>
          <c:numFmt formatCode="&quot;$&quot;#,##0.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70"/>
          <c:min val="150"/>
        </c:scaling>
        <c:delete val="0"/>
        <c:axPos val="l"/>
        <c:numFmt formatCode="&quot;$&quot;#,##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quot;$&quot;#,##0.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157.2</c:v>
                </c:pt>
                <c:pt idx="1">
                  <c:v>159.46</c:v>
                </c:pt>
                <c:pt idx="2">
                  <c:v>158.38</c:v>
                </c:pt>
                <c:pt idx="3">
                  <c:v>158.8</c:v>
                </c:pt>
                <c:pt idx="4">
                  <c:v>158.09</c:v>
                </c:pt>
                <c:pt idx="5">
                  <c:v>159.24</c:v>
                </c:pt>
                <c:pt idx="6">
                  <c:v>159.33</c:v>
                </c:pt>
                <c:pt idx="7">
                  <c:v>160.09</c:v>
                </c:pt>
                <c:pt idx="8">
                  <c:v>159.15</c:v>
                </c:pt>
                <c:pt idx="9">
                  <c:v>157.67</c:v>
                </c:pt>
                <c:pt idx="10">
                  <c:v/>
                </c:pt>
                <c:pt idx="11">
                  <c:v/>
                </c:pt>
              </c:numCache>
            </c:numRef>
          </c:val>
          <c:smooth val="0"/>
        </c:ser>
        <c:dLbls>
          <c:numFmt formatCode="&quot;$&quot;#,##0.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70"/>
          <c:min val="150"/>
        </c:scaling>
        <c:delete val="0"/>
        <c:axPos val="l"/>
        <c:numFmt formatCode="&quot;$&quot;#,##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quot;$&quot;#,##0.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157.2</c:v>
                </c:pt>
                <c:pt idx="1">
                  <c:v>159.46</c:v>
                </c:pt>
                <c:pt idx="2">
                  <c:v>158.38</c:v>
                </c:pt>
                <c:pt idx="3">
                  <c:v>158.8</c:v>
                </c:pt>
                <c:pt idx="4">
                  <c:v>158.09</c:v>
                </c:pt>
                <c:pt idx="5">
                  <c:v>159.24</c:v>
                </c:pt>
                <c:pt idx="6">
                  <c:v>159.33</c:v>
                </c:pt>
                <c:pt idx="7">
                  <c:v>160.09</c:v>
                </c:pt>
                <c:pt idx="8">
                  <c:v>159.15</c:v>
                </c:pt>
                <c:pt idx="9">
                  <c:v>157.67</c:v>
                </c:pt>
                <c:pt idx="10">
                  <c:v>160.67</c:v>
                </c:pt>
                <c:pt idx="11">
                  <c:v>160.87</c:v>
                </c:pt>
              </c:numCache>
            </c:numRef>
          </c:val>
          <c:smooth val="0"/>
        </c:ser>
        <c:dLbls>
          <c:numFmt formatCode="&quot;$&quot;#,##0.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170"/>
          <c:min val="150"/>
        </c:scaling>
        <c:delete val="0"/>
        <c:axPos val="l"/>
        <c:numFmt formatCode="&quot;$&quot;#,##0"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CP Engine, in front of CP RO Count.</a:t>
            </a:r>
          </a:p>
          <a:p>
            <a:r>
              <a:t>Definition is the data slides' own: distinct ROs with a customer-pay line, by close month. This includes the roughly 0.9% of CP ROs with no labor charged (parts-only sales such as additives, wipers and batteries, and blank CP lines); Qlik's hasLabor flag is set on every line, so it does not filter them, and the count is kept that way to match the numbers stores are used to. GMC Prescott body-shop-only ROs excluded.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CP Engine, in front of CP Hours per RO.</a:t>
            </a:r>
          </a:p>
          <a:p>
            <a:r>
              <a:t>$4,543,691 = 0.1 x 279,756 CP ROs (27,976 hours) x $162.42 CP ELR (on the Hours per RO data slide). Slide rounds to $162 and $4.5M so the room can follow it (Noah, Oct 23).</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Customer Pay, after CP Hours per RO and ahead of Labor Sale by Pay Type and the CP ELR slides.</a:t>
            </a:r>
          </a:p>
          <a:p>
            <a:r>
              <a:t>Roundtable worked example removed from the slide (Noah, Oct 21).</a:t>
            </a:r>
          </a:p>
          <a:p>
            <a:r>
              <a:t>Talk track (Noah, Oct 23): to understand your ELR you have to understand your work mix. A shop that does more repair than maintenance will run a higher ELR, because the repair rate is higher; a shop that is mostly maintenance will run lower. There is nothing wrong with that, but you need to know your mix to know why your ELR is what it is. Raising the repair rate may do less than raising the maintenance rate if most of your work is maintenance. Know your ELR for every labor operation.</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by close month. Same-store, INEOS excluded (opened 2026). GMC Prescott body shop labor types excluded. Customer-pay labor sale / customer-pay sold hours. YTD from YTD totals, not the mean of months. Store rows reconcile to the group on every input, both years. 2025 shown January-December; October-December pulled Oct 22 on the same basis (chart only).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8.xml"/><Relationship Id="rId3" Type="http://schemas.openxmlformats.org/officeDocument/2006/relationships/chart" Target="../charts/chart59.xml"/><Relationship Id="rId4" Type="http://schemas.openxmlformats.org/officeDocument/2006/relationships/chart" Target="../charts/chart60.xml"/><Relationship Id="rId5" Type="http://schemas.openxmlformats.org/officeDocument/2006/relationships/chart" Target="../charts/chart61.xml"/><Relationship Id="rId6" Type="http://schemas.openxmlformats.org/officeDocument/2006/relationships/chart" Target="../charts/chart62.xml"/><Relationship Id="rId7" Type="http://schemas.openxmlformats.org/officeDocument/2006/relationships/notesSlide" Target="../notesSlides/notesSlide72.xml"/></Relationships>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RO Count</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200" b="1" dirty="0">
                <a:solidFill>
                  <a:srgbClr val="0B2C4A"/>
                </a:solidFill>
                <a:latin typeface="Inter" pitchFamily="34" charset="0"/>
                <a:ea typeface="Inter" pitchFamily="34" charset="-122"/>
                <a:cs typeface="Inter" pitchFamily="34" charset="-120"/>
              </a:rPr>
              <a:t>CP RO count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customer-pay repair orders closed in the period</a:t>
            </a:r>
            <a:endParaRPr lang="en-US" sz="22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Every RO with a customer-pay line. One RO counts once, however many lines it has.</a:t>
            </a:r>
            <a:endParaRPr lang="en-US" sz="1500" dirty="0"/>
          </a:p>
        </p:txBody>
      </p:sp>
      <p:sp>
        <p:nvSpPr>
          <p:cNvPr id="8" name="Shape 6"/>
          <p:cNvSpPr/>
          <p:nvPr/>
        </p:nvSpPr>
        <p:spPr>
          <a:xfrm>
            <a:off x="457200" y="2340864"/>
            <a:ext cx="4343400" cy="4014216"/>
          </a:xfrm>
          <a:prstGeom prst="rect">
            <a:avLst/>
          </a:prstGeom>
          <a:solidFill>
            <a:srgbClr val="FFFFFF"/>
          </a:solidFill>
          <a:ln/>
        </p:spPr>
      </p:sp>
      <p:sp>
        <p:nvSpPr>
          <p:cNvPr id="9" name="Shape 7"/>
          <p:cNvSpPr/>
          <p:nvPr/>
        </p:nvSpPr>
        <p:spPr>
          <a:xfrm>
            <a:off x="4937760" y="2340864"/>
            <a:ext cx="6793992" cy="401421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2" name="Text 10"/>
          <p:cNvSpPr txBox="1"/>
          <p:nvPr/>
        </p:nvSpPr>
        <p:spPr>
          <a:xfrm>
            <a:off x="658368" y="2843784"/>
            <a:ext cx="3977640" cy="3374136"/>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Everything else starts here: hours, ELR and $ per RO all multiply off the RO count.</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shows whether the business is expanding or contracting: are customers coming back?</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Flat car count means growth has to come from selling more on each visit.</a:t>
            </a:r>
            <a:endParaRPr lang="en-US" sz="1600" dirty="0"/>
          </a:p>
        </p:txBody>
      </p:sp>
      <p:sp>
        <p:nvSpPr>
          <p:cNvPr id="13" name="Shape 11"/>
          <p:cNvSpPr/>
          <p:nvPr/>
        </p:nvSpPr>
        <p:spPr>
          <a:xfrm>
            <a:off x="5138928" y="2843784"/>
            <a:ext cx="45720" cy="911125"/>
          </a:xfrm>
          <a:prstGeom prst="rect">
            <a:avLst/>
          </a:prstGeom>
          <a:solidFill>
            <a:srgbClr val="2587C5"/>
          </a:solidFill>
          <a:ln/>
        </p:spPr>
      </p:sp>
      <p:sp>
        <p:nvSpPr>
          <p:cNvPr id="14" name="Text 12"/>
          <p:cNvSpPr txBox="1"/>
          <p:nvPr/>
        </p:nvSpPr>
        <p:spPr>
          <a:xfrm>
            <a:off x="5266944" y="2843784"/>
            <a:ext cx="2962656" cy="911125"/>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Appointment availability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Same-day and next-day slots; an easy online scheduler</a:t>
            </a:r>
            <a:endParaRPr lang="en-US" sz="1400" dirty="0"/>
          </a:p>
        </p:txBody>
      </p:sp>
      <p:sp>
        <p:nvSpPr>
          <p:cNvPr id="15" name="Shape 13"/>
          <p:cNvSpPr/>
          <p:nvPr/>
        </p:nvSpPr>
        <p:spPr>
          <a:xfrm>
            <a:off x="8394192" y="2843784"/>
            <a:ext cx="45720" cy="911125"/>
          </a:xfrm>
          <a:prstGeom prst="rect">
            <a:avLst/>
          </a:prstGeom>
          <a:solidFill>
            <a:srgbClr val="2587C5"/>
          </a:solidFill>
          <a:ln/>
        </p:spPr>
      </p:sp>
      <p:sp>
        <p:nvSpPr>
          <p:cNvPr id="16" name="Text 14"/>
          <p:cNvSpPr txBox="1"/>
          <p:nvPr/>
        </p:nvSpPr>
        <p:spPr>
          <a:xfrm>
            <a:off x="8522208" y="2843784"/>
            <a:ext cx="2962656" cy="911125"/>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Phone handling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 call answered, and every caller asked for the appointment</a:t>
            </a:r>
            <a:endParaRPr lang="en-US" sz="1400" dirty="0"/>
          </a:p>
        </p:txBody>
      </p:sp>
      <p:sp>
        <p:nvSpPr>
          <p:cNvPr id="17" name="Shape 15"/>
          <p:cNvSpPr/>
          <p:nvPr/>
        </p:nvSpPr>
        <p:spPr>
          <a:xfrm>
            <a:off x="5138928" y="3864637"/>
            <a:ext cx="45720" cy="1268423"/>
          </a:xfrm>
          <a:prstGeom prst="rect">
            <a:avLst/>
          </a:prstGeom>
          <a:solidFill>
            <a:srgbClr val="2587C5"/>
          </a:solidFill>
          <a:ln/>
        </p:spPr>
      </p:sp>
      <p:sp>
        <p:nvSpPr>
          <p:cNvPr id="18" name="Text 16"/>
          <p:cNvSpPr txBox="1"/>
          <p:nvPr/>
        </p:nvSpPr>
        <p:spPr>
          <a:xfrm>
            <a:off x="5266944" y="3864637"/>
            <a:ext cx="2962656" cy="1268423"/>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Retention</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Proactive outreach and ongoing engagement: lapsed, inactive and sold-not-serviced customers (VizAuto retention app)</a:t>
            </a:r>
            <a:endParaRPr lang="en-US" sz="1400" dirty="0"/>
          </a:p>
        </p:txBody>
      </p:sp>
      <p:sp>
        <p:nvSpPr>
          <p:cNvPr id="19" name="Shape 17"/>
          <p:cNvSpPr/>
          <p:nvPr/>
        </p:nvSpPr>
        <p:spPr>
          <a:xfrm>
            <a:off x="8394192" y="3864637"/>
            <a:ext cx="45720" cy="1268423"/>
          </a:xfrm>
          <a:prstGeom prst="rect">
            <a:avLst/>
          </a:prstGeom>
          <a:solidFill>
            <a:srgbClr val="2587C5"/>
          </a:solidFill>
          <a:ln/>
        </p:spPr>
      </p:sp>
      <p:sp>
        <p:nvSpPr>
          <p:cNvPr id="20" name="Text 18"/>
          <p:cNvSpPr txBox="1"/>
          <p:nvPr/>
        </p:nvSpPr>
        <p:spPr>
          <a:xfrm>
            <a:off x="8522208" y="3864637"/>
            <a:ext cx="2962656" cy="1268423"/>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Next visit booked</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First appointment at the sale; next one before the customer leaves</a:t>
            </a:r>
            <a:endParaRPr lang="en-US" sz="1400" dirty="0"/>
          </a:p>
        </p:txBody>
      </p:sp>
      <p:sp>
        <p:nvSpPr>
          <p:cNvPr id="21" name="Shape 19"/>
          <p:cNvSpPr/>
          <p:nvPr/>
        </p:nvSpPr>
        <p:spPr>
          <a:xfrm>
            <a:off x="5138928" y="5242787"/>
            <a:ext cx="45720" cy="911125"/>
          </a:xfrm>
          <a:prstGeom prst="rect">
            <a:avLst/>
          </a:prstGeom>
          <a:solidFill>
            <a:srgbClr val="2587C5"/>
          </a:solidFill>
          <a:ln/>
        </p:spPr>
      </p:sp>
      <p:sp>
        <p:nvSpPr>
          <p:cNvPr id="22" name="Text 20"/>
          <p:cNvSpPr txBox="1"/>
          <p:nvPr/>
        </p:nvSpPr>
        <p:spPr>
          <a:xfrm>
            <a:off x="5266944" y="5242787"/>
            <a:ext cx="2962656" cy="911125"/>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Quick maintenance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Maintenance available on demand, done quickly and efficiently, keeps customers coming back</a:t>
            </a:r>
            <a:endParaRPr lang="en-US" sz="1400" dirty="0"/>
          </a:p>
        </p:txBody>
      </p:sp>
      <p:sp>
        <p:nvSpPr>
          <p:cNvPr id="23" name="Shape 21"/>
          <p:cNvSpPr/>
          <p:nvPr/>
        </p:nvSpPr>
        <p:spPr>
          <a:xfrm>
            <a:off x="8394192" y="5242787"/>
            <a:ext cx="45720" cy="911125"/>
          </a:xfrm>
          <a:prstGeom prst="rect">
            <a:avLst/>
          </a:prstGeom>
          <a:solidFill>
            <a:srgbClr val="2587C5"/>
          </a:solidFill>
          <a:ln/>
        </p:spPr>
      </p:sp>
      <p:sp>
        <p:nvSpPr>
          <p:cNvPr id="24" name="Text 22"/>
          <p:cNvSpPr txBox="1"/>
          <p:nvPr/>
        </p:nvSpPr>
        <p:spPr>
          <a:xfrm>
            <a:off x="8522208" y="5242787"/>
            <a:ext cx="2962656" cy="911125"/>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Marketing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Fixed ops budget, keyword search, OEM and third-party reminders</a:t>
            </a:r>
            <a:endParaRPr lang="en-US" sz="1400" dirty="0"/>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Hours per RO</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Hours per RO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hours sold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RO count</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The labor hours we sell, on average, every time a customer-pay car comes through the drive.</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0.1 HOUR</a:t>
            </a:r>
            <a:endParaRPr lang="en-US" sz="1400" dirty="0"/>
          </a:p>
        </p:txBody>
      </p:sp>
      <p:sp>
        <p:nvSpPr>
          <p:cNvPr id="9" name="Shape 7"/>
          <p:cNvSpPr/>
          <p:nvPr/>
        </p:nvSpPr>
        <p:spPr>
          <a:xfrm>
            <a:off x="2286000" y="2340864"/>
            <a:ext cx="466801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0.1 hour more on every RO  </a:t>
            </a:r>
            <a:pPr algn="ctr" indent="0" marL="0">
              <a:buNone/>
            </a:pPr>
            <a:r>
              <a:rPr lang="en-US" sz="1400" b="1" dirty="0">
                <a:solidFill>
                  <a:srgbClr val="0B2C4A"/>
                </a:solidFill>
                <a:latin typeface="Inter" pitchFamily="34" charset="0"/>
                <a:ea typeface="Inter" pitchFamily="34" charset="-122"/>
                <a:cs typeface="Inter" pitchFamily="34" charset="-120"/>
              </a:rPr>
              <a:t>= 27,976 more hours</a:t>
            </a:r>
            <a:endParaRPr lang="en-US" sz="1400" dirty="0"/>
          </a:p>
        </p:txBody>
      </p:sp>
      <p:sp>
        <p:nvSpPr>
          <p:cNvPr id="11" name="Shape 9"/>
          <p:cNvSpPr/>
          <p:nvPr/>
        </p:nvSpPr>
        <p:spPr>
          <a:xfrm>
            <a:off x="7063740" y="2340864"/>
            <a:ext cx="4668012" cy="457200"/>
          </a:xfrm>
          <a:prstGeom prst="rect">
            <a:avLst/>
          </a:prstGeom>
          <a:solidFill>
            <a:srgbClr val="FFFFFF"/>
          </a:solidFill>
          <a:ln w="9525">
            <a:solidFill>
              <a:srgbClr val="D9D9D9"/>
            </a:solidFill>
            <a:prstDash val="solid"/>
          </a:ln>
        </p:spPr>
      </p:sp>
      <p:sp>
        <p:nvSpPr>
          <p:cNvPr id="12" name="Text 10"/>
          <p:cNvSpPr txBox="1"/>
          <p:nvPr/>
        </p:nvSpPr>
        <p:spPr>
          <a:xfrm>
            <a:off x="713689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 $162 an hour (our ELR)  </a:t>
            </a:r>
            <a:pPr algn="ctr" indent="0" marL="0">
              <a:buNone/>
            </a:pPr>
            <a:r>
              <a:rPr lang="en-US" sz="1400" b="1" dirty="0">
                <a:solidFill>
                  <a:srgbClr val="0B2C4A"/>
                </a:solidFill>
                <a:latin typeface="Inter" pitchFamily="34" charset="0"/>
                <a:ea typeface="Inter" pitchFamily="34" charset="-122"/>
                <a:cs typeface="Inter" pitchFamily="34" charset="-120"/>
              </a:rPr>
              <a:t>= $4.5M more labor</a:t>
            </a:r>
            <a:endParaRPr lang="en-US" sz="1400" dirty="0"/>
          </a:p>
        </p:txBody>
      </p:sp>
      <p:sp>
        <p:nvSpPr>
          <p:cNvPr id="13" name="Shape 11"/>
          <p:cNvSpPr/>
          <p:nvPr/>
        </p:nvSpPr>
        <p:spPr>
          <a:xfrm>
            <a:off x="457200" y="2907792"/>
            <a:ext cx="4343400" cy="3447288"/>
          </a:xfrm>
          <a:prstGeom prst="rect">
            <a:avLst/>
          </a:prstGeom>
          <a:solidFill>
            <a:srgbClr val="FFFFFF"/>
          </a:solidFill>
          <a:ln/>
        </p:spPr>
      </p:sp>
      <p:sp>
        <p:nvSpPr>
          <p:cNvPr id="14" name="Shape 12"/>
          <p:cNvSpPr/>
          <p:nvPr/>
        </p:nvSpPr>
        <p:spPr>
          <a:xfrm>
            <a:off x="4937760" y="2907792"/>
            <a:ext cx="6793992" cy="3447288"/>
          </a:xfrm>
          <a:prstGeom prst="rect">
            <a:avLst/>
          </a:prstGeom>
          <a:solidFill>
            <a:srgbClr val="FFFFFF"/>
          </a:solidFill>
          <a:ln/>
        </p:spPr>
      </p:sp>
      <p:sp>
        <p:nvSpPr>
          <p:cNvPr id="15" name="Text 13"/>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6" name="Text 14"/>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7" name="Text 15"/>
          <p:cNvSpPr txBox="1"/>
          <p:nvPr/>
        </p:nvSpPr>
        <p:spPr>
          <a:xfrm>
            <a:off x="658368" y="3410712"/>
            <a:ext cx="3977640" cy="2807208"/>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cannot be manipulated: it is the work we sell.</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shows where the lift came from: if labor sales per RO go up but hours per RO stay flat, we are charging more, not selling more.</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Selling more hours also sells parts.</a:t>
            </a:r>
            <a:endParaRPr lang="en-US" sz="1600" dirty="0"/>
          </a:p>
        </p:txBody>
      </p:sp>
      <p:sp>
        <p:nvSpPr>
          <p:cNvPr id="18" name="Shape 16"/>
          <p:cNvSpPr/>
          <p:nvPr/>
        </p:nvSpPr>
        <p:spPr>
          <a:xfrm>
            <a:off x="5138928" y="3410712"/>
            <a:ext cx="45720" cy="841248"/>
          </a:xfrm>
          <a:prstGeom prst="rect">
            <a:avLst/>
          </a:prstGeom>
          <a:solidFill>
            <a:srgbClr val="2587C5"/>
          </a:solidFill>
          <a:ln/>
        </p:spPr>
      </p:sp>
      <p:sp>
        <p:nvSpPr>
          <p:cNvPr id="19" name="Text 17"/>
          <p:cNvSpPr txBox="1"/>
          <p:nvPr/>
        </p:nvSpPr>
        <p:spPr>
          <a:xfrm>
            <a:off x="5266944" y="3410712"/>
            <a:ext cx="2962656" cy="841248"/>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MPI on every car</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 car inspected, with photos and video sent to the customer</a:t>
            </a:r>
            <a:endParaRPr lang="en-US" sz="1400" dirty="0"/>
          </a:p>
        </p:txBody>
      </p:sp>
      <p:sp>
        <p:nvSpPr>
          <p:cNvPr id="20" name="Shape 18"/>
          <p:cNvSpPr/>
          <p:nvPr/>
        </p:nvSpPr>
        <p:spPr>
          <a:xfrm>
            <a:off x="8394192" y="3410712"/>
            <a:ext cx="45720" cy="841248"/>
          </a:xfrm>
          <a:prstGeom prst="rect">
            <a:avLst/>
          </a:prstGeom>
          <a:solidFill>
            <a:srgbClr val="2587C5"/>
          </a:solidFill>
          <a:ln/>
        </p:spPr>
      </p:sp>
      <p:sp>
        <p:nvSpPr>
          <p:cNvPr id="21" name="Text 19"/>
          <p:cNvSpPr txBox="1"/>
          <p:nvPr/>
        </p:nvSpPr>
        <p:spPr>
          <a:xfrm>
            <a:off x="8522208" y="3410712"/>
            <a:ext cx="2962656" cy="841248"/>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Road to the Sale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Walk-around at the vehicle: hood, tires and wipers</a:t>
            </a:r>
            <a:endParaRPr lang="en-US" sz="1400" dirty="0"/>
          </a:p>
        </p:txBody>
      </p:sp>
      <p:sp>
        <p:nvSpPr>
          <p:cNvPr id="22" name="Shape 20"/>
          <p:cNvSpPr/>
          <p:nvPr/>
        </p:nvSpPr>
        <p:spPr>
          <a:xfrm>
            <a:off x="5138928" y="4361688"/>
            <a:ext cx="45720" cy="841248"/>
          </a:xfrm>
          <a:prstGeom prst="rect">
            <a:avLst/>
          </a:prstGeom>
          <a:solidFill>
            <a:srgbClr val="2587C5"/>
          </a:solidFill>
          <a:ln/>
        </p:spPr>
      </p:sp>
      <p:sp>
        <p:nvSpPr>
          <p:cNvPr id="23" name="Text 21"/>
          <p:cNvSpPr txBox="1"/>
          <p:nvPr/>
        </p:nvSpPr>
        <p:spPr>
          <a:xfrm>
            <a:off x="5266944" y="4361688"/>
            <a:ext cx="2962656" cy="841248"/>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Menu presentation</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Time and mileage recommendations, every customer, every time</a:t>
            </a:r>
            <a:endParaRPr lang="en-US" sz="1400" dirty="0"/>
          </a:p>
        </p:txBody>
      </p:sp>
      <p:sp>
        <p:nvSpPr>
          <p:cNvPr id="24" name="Shape 22"/>
          <p:cNvSpPr/>
          <p:nvPr/>
        </p:nvSpPr>
        <p:spPr>
          <a:xfrm>
            <a:off x="8394192" y="4361688"/>
            <a:ext cx="45720" cy="841248"/>
          </a:xfrm>
          <a:prstGeom prst="rect">
            <a:avLst/>
          </a:prstGeom>
          <a:solidFill>
            <a:srgbClr val="2587C5"/>
          </a:solidFill>
          <a:ln/>
        </p:spPr>
      </p:sp>
      <p:sp>
        <p:nvSpPr>
          <p:cNvPr id="25" name="Text 23"/>
          <p:cNvSpPr txBox="1"/>
          <p:nvPr/>
        </p:nvSpPr>
        <p:spPr>
          <a:xfrm>
            <a:off x="8522208" y="4361688"/>
            <a:ext cx="2962656" cy="841248"/>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Declined work follow-up</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A defined process and a champion to bring it back</a:t>
            </a:r>
            <a:endParaRPr lang="en-US" sz="1400" dirty="0"/>
          </a:p>
        </p:txBody>
      </p:sp>
      <p:sp>
        <p:nvSpPr>
          <p:cNvPr id="26" name="Shape 24"/>
          <p:cNvSpPr/>
          <p:nvPr/>
        </p:nvSpPr>
        <p:spPr>
          <a:xfrm>
            <a:off x="5138928" y="5312664"/>
            <a:ext cx="45720" cy="841248"/>
          </a:xfrm>
          <a:prstGeom prst="rect">
            <a:avLst/>
          </a:prstGeom>
          <a:solidFill>
            <a:srgbClr val="2587C5"/>
          </a:solidFill>
          <a:ln/>
        </p:spPr>
      </p:sp>
      <p:sp>
        <p:nvSpPr>
          <p:cNvPr id="27" name="Text 25"/>
          <p:cNvSpPr txBox="1"/>
          <p:nvPr/>
        </p:nvSpPr>
        <p:spPr>
          <a:xfrm>
            <a:off x="5266944" y="5312664"/>
            <a:ext cx="2962656" cy="841248"/>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Op code times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Sell the hours the job pays; don't give time away</a:t>
            </a:r>
            <a:endParaRPr lang="en-US" sz="1400" dirty="0"/>
          </a:p>
        </p:txBody>
      </p:sp>
      <p:sp>
        <p:nvSpPr>
          <p:cNvPr id="28" name="Shape 26"/>
          <p:cNvSpPr/>
          <p:nvPr/>
        </p:nvSpPr>
        <p:spPr>
          <a:xfrm>
            <a:off x="8394192" y="5312664"/>
            <a:ext cx="45720" cy="841248"/>
          </a:xfrm>
          <a:prstGeom prst="rect">
            <a:avLst/>
          </a:prstGeom>
          <a:solidFill>
            <a:srgbClr val="2587C5"/>
          </a:solidFill>
          <a:ln/>
        </p:spPr>
      </p:sp>
      <p:sp>
        <p:nvSpPr>
          <p:cNvPr id="29" name="Text 27"/>
          <p:cNvSpPr txBox="1"/>
          <p:nvPr/>
        </p:nvSpPr>
        <p:spPr>
          <a:xfrm>
            <a:off x="8522208" y="5312664"/>
            <a:ext cx="2962656" cy="841248"/>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Right tech, right car</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High-mileage and repair work to the techs who find it</a:t>
            </a:r>
            <a:endParaRPr lang="en-US" sz="1400" dirty="0"/>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Effective Labor Rate</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Effective labor rate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labor sale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hours sold</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The average amount we collect for each hour of customer-pay labor we sell.</a:t>
            </a:r>
            <a:endParaRPr lang="en-US" sz="1500" dirty="0"/>
          </a:p>
        </p:txBody>
      </p:sp>
      <p:sp>
        <p:nvSpPr>
          <p:cNvPr id="8" name="Shape 6"/>
          <p:cNvSpPr/>
          <p:nvPr/>
        </p:nvSpPr>
        <p:spPr>
          <a:xfrm>
            <a:off x="457200" y="2340864"/>
            <a:ext cx="4343400" cy="4014216"/>
          </a:xfrm>
          <a:prstGeom prst="rect">
            <a:avLst/>
          </a:prstGeom>
          <a:solidFill>
            <a:srgbClr val="FFFFFF"/>
          </a:solidFill>
          <a:ln/>
        </p:spPr>
      </p:sp>
      <p:sp>
        <p:nvSpPr>
          <p:cNvPr id="9" name="Shape 7"/>
          <p:cNvSpPr/>
          <p:nvPr/>
        </p:nvSpPr>
        <p:spPr>
          <a:xfrm>
            <a:off x="4937760" y="2340864"/>
            <a:ext cx="6793992" cy="401421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2" name="Text 10"/>
          <p:cNvSpPr txBox="1"/>
          <p:nvPr/>
        </p:nvSpPr>
        <p:spPr>
          <a:xfrm>
            <a:off x="658368" y="2843784"/>
            <a:ext cx="3977640" cy="3374136"/>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is what the shop actually collects per hour, and it shows whether a pricing change did what it was meant to do.</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Look past the total: by work type and by op code there can be room to raise a rate, or a reason to lower one.</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Benchmark: CP ELR at least 70% of door rate.</a:t>
            </a:r>
            <a:endParaRPr lang="en-US" sz="1600" dirty="0"/>
          </a:p>
        </p:txBody>
      </p:sp>
      <p:sp>
        <p:nvSpPr>
          <p:cNvPr id="13" name="Shape 11"/>
          <p:cNvSpPr/>
          <p:nvPr/>
        </p:nvSpPr>
        <p:spPr>
          <a:xfrm>
            <a:off x="5138928" y="2843784"/>
            <a:ext cx="45720" cy="1205601"/>
          </a:xfrm>
          <a:prstGeom prst="rect">
            <a:avLst/>
          </a:prstGeom>
          <a:solidFill>
            <a:srgbClr val="2587C5"/>
          </a:solidFill>
          <a:ln/>
        </p:spPr>
      </p:sp>
      <p:sp>
        <p:nvSpPr>
          <p:cNvPr id="14" name="Text 12"/>
          <p:cNvSpPr txBox="1"/>
          <p:nvPr/>
        </p:nvSpPr>
        <p:spPr>
          <a:xfrm>
            <a:off x="5266944" y="2843784"/>
            <a:ext cx="2962656" cy="1205601"/>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Work mix</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Repair is priced above maintenance: repair-heavy shops run a higher ELR, maintenance-heavy lower. Neither is wrong.</a:t>
            </a:r>
            <a:endParaRPr lang="en-US" sz="1400" dirty="0"/>
          </a:p>
        </p:txBody>
      </p:sp>
      <p:sp>
        <p:nvSpPr>
          <p:cNvPr id="15" name="Shape 13"/>
          <p:cNvSpPr/>
          <p:nvPr/>
        </p:nvSpPr>
        <p:spPr>
          <a:xfrm>
            <a:off x="8394192" y="2843784"/>
            <a:ext cx="45720" cy="1205601"/>
          </a:xfrm>
          <a:prstGeom prst="rect">
            <a:avLst/>
          </a:prstGeom>
          <a:solidFill>
            <a:srgbClr val="2587C5"/>
          </a:solidFill>
          <a:ln/>
        </p:spPr>
      </p:sp>
      <p:sp>
        <p:nvSpPr>
          <p:cNvPr id="16" name="Text 14"/>
          <p:cNvSpPr txBox="1"/>
          <p:nvPr/>
        </p:nvSpPr>
        <p:spPr>
          <a:xfrm>
            <a:off x="8522208" y="2843784"/>
            <a:ext cx="2962656" cy="1205601"/>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Maintenance pricing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If most of your hours are maintenance, the maintenance rate moves ELR more than the repair rate</a:t>
            </a:r>
            <a:endParaRPr lang="en-US" sz="1400" dirty="0"/>
          </a:p>
        </p:txBody>
      </p:sp>
      <p:sp>
        <p:nvSpPr>
          <p:cNvPr id="17" name="Shape 15"/>
          <p:cNvSpPr/>
          <p:nvPr/>
        </p:nvSpPr>
        <p:spPr>
          <a:xfrm>
            <a:off x="5138928" y="4159113"/>
            <a:ext cx="45720" cy="942535"/>
          </a:xfrm>
          <a:prstGeom prst="rect">
            <a:avLst/>
          </a:prstGeom>
          <a:solidFill>
            <a:srgbClr val="2587C5"/>
          </a:solidFill>
          <a:ln/>
        </p:spPr>
      </p:sp>
      <p:sp>
        <p:nvSpPr>
          <p:cNvPr id="18" name="Text 16"/>
          <p:cNvSpPr txBox="1"/>
          <p:nvPr/>
        </p:nvSpPr>
        <p:spPr>
          <a:xfrm>
            <a:off x="5266944" y="4159113"/>
            <a:ext cx="2962656" cy="942535"/>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ELR by labor operation</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Know what every op code collects per hour, not just the store total</a:t>
            </a:r>
            <a:endParaRPr lang="en-US" sz="1400" dirty="0"/>
          </a:p>
        </p:txBody>
      </p:sp>
      <p:sp>
        <p:nvSpPr>
          <p:cNvPr id="19" name="Shape 17"/>
          <p:cNvSpPr/>
          <p:nvPr/>
        </p:nvSpPr>
        <p:spPr>
          <a:xfrm>
            <a:off x="8394192" y="4159113"/>
            <a:ext cx="45720" cy="942535"/>
          </a:xfrm>
          <a:prstGeom prst="rect">
            <a:avLst/>
          </a:prstGeom>
          <a:solidFill>
            <a:srgbClr val="2587C5"/>
          </a:solidFill>
          <a:ln/>
        </p:spPr>
      </p:sp>
      <p:sp>
        <p:nvSpPr>
          <p:cNvPr id="20" name="Text 18"/>
          <p:cNvSpPr txBox="1"/>
          <p:nvPr/>
        </p:nvSpPr>
        <p:spPr>
          <a:xfrm>
            <a:off x="8522208" y="4159113"/>
            <a:ext cx="2962656" cy="942535"/>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Door rate and repair pricing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Posted rate from a market labor study, and how repair jobs are priced against it</a:t>
            </a:r>
            <a:endParaRPr lang="en-US" sz="1400" dirty="0"/>
          </a:p>
        </p:txBody>
      </p:sp>
      <p:sp>
        <p:nvSpPr>
          <p:cNvPr id="21" name="Shape 19"/>
          <p:cNvSpPr/>
          <p:nvPr/>
        </p:nvSpPr>
        <p:spPr>
          <a:xfrm>
            <a:off x="5138928" y="5211377"/>
            <a:ext cx="45720" cy="942535"/>
          </a:xfrm>
          <a:prstGeom prst="rect">
            <a:avLst/>
          </a:prstGeom>
          <a:solidFill>
            <a:srgbClr val="2587C5"/>
          </a:solidFill>
          <a:ln/>
        </p:spPr>
      </p:sp>
      <p:sp>
        <p:nvSpPr>
          <p:cNvPr id="22" name="Text 20"/>
          <p:cNvSpPr txBox="1"/>
          <p:nvPr/>
        </p:nvSpPr>
        <p:spPr>
          <a:xfrm>
            <a:off x="5266944" y="5211377"/>
            <a:ext cx="2962656" cy="942535"/>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Discounts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 discount lowers ELR. Run them through ADC so we can see them.</a:t>
            </a:r>
            <a:endParaRPr lang="en-US" sz="1400" dirty="0"/>
          </a:p>
        </p:txBody>
      </p:sp>
      <p:sp>
        <p:nvSpPr>
          <p:cNvPr id="23" name="Shape 21"/>
          <p:cNvSpPr/>
          <p:nvPr/>
        </p:nvSpPr>
        <p:spPr>
          <a:xfrm>
            <a:off x="8394192" y="5211377"/>
            <a:ext cx="45720" cy="942535"/>
          </a:xfrm>
          <a:prstGeom prst="rect">
            <a:avLst/>
          </a:prstGeom>
          <a:solidFill>
            <a:srgbClr val="2587C5"/>
          </a:solidFill>
          <a:ln/>
        </p:spPr>
      </p:sp>
      <p:sp>
        <p:nvSpPr>
          <p:cNvPr id="24" name="Text 22"/>
          <p:cNvSpPr txBox="1"/>
          <p:nvPr/>
        </p:nvSpPr>
        <p:spPr>
          <a:xfrm>
            <a:off x="8522208" y="5211377"/>
            <a:ext cx="2962656" cy="942535"/>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Maintenance labor times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The hours we set and pay the tech on menu jobs; repair times come from labor guides</a:t>
            </a:r>
            <a:endParaRPr lang="en-US" sz="1400" dirty="0"/>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a:t>
            </a:r>
            <a:endParaRPr lang="en-US" sz="2800" dirty="0"/>
          </a:p>
        </p:txBody>
      </p:sp>
      <p:sp>
        <p:nvSpPr>
          <p:cNvPr id="5" name="Shape 3"/>
          <p:cNvSpPr/>
          <p:nvPr/>
        </p:nvSpPr>
        <p:spPr>
          <a:xfrm>
            <a:off x="457200" y="1207008"/>
            <a:ext cx="11274552" cy="1005840"/>
          </a:xfrm>
          <a:prstGeom prst="rect">
            <a:avLst/>
          </a:prstGeom>
          <a:solidFill>
            <a:srgbClr val="FFFFFF"/>
          </a:solidFill>
          <a:ln/>
        </p:spPr>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$158.86</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$162.42</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+$3.56</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+2.2%</a:t>
            </a:r>
            <a:endParaRPr lang="en-US" sz="3000" dirty="0"/>
          </a:p>
        </p:txBody>
      </p:sp>
      <p:sp>
        <p:nvSpPr>
          <p:cNvPr id="14" name="Shape 12"/>
          <p:cNvSpPr/>
          <p:nvPr/>
        </p:nvSpPr>
        <p:spPr>
          <a:xfrm>
            <a:off x="457200" y="2322576"/>
            <a:ext cx="11274552" cy="4032504"/>
          </a:xfrm>
          <a:prstGeom prst="rect">
            <a:avLst/>
          </a:prstGeom>
          <a:solidFill>
            <a:srgbClr val="FFFFFF"/>
          </a:solidFill>
          <a:ln/>
        </p:spPr>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ELR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sp>
      <p:graphicFrame>
        <p:nvGraphicFramePr>
          <p:cNvPr id="17" name="Chart 0" descr=""/>
          <p:cNvGraphicFramePr/>
          <p:nvPr/>
        </p:nvGraphicFramePr>
        <p:xfrm>
          <a:off x="621792" y="3218688"/>
          <a:ext cx="10945368" cy="3044952"/>
        </p:xfrm>
        <a:graphic>
          <a:graphicData uri="http://schemas.openxmlformats.org/drawingml/2006/chart">
            <c:chart xmlns:c="http://schemas.openxmlformats.org/drawingml/2006/chart" r:id="rId2"/>
          </a:graphicData>
        </a:graphic>
      </p:graphicFrame>
      <p:graphicFrame>
        <p:nvGraphicFramePr>
          <p:cNvPr id="18" name="Chart 1" descr=""/>
          <p:cNvGraphicFramePr/>
          <p:nvPr/>
        </p:nvGraphicFramePr>
        <p:xfrm>
          <a:off x="621792" y="3218688"/>
          <a:ext cx="10945368" cy="3044952"/>
        </p:xfrm>
        <a:graphic>
          <a:graphicData uri="http://schemas.openxmlformats.org/drawingml/2006/chart">
            <c:chart xmlns:c="http://schemas.openxmlformats.org/drawingml/2006/chart" r:id="rId3"/>
          </a:graphicData>
        </a:graphic>
      </p:graphicFrame>
      <p:graphicFrame>
        <p:nvGraphicFramePr>
          <p:cNvPr id="19" name="Chart 2" descr=""/>
          <p:cNvGraphicFramePr/>
          <p:nvPr/>
        </p:nvGraphicFramePr>
        <p:xfrm>
          <a:off x="621792" y="3218688"/>
          <a:ext cx="10945368" cy="3044952"/>
        </p:xfrm>
        <a:graphic>
          <a:graphicData uri="http://schemas.openxmlformats.org/drawingml/2006/chart">
            <c:chart xmlns:c="http://schemas.openxmlformats.org/drawingml/2006/chart" r:id="rId4"/>
          </a:graphicData>
        </a:graphic>
      </p:graphicFrame>
      <p:graphicFrame>
        <p:nvGraphicFramePr>
          <p:cNvPr id="20" name="Chart 3" descr=""/>
          <p:cNvGraphicFramePr/>
          <p:nvPr/>
        </p:nvGraphicFramePr>
        <p:xfrm>
          <a:off x="621792" y="3218688"/>
          <a:ext cx="10945368" cy="3044952"/>
        </p:xfrm>
        <a:graphic>
          <a:graphicData uri="http://schemas.openxmlformats.org/drawingml/2006/chart">
            <c:chart xmlns:c="http://schemas.openxmlformats.org/drawingml/2006/chart" r:id="rId5"/>
          </a:graphicData>
        </a:graphic>
      </p:graphicFrame>
      <p:graphicFrame>
        <p:nvGraphicFramePr>
          <p:cNvPr id="21" name="Chart 4" descr=""/>
          <p:cNvGraphicFramePr/>
          <p:nvPr/>
        </p:nvGraphicFramePr>
        <p:xfrm>
          <a:off x="621792" y="3218688"/>
          <a:ext cx="10945368" cy="3044952"/>
        </p:xfrm>
        <a:graphic>
          <a:graphicData uri="http://schemas.openxmlformats.org/drawingml/2006/chart">
            <c:chart xmlns:c="http://schemas.openxmlformats.org/drawingml/2006/chart" r:id="rId6"/>
          </a:graphicData>
        </a:graphic>
      </p:graphicFrame>
      <p:sp>
        <p:nvSpPr>
          <p:cNvPr id="22" name="Shape 15"/>
          <p:cNvSpPr/>
          <p:nvPr/>
        </p:nvSpPr>
        <p:spPr>
          <a:xfrm>
            <a:off x="4951476" y="3049524"/>
            <a:ext cx="310896" cy="45720"/>
          </a:xfrm>
          <a:prstGeom prst="rect">
            <a:avLst/>
          </a:prstGeom>
          <a:solidFill>
            <a:srgbClr val="9AA3AD"/>
          </a:solidFill>
          <a:ln/>
        </p:spPr>
      </p:sp>
      <p:sp>
        <p:nvSpPr>
          <p:cNvPr id="23" name="Shape 16"/>
          <p:cNvSpPr/>
          <p:nvPr/>
        </p:nvSpPr>
        <p:spPr>
          <a:xfrm>
            <a:off x="5052060" y="3017520"/>
            <a:ext cx="109728" cy="109728"/>
          </a:xfrm>
          <a:prstGeom prst="ellipse">
            <a:avLst/>
          </a:prstGeom>
          <a:solidFill>
            <a:srgbClr val="9AA3AD"/>
          </a:solidFill>
          <a:ln/>
        </p:spPr>
      </p:sp>
      <p:sp>
        <p:nvSpPr>
          <p:cNvPr id="24"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5" name="Shape 18"/>
          <p:cNvSpPr/>
          <p:nvPr/>
        </p:nvSpPr>
        <p:spPr>
          <a:xfrm>
            <a:off x="6185916" y="3049524"/>
            <a:ext cx="310896" cy="45720"/>
          </a:xfrm>
          <a:prstGeom prst="rect">
            <a:avLst/>
          </a:prstGeom>
          <a:solidFill>
            <a:srgbClr val="2587C5"/>
          </a:solidFill>
          <a:ln/>
        </p:spPr>
      </p:sp>
      <p:sp>
        <p:nvSpPr>
          <p:cNvPr id="26" name="Shape 19"/>
          <p:cNvSpPr/>
          <p:nvPr/>
        </p:nvSpPr>
        <p:spPr>
          <a:xfrm>
            <a:off x="6286500" y="3017520"/>
            <a:ext cx="109728" cy="109728"/>
          </a:xfrm>
          <a:prstGeom prst="ellipse">
            <a:avLst/>
          </a:prstGeom>
          <a:solidFill>
            <a:srgbClr val="2587C5"/>
          </a:solidFill>
          <a:ln/>
        </p:spPr>
      </p:sp>
      <p:sp>
        <p:nvSpPr>
          <p:cNvPr id="27"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2026-10-27T21:57:51Z</dcterms:created>
  <dcterms:modified xsi:type="dcterms:W3CDTF">2026-10-27T21:57:51Z</dcterms:modified>
</cp:coreProperties>
</file>