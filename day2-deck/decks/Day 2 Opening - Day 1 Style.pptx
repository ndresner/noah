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review with Tommy, not for the room. Every slide built but not placed in the deck: alternate versions of slides already in it, and slides not yet decided on. In deck order: Gross Trend options A / B / B+Q4, Store Records (six designs), Door Rate options A-B, CP vs Internal GP % options A-B, Photo completion % (optional measure), Headcount trend, Best Techs option C, Who's Moving Now alternate versions, Most Improved v1. Pick what moves into the deck, then delete this section before the meeting.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2194560" cy="66751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67512" y="2377440"/>
            <a:ext cx="10789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Operations</a:t>
            </a:r>
            <a:endParaRPr lang="en-US" sz="6200" dirty="0"/>
          </a:p>
        </p:txBody>
      </p:sp>
      <p:sp>
        <p:nvSpPr>
          <p:cNvPr id="4" name="Shape 1"/>
          <p:cNvSpPr/>
          <p:nvPr/>
        </p:nvSpPr>
        <p:spPr>
          <a:xfrm>
            <a:off x="713232" y="4224528"/>
            <a:ext cx="1371600" cy="50292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694944" y="4462272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 ·  General Managers &amp; Service Managers  ·  October 29, 2026</a:t>
            </a:r>
            <a:endParaRPr 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694944" y="495604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South Point, Las Vegas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GENERAL MANAGERS &amp; SERVICE MANAGERS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94944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3703320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ops, service and parts gross, and the store records.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57200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4944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71600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3703320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and net to gross.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57200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Shape 14"/>
          <p:cNvSpPr/>
          <p:nvPr/>
        </p:nvSpPr>
        <p:spPr>
          <a:xfrm>
            <a:off x="457200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4944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1371600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ROs, hours per RO, rate and margin.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57200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94944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</a:t>
            </a:r>
            <a:endParaRPr 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1371600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24" name="Text 22"/>
          <p:cNvSpPr txBox="1"/>
          <p:nvPr/>
        </p:nvSpPr>
        <p:spPr>
          <a:xfrm>
            <a:off x="3703320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type and internal, maintenance and repair mix.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144768" y="1207008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6144768" y="1207008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382512" y="1207008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</a:t>
            </a:r>
            <a:endParaRPr 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7059168" y="1207008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1700" dirty="0"/>
          </a:p>
        </p:txBody>
      </p:sp>
      <p:sp>
        <p:nvSpPr>
          <p:cNvPr id="29" name="Text 27"/>
          <p:cNvSpPr txBox="1"/>
          <p:nvPr/>
        </p:nvSpPr>
        <p:spPr>
          <a:xfrm>
            <a:off x="9390888" y="1207008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and video, then alignment, balance, brake fluid and fuel.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144768" y="2494026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Shape 29"/>
          <p:cNvSpPr/>
          <p:nvPr/>
        </p:nvSpPr>
        <p:spPr>
          <a:xfrm>
            <a:off x="6144768" y="2494026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382512" y="2494026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</a:t>
            </a:r>
            <a:endParaRPr lang="en-US" sz="2000" dirty="0"/>
          </a:p>
        </p:txBody>
      </p:sp>
      <p:sp>
        <p:nvSpPr>
          <p:cNvPr id="33" name="Text 31"/>
          <p:cNvSpPr txBox="1"/>
          <p:nvPr/>
        </p:nvSpPr>
        <p:spPr>
          <a:xfrm>
            <a:off x="7059168" y="2494026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9390888" y="2494026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increases, warranty rate and parts margin, audits and compliance.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6144768" y="3781044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6144768" y="3781044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382512" y="3781044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</a:t>
            </a:r>
            <a:endParaRPr lang="en-US" sz="2000" dirty="0"/>
          </a:p>
        </p:txBody>
      </p:sp>
      <p:sp>
        <p:nvSpPr>
          <p:cNvPr id="38" name="Text 36"/>
          <p:cNvSpPr txBox="1"/>
          <p:nvPr/>
        </p:nvSpPr>
        <p:spPr>
          <a:xfrm>
            <a:off x="7059168" y="3781044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39" name="Text 37"/>
          <p:cNvSpPr txBox="1"/>
          <p:nvPr/>
        </p:nvSpPr>
        <p:spPr>
          <a:xfrm>
            <a:off x="9390888" y="3781044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per employee, headcount and technician proficiency.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6144768" y="5068062"/>
            <a:ext cx="5586984" cy="11955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6144768" y="5068062"/>
            <a:ext cx="50292" cy="1195578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382512" y="5068062"/>
            <a:ext cx="64008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B9BD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</a:t>
            </a:r>
            <a:endParaRPr lang="en-US" sz="2000" dirty="0"/>
          </a:p>
        </p:txBody>
      </p:sp>
      <p:sp>
        <p:nvSpPr>
          <p:cNvPr id="43" name="Text 41"/>
          <p:cNvSpPr txBox="1"/>
          <p:nvPr/>
        </p:nvSpPr>
        <p:spPr>
          <a:xfrm>
            <a:off x="7059168" y="5068062"/>
            <a:ext cx="2286000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  <p:sp>
        <p:nvSpPr>
          <p:cNvPr id="44" name="Text 42"/>
          <p:cNvSpPr txBox="1"/>
          <p:nvPr/>
        </p:nvSpPr>
        <p:spPr>
          <a:xfrm>
            <a:off x="9390888" y="5068062"/>
            <a:ext cx="2112264" cy="11955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changed, where the money is, and commitments.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01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  ·   Service   ·   Parts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02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Absorption   ·   Service net to gross   ·   Parts net to gross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03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  ·   Hours per RO   ·   ELR   ·   $ per RO   ·   Margin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04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type   ·   Internal rate &amp; margin   ·   Work type   ·   Op code descriptions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05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 Benchmarks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90%   ·   Alignment 15%   ·   Balance 15%   ·   Brake fluid 10%   ·   Fuel 7.5%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06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Rate increases   ·   Warranty ELR   ·   Parts margin   ·   Warranty audits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07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per employee   ·   ROs per person   ·   Headcount   ·   Technician proficiency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45720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08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improved   ·   Where the money is   ·   Before you leave</a:t>
            </a:r>
            <a:endParaRPr lang="en-US" sz="2200" dirty="0"/>
          </a:p>
        </p:txBody>
      </p:sp>
      <p:sp>
        <p:nvSpPr>
          <p:cNvPr id="6" name="Shape 3"/>
          <p:cNvSpPr/>
          <p:nvPr/>
        </p:nvSpPr>
        <p:spPr>
          <a:xfrm>
            <a:off x="685800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2843784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2843784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Profitability</a:t>
            </a:r>
            <a:endParaRPr lang="en-US" sz="1700" dirty="0"/>
          </a:p>
        </p:txBody>
      </p:sp>
      <p:sp>
        <p:nvSpPr>
          <p:cNvPr id="10" name="Shape 7"/>
          <p:cNvSpPr/>
          <p:nvPr/>
        </p:nvSpPr>
        <p:spPr>
          <a:xfrm>
            <a:off x="5001768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01768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Engine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7159752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159752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317736" y="4983480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9317736" y="5166360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85800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85800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2843784" y="5696712"/>
            <a:ext cx="1956816" cy="45720"/>
          </a:xfrm>
          <a:prstGeom prst="rect">
            <a:avLst/>
          </a:prstGeom>
          <a:solidFill>
            <a:srgbClr val="5B9BD5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2843784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Productivity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001768" y="5696712"/>
            <a:ext cx="1956816" cy="9144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001768" y="58795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66928"/>
            <a:ext cx="1828800" cy="555955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713232" y="212140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260" kern="0" dirty="0">
                <a:solidFill>
                  <a:srgbClr val="2587C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PRESENTED · FOR REVIEW</a:t>
            </a:r>
            <a:endParaRPr lang="en-US" sz="2000" dirty="0"/>
          </a:p>
        </p:txBody>
      </p:sp>
      <p:sp>
        <p:nvSpPr>
          <p:cNvPr id="4" name="Text 1"/>
          <p:cNvSpPr txBox="1"/>
          <p:nvPr/>
        </p:nvSpPr>
        <p:spPr>
          <a:xfrm>
            <a:off x="667512" y="2487168"/>
            <a:ext cx="10789920" cy="11887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r>
              <a:rPr lang="en-US" sz="7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Decisions</a:t>
            </a:r>
            <a:endParaRPr lang="en-US" sz="7600" dirty="0"/>
          </a:p>
        </p:txBody>
      </p:sp>
      <p:sp>
        <p:nvSpPr>
          <p:cNvPr id="5" name="Text 2"/>
          <p:cNvSpPr txBox="1"/>
          <p:nvPr/>
        </p:nvSpPr>
        <p:spPr>
          <a:xfrm>
            <a:off x="694944" y="3767328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Trends &amp; records   ·   Door rate   ·   CP vs internal   ·   Photo %   ·   Best techs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2026-10-22T18:43:52Z</dcterms:created>
  <dcterms:modified xsi:type="dcterms:W3CDTF">2026-10-22T18:43:52Z</dcterms:modified>
</cp:coreProperties>
</file>