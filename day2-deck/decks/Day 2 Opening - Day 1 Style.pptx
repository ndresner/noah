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review with Tommy, not for the room. Every slide built but not placed in the deck: alternate versions of slides already in it, and slides not yet decided on. In deck order: Store Records (five designs), Door Rate option A, CP vs Internal GP % option A, Photo completion % (optional measure), Productivity slides taken out of the flow (gross per employee gap, 5% more per employee, ROs per advisor, ROs per manager; Oct 23), Who's Moving Now alternate versions and the line-chart versions taken out of the flow (Oct 23), Most Improved v1. Pick what moves into the deck, then delete this section before the meeting.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566928"/>
            <a:ext cx="2194560" cy="66751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67512" y="2377440"/>
            <a:ext cx="107899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Fixed Operations</a:t>
            </a:r>
            <a:endParaRPr lang="en-US" sz="6200" dirty="0"/>
          </a:p>
        </p:txBody>
      </p:sp>
      <p:sp>
        <p:nvSpPr>
          <p:cNvPr id="4" name="Shape 1"/>
          <p:cNvSpPr/>
          <p:nvPr/>
        </p:nvSpPr>
        <p:spPr>
          <a:xfrm>
            <a:off x="713232" y="4224528"/>
            <a:ext cx="1371600" cy="50292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694944" y="4462272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2587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Day 2  ·  General Managers &amp; Service Managers  ·  October 29, 2026</a:t>
            </a:r>
            <a:endParaRPr lang="en-US" sz="2600" dirty="0"/>
          </a:p>
        </p:txBody>
      </p:sp>
      <p:sp>
        <p:nvSpPr>
          <p:cNvPr id="6" name="Text 3"/>
          <p:cNvSpPr txBox="1"/>
          <p:nvPr/>
        </p:nvSpPr>
        <p:spPr>
          <a:xfrm>
            <a:off x="694944" y="4956048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South Point, Las Vegas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02336"/>
            <a:ext cx="50292" cy="192024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21792" y="3383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1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DAY 2 · GENERAL MANAGERS &amp; SERVICE MANAGERS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0080"/>
            <a:ext cx="11338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Agenda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5586984" cy="119557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207008"/>
            <a:ext cx="50292" cy="1195578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94944" y="1207008"/>
            <a:ext cx="640080" cy="11955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371600" y="1207008"/>
            <a:ext cx="2286000" cy="11955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Gross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3703320" y="1207008"/>
            <a:ext cx="2112264" cy="11955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Fixed ops, service and parts gross performance.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2494026"/>
            <a:ext cx="5586984" cy="119557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Shape 9"/>
          <p:cNvSpPr/>
          <p:nvPr/>
        </p:nvSpPr>
        <p:spPr>
          <a:xfrm>
            <a:off x="457200" y="2494026"/>
            <a:ext cx="50292" cy="1195578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94944" y="2494026"/>
            <a:ext cx="640080" cy="11955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1371600" y="2494026"/>
            <a:ext cx="2286000" cy="11955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Profitability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3703320" y="2494026"/>
            <a:ext cx="2112264" cy="11955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we keep, and how much of the store we cover.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3781044"/>
            <a:ext cx="5586984" cy="119557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Shape 14"/>
          <p:cNvSpPr/>
          <p:nvPr/>
        </p:nvSpPr>
        <p:spPr>
          <a:xfrm>
            <a:off x="457200" y="3781044"/>
            <a:ext cx="50292" cy="1195578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94944" y="3781044"/>
            <a:ext cx="640080" cy="11955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1371600" y="3781044"/>
            <a:ext cx="2286000" cy="11955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Customer Pay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3703320" y="3781044"/>
            <a:ext cx="2112264" cy="11955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Car count, sales per visit, pricing and margin.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57200" y="5068062"/>
            <a:ext cx="5586984" cy="119557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Shape 19"/>
          <p:cNvSpPr/>
          <p:nvPr/>
        </p:nvSpPr>
        <p:spPr>
          <a:xfrm>
            <a:off x="457200" y="5068062"/>
            <a:ext cx="50292" cy="1195578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94944" y="5068062"/>
            <a:ext cx="640080" cy="11955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2000" dirty="0"/>
          </a:p>
        </p:txBody>
      </p:sp>
      <p:sp>
        <p:nvSpPr>
          <p:cNvPr id="23" name="Text 21"/>
          <p:cNvSpPr txBox="1"/>
          <p:nvPr/>
        </p:nvSpPr>
        <p:spPr>
          <a:xfrm>
            <a:off x="1371600" y="5068062"/>
            <a:ext cx="2286000" cy="11955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Opcode Benchmarks</a:t>
            </a:r>
            <a:endParaRPr lang="en-US" sz="1700" dirty="0"/>
          </a:p>
        </p:txBody>
      </p:sp>
      <p:sp>
        <p:nvSpPr>
          <p:cNvPr id="24" name="Text 22"/>
          <p:cNvSpPr txBox="1"/>
          <p:nvPr/>
        </p:nvSpPr>
        <p:spPr>
          <a:xfrm>
            <a:off x="3703320" y="5068062"/>
            <a:ext cx="2112264" cy="11955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Inspections and key services against benchmark.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144768" y="1207008"/>
            <a:ext cx="5586984" cy="119557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6" name="Shape 24"/>
          <p:cNvSpPr/>
          <p:nvPr/>
        </p:nvSpPr>
        <p:spPr>
          <a:xfrm>
            <a:off x="6144768" y="1207008"/>
            <a:ext cx="50292" cy="1195578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382512" y="1207008"/>
            <a:ext cx="640080" cy="11955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</a:t>
            </a:r>
            <a:endParaRPr lang="en-US" sz="2000" dirty="0"/>
          </a:p>
        </p:txBody>
      </p:sp>
      <p:sp>
        <p:nvSpPr>
          <p:cNvPr id="28" name="Text 26"/>
          <p:cNvSpPr txBox="1"/>
          <p:nvPr/>
        </p:nvSpPr>
        <p:spPr>
          <a:xfrm>
            <a:off x="7059168" y="1207008"/>
            <a:ext cx="2286000" cy="11955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Internal</a:t>
            </a:r>
            <a:endParaRPr lang="en-US" sz="1700" dirty="0"/>
          </a:p>
        </p:txBody>
      </p:sp>
      <p:sp>
        <p:nvSpPr>
          <p:cNvPr id="29" name="Text 27"/>
          <p:cNvSpPr txBox="1"/>
          <p:nvPr/>
        </p:nvSpPr>
        <p:spPr>
          <a:xfrm>
            <a:off x="9390888" y="1207008"/>
            <a:ext cx="2112264" cy="11955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Internal labor rate and margins.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6144768" y="2494026"/>
            <a:ext cx="5586984" cy="119557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1" name="Shape 29"/>
          <p:cNvSpPr/>
          <p:nvPr/>
        </p:nvSpPr>
        <p:spPr>
          <a:xfrm>
            <a:off x="6144768" y="2494026"/>
            <a:ext cx="50292" cy="1195578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6382512" y="2494026"/>
            <a:ext cx="640080" cy="11955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06</a:t>
            </a:r>
            <a:endParaRPr lang="en-US" sz="2000" dirty="0"/>
          </a:p>
        </p:txBody>
      </p:sp>
      <p:sp>
        <p:nvSpPr>
          <p:cNvPr id="33" name="Text 31"/>
          <p:cNvSpPr txBox="1"/>
          <p:nvPr/>
        </p:nvSpPr>
        <p:spPr>
          <a:xfrm>
            <a:off x="7059168" y="2494026"/>
            <a:ext cx="2286000" cy="11955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Productivity</a:t>
            </a:r>
            <a:endParaRPr lang="en-US" sz="1700" dirty="0"/>
          </a:p>
        </p:txBody>
      </p:sp>
      <p:sp>
        <p:nvSpPr>
          <p:cNvPr id="34" name="Text 32"/>
          <p:cNvSpPr txBox="1"/>
          <p:nvPr/>
        </p:nvSpPr>
        <p:spPr>
          <a:xfrm>
            <a:off x="9390888" y="2494026"/>
            <a:ext cx="2112264" cy="11955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Staffing, output and technician proficiency.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6144768" y="3781044"/>
            <a:ext cx="5586984" cy="119557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6" name="Shape 34"/>
          <p:cNvSpPr/>
          <p:nvPr/>
        </p:nvSpPr>
        <p:spPr>
          <a:xfrm>
            <a:off x="6144768" y="3781044"/>
            <a:ext cx="50292" cy="1195578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6382512" y="3781044"/>
            <a:ext cx="640080" cy="11955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07</a:t>
            </a:r>
            <a:endParaRPr lang="en-US" sz="2000" dirty="0"/>
          </a:p>
        </p:txBody>
      </p:sp>
      <p:sp>
        <p:nvSpPr>
          <p:cNvPr id="38" name="Text 36"/>
          <p:cNvSpPr txBox="1"/>
          <p:nvPr/>
        </p:nvSpPr>
        <p:spPr>
          <a:xfrm>
            <a:off x="7059168" y="3781044"/>
            <a:ext cx="2286000" cy="11955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Warranty</a:t>
            </a:r>
            <a:endParaRPr lang="en-US" sz="1700" dirty="0"/>
          </a:p>
        </p:txBody>
      </p:sp>
      <p:sp>
        <p:nvSpPr>
          <p:cNvPr id="39" name="Text 37"/>
          <p:cNvSpPr txBox="1"/>
          <p:nvPr/>
        </p:nvSpPr>
        <p:spPr>
          <a:xfrm>
            <a:off x="9390888" y="3781044"/>
            <a:ext cx="2112264" cy="11955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Warranty rates, margins and compliance.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6144768" y="5068062"/>
            <a:ext cx="5586984" cy="119557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1" name="Shape 39"/>
          <p:cNvSpPr/>
          <p:nvPr/>
        </p:nvSpPr>
        <p:spPr>
          <a:xfrm>
            <a:off x="6144768" y="5068062"/>
            <a:ext cx="50292" cy="1195578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6382512" y="5068062"/>
            <a:ext cx="640080" cy="11955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08</a:t>
            </a:r>
            <a:endParaRPr lang="en-US" sz="2000" dirty="0"/>
          </a:p>
        </p:txBody>
      </p:sp>
      <p:sp>
        <p:nvSpPr>
          <p:cNvPr id="43" name="Text 41"/>
          <p:cNvSpPr txBox="1"/>
          <p:nvPr/>
        </p:nvSpPr>
        <p:spPr>
          <a:xfrm>
            <a:off x="7059168" y="5068062"/>
            <a:ext cx="2286000" cy="11955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Close</a:t>
            </a:r>
            <a:endParaRPr lang="en-US" sz="1700" dirty="0"/>
          </a:p>
        </p:txBody>
      </p:sp>
      <p:sp>
        <p:nvSpPr>
          <p:cNvPr id="44" name="Text 42"/>
          <p:cNvSpPr txBox="1"/>
          <p:nvPr/>
        </p:nvSpPr>
        <p:spPr>
          <a:xfrm>
            <a:off x="9390888" y="5068062"/>
            <a:ext cx="2112264" cy="11955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changed, where the money is, and what we commit to.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566928"/>
            <a:ext cx="1828800" cy="555955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13232" y="2121408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260" kern="0" dirty="0">
                <a:solidFill>
                  <a:srgbClr val="2587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SECTION 01</a:t>
            </a:r>
            <a:endParaRPr lang="en-US" sz="2000" dirty="0"/>
          </a:p>
        </p:txBody>
      </p:sp>
      <p:sp>
        <p:nvSpPr>
          <p:cNvPr id="4" name="Text 1"/>
          <p:cNvSpPr txBox="1"/>
          <p:nvPr/>
        </p:nvSpPr>
        <p:spPr>
          <a:xfrm>
            <a:off x="667512" y="2487168"/>
            <a:ext cx="10789920" cy="11887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76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Gross</a:t>
            </a:r>
            <a:endParaRPr lang="en-US" sz="7600" dirty="0"/>
          </a:p>
        </p:txBody>
      </p:sp>
      <p:sp>
        <p:nvSpPr>
          <p:cNvPr id="5" name="Text 2"/>
          <p:cNvSpPr txBox="1"/>
          <p:nvPr/>
        </p:nvSpPr>
        <p:spPr>
          <a:xfrm>
            <a:off x="694944" y="3767328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Fixed ops   ·   Service   ·   Parts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685800" y="4983480"/>
            <a:ext cx="1956816" cy="91440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685800" y="5166360"/>
            <a:ext cx="1956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Gross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2843784" y="4983480"/>
            <a:ext cx="1956816" cy="45720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2843784" y="5166360"/>
            <a:ext cx="1956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Profitability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5001768" y="4983480"/>
            <a:ext cx="1956816" cy="45720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5001768" y="5166360"/>
            <a:ext cx="1956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Customer Pay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7159752" y="4983480"/>
            <a:ext cx="1956816" cy="45720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7159752" y="5166360"/>
            <a:ext cx="1956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Opcodes</a:t>
            </a:r>
            <a:endParaRPr lang="en-US" sz="1700" dirty="0"/>
          </a:p>
        </p:txBody>
      </p:sp>
      <p:sp>
        <p:nvSpPr>
          <p:cNvPr id="14" name="Shape 11"/>
          <p:cNvSpPr/>
          <p:nvPr/>
        </p:nvSpPr>
        <p:spPr>
          <a:xfrm>
            <a:off x="9317736" y="4983480"/>
            <a:ext cx="1956816" cy="45720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9317736" y="5166360"/>
            <a:ext cx="1956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Internal</a:t>
            </a:r>
            <a:endParaRPr lang="en-US" sz="1700" dirty="0"/>
          </a:p>
        </p:txBody>
      </p:sp>
      <p:sp>
        <p:nvSpPr>
          <p:cNvPr id="16" name="Shape 13"/>
          <p:cNvSpPr/>
          <p:nvPr/>
        </p:nvSpPr>
        <p:spPr>
          <a:xfrm>
            <a:off x="685800" y="5696712"/>
            <a:ext cx="1956816" cy="45720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685800" y="5879592"/>
            <a:ext cx="1956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Productivity</a:t>
            </a:r>
            <a:endParaRPr lang="en-US" sz="1700" dirty="0"/>
          </a:p>
        </p:txBody>
      </p:sp>
      <p:sp>
        <p:nvSpPr>
          <p:cNvPr id="18" name="Shape 15"/>
          <p:cNvSpPr/>
          <p:nvPr/>
        </p:nvSpPr>
        <p:spPr>
          <a:xfrm>
            <a:off x="2843784" y="5696712"/>
            <a:ext cx="1956816" cy="45720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2843784" y="5879592"/>
            <a:ext cx="1956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Warranty</a:t>
            </a:r>
            <a:endParaRPr lang="en-US" sz="1700" dirty="0"/>
          </a:p>
        </p:txBody>
      </p:sp>
      <p:sp>
        <p:nvSpPr>
          <p:cNvPr id="20" name="Shape 17"/>
          <p:cNvSpPr/>
          <p:nvPr/>
        </p:nvSpPr>
        <p:spPr>
          <a:xfrm>
            <a:off x="5001768" y="5696712"/>
            <a:ext cx="1956816" cy="45720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5001768" y="5879592"/>
            <a:ext cx="1956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Close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566928"/>
            <a:ext cx="1828800" cy="555955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13232" y="2121408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260" kern="0" dirty="0">
                <a:solidFill>
                  <a:srgbClr val="2587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SECTION 02</a:t>
            </a:r>
            <a:endParaRPr lang="en-US" sz="2000" dirty="0"/>
          </a:p>
        </p:txBody>
      </p:sp>
      <p:sp>
        <p:nvSpPr>
          <p:cNvPr id="4" name="Text 1"/>
          <p:cNvSpPr txBox="1"/>
          <p:nvPr/>
        </p:nvSpPr>
        <p:spPr>
          <a:xfrm>
            <a:off x="667512" y="2487168"/>
            <a:ext cx="10789920" cy="11887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76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Profitability</a:t>
            </a:r>
            <a:endParaRPr lang="en-US" sz="7600" dirty="0"/>
          </a:p>
        </p:txBody>
      </p:sp>
      <p:sp>
        <p:nvSpPr>
          <p:cNvPr id="5" name="Text 2"/>
          <p:cNvSpPr txBox="1"/>
          <p:nvPr/>
        </p:nvSpPr>
        <p:spPr>
          <a:xfrm>
            <a:off x="694944" y="3767328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Absorption   ·   Service net to gross   ·   Parts net to gross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685800" y="4983480"/>
            <a:ext cx="1956816" cy="45720"/>
          </a:xfrm>
          <a:prstGeom prst="rect">
            <a:avLst/>
          </a:prstGeom>
          <a:solidFill>
            <a:srgbClr val="5B9BD5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685800" y="5166360"/>
            <a:ext cx="1956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Gross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2843784" y="4983480"/>
            <a:ext cx="1956816" cy="91440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2843784" y="5166360"/>
            <a:ext cx="1956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Profitability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5001768" y="4983480"/>
            <a:ext cx="1956816" cy="45720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5001768" y="5166360"/>
            <a:ext cx="1956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Customer Pay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7159752" y="4983480"/>
            <a:ext cx="1956816" cy="45720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7159752" y="5166360"/>
            <a:ext cx="1956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Opcodes</a:t>
            </a:r>
            <a:endParaRPr lang="en-US" sz="1700" dirty="0"/>
          </a:p>
        </p:txBody>
      </p:sp>
      <p:sp>
        <p:nvSpPr>
          <p:cNvPr id="14" name="Shape 11"/>
          <p:cNvSpPr/>
          <p:nvPr/>
        </p:nvSpPr>
        <p:spPr>
          <a:xfrm>
            <a:off x="9317736" y="4983480"/>
            <a:ext cx="1956816" cy="45720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9317736" y="5166360"/>
            <a:ext cx="1956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Internal</a:t>
            </a:r>
            <a:endParaRPr lang="en-US" sz="1700" dirty="0"/>
          </a:p>
        </p:txBody>
      </p:sp>
      <p:sp>
        <p:nvSpPr>
          <p:cNvPr id="16" name="Shape 13"/>
          <p:cNvSpPr/>
          <p:nvPr/>
        </p:nvSpPr>
        <p:spPr>
          <a:xfrm>
            <a:off x="685800" y="5696712"/>
            <a:ext cx="1956816" cy="45720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685800" y="5879592"/>
            <a:ext cx="1956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Productivity</a:t>
            </a:r>
            <a:endParaRPr lang="en-US" sz="1700" dirty="0"/>
          </a:p>
        </p:txBody>
      </p:sp>
      <p:sp>
        <p:nvSpPr>
          <p:cNvPr id="18" name="Shape 15"/>
          <p:cNvSpPr/>
          <p:nvPr/>
        </p:nvSpPr>
        <p:spPr>
          <a:xfrm>
            <a:off x="2843784" y="5696712"/>
            <a:ext cx="1956816" cy="45720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2843784" y="5879592"/>
            <a:ext cx="1956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Warranty</a:t>
            </a:r>
            <a:endParaRPr lang="en-US" sz="1700" dirty="0"/>
          </a:p>
        </p:txBody>
      </p:sp>
      <p:sp>
        <p:nvSpPr>
          <p:cNvPr id="20" name="Shape 17"/>
          <p:cNvSpPr/>
          <p:nvPr/>
        </p:nvSpPr>
        <p:spPr>
          <a:xfrm>
            <a:off x="5001768" y="5696712"/>
            <a:ext cx="1956816" cy="45720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5001768" y="5879592"/>
            <a:ext cx="1956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Close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566928"/>
            <a:ext cx="1828800" cy="555955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13232" y="2121408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260" kern="0" dirty="0">
                <a:solidFill>
                  <a:srgbClr val="2587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SECTION 03</a:t>
            </a:r>
            <a:endParaRPr lang="en-US" sz="2000" dirty="0"/>
          </a:p>
        </p:txBody>
      </p:sp>
      <p:sp>
        <p:nvSpPr>
          <p:cNvPr id="4" name="Text 1"/>
          <p:cNvSpPr txBox="1"/>
          <p:nvPr/>
        </p:nvSpPr>
        <p:spPr>
          <a:xfrm>
            <a:off x="667512" y="2487168"/>
            <a:ext cx="10789920" cy="11887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76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Customer Pay</a:t>
            </a:r>
            <a:endParaRPr lang="en-US" sz="7600" dirty="0"/>
          </a:p>
        </p:txBody>
      </p:sp>
      <p:sp>
        <p:nvSpPr>
          <p:cNvPr id="5" name="Text 2"/>
          <p:cNvSpPr txBox="1"/>
          <p:nvPr/>
        </p:nvSpPr>
        <p:spPr>
          <a:xfrm>
            <a:off x="694944" y="3767328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ROs   ·   Hours per RO   ·   Pricing &amp; mix   ·   ELR   ·   $ per RO   ·   Margin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685800" y="4983480"/>
            <a:ext cx="1956816" cy="45720"/>
          </a:xfrm>
          <a:prstGeom prst="rect">
            <a:avLst/>
          </a:prstGeom>
          <a:solidFill>
            <a:srgbClr val="5B9BD5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685800" y="5166360"/>
            <a:ext cx="1956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Gross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2843784" y="4983480"/>
            <a:ext cx="1956816" cy="45720"/>
          </a:xfrm>
          <a:prstGeom prst="rect">
            <a:avLst/>
          </a:prstGeom>
          <a:solidFill>
            <a:srgbClr val="5B9BD5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2843784" y="5166360"/>
            <a:ext cx="1956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Profitability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5001768" y="4983480"/>
            <a:ext cx="1956816" cy="91440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5001768" y="5166360"/>
            <a:ext cx="1956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Customer Pay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7159752" y="4983480"/>
            <a:ext cx="1956816" cy="45720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7159752" y="5166360"/>
            <a:ext cx="1956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Opcodes</a:t>
            </a:r>
            <a:endParaRPr lang="en-US" sz="1700" dirty="0"/>
          </a:p>
        </p:txBody>
      </p:sp>
      <p:sp>
        <p:nvSpPr>
          <p:cNvPr id="14" name="Shape 11"/>
          <p:cNvSpPr/>
          <p:nvPr/>
        </p:nvSpPr>
        <p:spPr>
          <a:xfrm>
            <a:off x="9317736" y="4983480"/>
            <a:ext cx="1956816" cy="45720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9317736" y="5166360"/>
            <a:ext cx="1956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Internal</a:t>
            </a:r>
            <a:endParaRPr lang="en-US" sz="1700" dirty="0"/>
          </a:p>
        </p:txBody>
      </p:sp>
      <p:sp>
        <p:nvSpPr>
          <p:cNvPr id="16" name="Shape 13"/>
          <p:cNvSpPr/>
          <p:nvPr/>
        </p:nvSpPr>
        <p:spPr>
          <a:xfrm>
            <a:off x="685800" y="5696712"/>
            <a:ext cx="1956816" cy="45720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685800" y="5879592"/>
            <a:ext cx="1956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Productivity</a:t>
            </a:r>
            <a:endParaRPr lang="en-US" sz="1700" dirty="0"/>
          </a:p>
        </p:txBody>
      </p:sp>
      <p:sp>
        <p:nvSpPr>
          <p:cNvPr id="18" name="Shape 15"/>
          <p:cNvSpPr/>
          <p:nvPr/>
        </p:nvSpPr>
        <p:spPr>
          <a:xfrm>
            <a:off x="2843784" y="5696712"/>
            <a:ext cx="1956816" cy="45720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2843784" y="5879592"/>
            <a:ext cx="1956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Warranty</a:t>
            </a:r>
            <a:endParaRPr lang="en-US" sz="1700" dirty="0"/>
          </a:p>
        </p:txBody>
      </p:sp>
      <p:sp>
        <p:nvSpPr>
          <p:cNvPr id="20" name="Shape 17"/>
          <p:cNvSpPr/>
          <p:nvPr/>
        </p:nvSpPr>
        <p:spPr>
          <a:xfrm>
            <a:off x="5001768" y="5696712"/>
            <a:ext cx="1956816" cy="45720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5001768" y="5879592"/>
            <a:ext cx="1956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Close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566928"/>
            <a:ext cx="1828800" cy="555955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13232" y="2121408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260" kern="0" dirty="0">
                <a:solidFill>
                  <a:srgbClr val="2587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SECTION 04</a:t>
            </a:r>
            <a:endParaRPr lang="en-US" sz="2000" dirty="0"/>
          </a:p>
        </p:txBody>
      </p:sp>
      <p:sp>
        <p:nvSpPr>
          <p:cNvPr id="4" name="Text 1"/>
          <p:cNvSpPr txBox="1"/>
          <p:nvPr/>
        </p:nvSpPr>
        <p:spPr>
          <a:xfrm>
            <a:off x="667512" y="2487168"/>
            <a:ext cx="10789920" cy="11887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76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Opcode Benchmarks</a:t>
            </a:r>
            <a:endParaRPr lang="en-US" sz="7600" dirty="0"/>
          </a:p>
        </p:txBody>
      </p:sp>
      <p:sp>
        <p:nvSpPr>
          <p:cNvPr id="5" name="Text 2"/>
          <p:cNvSpPr txBox="1"/>
          <p:nvPr/>
        </p:nvSpPr>
        <p:spPr>
          <a:xfrm>
            <a:off x="694944" y="3767328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MPI 90%   ·   Alignment 15%   ·   Balance 15%   ·   Brake fluid 10%   ·   Fuel 7.5%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685800" y="4983480"/>
            <a:ext cx="1956816" cy="45720"/>
          </a:xfrm>
          <a:prstGeom prst="rect">
            <a:avLst/>
          </a:prstGeom>
          <a:solidFill>
            <a:srgbClr val="5B9BD5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685800" y="5166360"/>
            <a:ext cx="1956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Gross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2843784" y="4983480"/>
            <a:ext cx="1956816" cy="45720"/>
          </a:xfrm>
          <a:prstGeom prst="rect">
            <a:avLst/>
          </a:prstGeom>
          <a:solidFill>
            <a:srgbClr val="5B9BD5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2843784" y="5166360"/>
            <a:ext cx="1956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Profitability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5001768" y="4983480"/>
            <a:ext cx="1956816" cy="45720"/>
          </a:xfrm>
          <a:prstGeom prst="rect">
            <a:avLst/>
          </a:prstGeom>
          <a:solidFill>
            <a:srgbClr val="5B9BD5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5001768" y="5166360"/>
            <a:ext cx="1956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Customer Pay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7159752" y="4983480"/>
            <a:ext cx="1956816" cy="91440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7159752" y="5166360"/>
            <a:ext cx="1956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Opcodes</a:t>
            </a:r>
            <a:endParaRPr lang="en-US" sz="1700" dirty="0"/>
          </a:p>
        </p:txBody>
      </p:sp>
      <p:sp>
        <p:nvSpPr>
          <p:cNvPr id="14" name="Shape 11"/>
          <p:cNvSpPr/>
          <p:nvPr/>
        </p:nvSpPr>
        <p:spPr>
          <a:xfrm>
            <a:off x="9317736" y="4983480"/>
            <a:ext cx="1956816" cy="45720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9317736" y="5166360"/>
            <a:ext cx="1956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Internal</a:t>
            </a:r>
            <a:endParaRPr lang="en-US" sz="1700" dirty="0"/>
          </a:p>
        </p:txBody>
      </p:sp>
      <p:sp>
        <p:nvSpPr>
          <p:cNvPr id="16" name="Shape 13"/>
          <p:cNvSpPr/>
          <p:nvPr/>
        </p:nvSpPr>
        <p:spPr>
          <a:xfrm>
            <a:off x="685800" y="5696712"/>
            <a:ext cx="1956816" cy="45720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685800" y="5879592"/>
            <a:ext cx="1956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Productivity</a:t>
            </a:r>
            <a:endParaRPr lang="en-US" sz="1700" dirty="0"/>
          </a:p>
        </p:txBody>
      </p:sp>
      <p:sp>
        <p:nvSpPr>
          <p:cNvPr id="18" name="Shape 15"/>
          <p:cNvSpPr/>
          <p:nvPr/>
        </p:nvSpPr>
        <p:spPr>
          <a:xfrm>
            <a:off x="2843784" y="5696712"/>
            <a:ext cx="1956816" cy="45720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2843784" y="5879592"/>
            <a:ext cx="1956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Warranty</a:t>
            </a:r>
            <a:endParaRPr lang="en-US" sz="1700" dirty="0"/>
          </a:p>
        </p:txBody>
      </p:sp>
      <p:sp>
        <p:nvSpPr>
          <p:cNvPr id="20" name="Shape 17"/>
          <p:cNvSpPr/>
          <p:nvPr/>
        </p:nvSpPr>
        <p:spPr>
          <a:xfrm>
            <a:off x="5001768" y="5696712"/>
            <a:ext cx="1956816" cy="45720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5001768" y="5879592"/>
            <a:ext cx="1956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Close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566928"/>
            <a:ext cx="1828800" cy="555955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13232" y="2121408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260" kern="0" dirty="0">
                <a:solidFill>
                  <a:srgbClr val="2587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SECTION 05</a:t>
            </a:r>
            <a:endParaRPr lang="en-US" sz="2000" dirty="0"/>
          </a:p>
        </p:txBody>
      </p:sp>
      <p:sp>
        <p:nvSpPr>
          <p:cNvPr id="4" name="Text 1"/>
          <p:cNvSpPr txBox="1"/>
          <p:nvPr/>
        </p:nvSpPr>
        <p:spPr>
          <a:xfrm>
            <a:off x="667512" y="2487168"/>
            <a:ext cx="10789920" cy="11887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76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Internal</a:t>
            </a:r>
            <a:endParaRPr lang="en-US" sz="7600" dirty="0"/>
          </a:p>
        </p:txBody>
      </p:sp>
      <p:sp>
        <p:nvSpPr>
          <p:cNvPr id="5" name="Text 2"/>
          <p:cNvSpPr txBox="1"/>
          <p:nvPr/>
        </p:nvSpPr>
        <p:spPr>
          <a:xfrm>
            <a:off x="694944" y="3767328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Internal ELR   ·   Internal labor GP %   ·   Internal parts GP %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685800" y="4983480"/>
            <a:ext cx="1956816" cy="45720"/>
          </a:xfrm>
          <a:prstGeom prst="rect">
            <a:avLst/>
          </a:prstGeom>
          <a:solidFill>
            <a:srgbClr val="5B9BD5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685800" y="5166360"/>
            <a:ext cx="1956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Gross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2843784" y="4983480"/>
            <a:ext cx="1956816" cy="45720"/>
          </a:xfrm>
          <a:prstGeom prst="rect">
            <a:avLst/>
          </a:prstGeom>
          <a:solidFill>
            <a:srgbClr val="5B9BD5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2843784" y="5166360"/>
            <a:ext cx="1956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Profitability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5001768" y="4983480"/>
            <a:ext cx="1956816" cy="45720"/>
          </a:xfrm>
          <a:prstGeom prst="rect">
            <a:avLst/>
          </a:prstGeom>
          <a:solidFill>
            <a:srgbClr val="5B9BD5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5001768" y="5166360"/>
            <a:ext cx="1956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Customer Pay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7159752" y="4983480"/>
            <a:ext cx="1956816" cy="45720"/>
          </a:xfrm>
          <a:prstGeom prst="rect">
            <a:avLst/>
          </a:prstGeom>
          <a:solidFill>
            <a:srgbClr val="5B9BD5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7159752" y="5166360"/>
            <a:ext cx="1956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Opcodes</a:t>
            </a:r>
            <a:endParaRPr lang="en-US" sz="1700" dirty="0"/>
          </a:p>
        </p:txBody>
      </p:sp>
      <p:sp>
        <p:nvSpPr>
          <p:cNvPr id="14" name="Shape 11"/>
          <p:cNvSpPr/>
          <p:nvPr/>
        </p:nvSpPr>
        <p:spPr>
          <a:xfrm>
            <a:off x="9317736" y="4983480"/>
            <a:ext cx="1956816" cy="91440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9317736" y="5166360"/>
            <a:ext cx="1956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Internal</a:t>
            </a:r>
            <a:endParaRPr lang="en-US" sz="1700" dirty="0"/>
          </a:p>
        </p:txBody>
      </p:sp>
      <p:sp>
        <p:nvSpPr>
          <p:cNvPr id="16" name="Shape 13"/>
          <p:cNvSpPr/>
          <p:nvPr/>
        </p:nvSpPr>
        <p:spPr>
          <a:xfrm>
            <a:off x="685800" y="5696712"/>
            <a:ext cx="1956816" cy="45720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685800" y="5879592"/>
            <a:ext cx="1956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Productivity</a:t>
            </a:r>
            <a:endParaRPr lang="en-US" sz="1700" dirty="0"/>
          </a:p>
        </p:txBody>
      </p:sp>
      <p:sp>
        <p:nvSpPr>
          <p:cNvPr id="18" name="Shape 15"/>
          <p:cNvSpPr/>
          <p:nvPr/>
        </p:nvSpPr>
        <p:spPr>
          <a:xfrm>
            <a:off x="2843784" y="5696712"/>
            <a:ext cx="1956816" cy="45720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2843784" y="5879592"/>
            <a:ext cx="1956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Warranty</a:t>
            </a:r>
            <a:endParaRPr lang="en-US" sz="1700" dirty="0"/>
          </a:p>
        </p:txBody>
      </p:sp>
      <p:sp>
        <p:nvSpPr>
          <p:cNvPr id="20" name="Shape 17"/>
          <p:cNvSpPr/>
          <p:nvPr/>
        </p:nvSpPr>
        <p:spPr>
          <a:xfrm>
            <a:off x="5001768" y="5696712"/>
            <a:ext cx="1956816" cy="45720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5001768" y="5879592"/>
            <a:ext cx="1956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Close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566928"/>
            <a:ext cx="1828800" cy="555955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13232" y="2121408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260" kern="0" dirty="0">
                <a:solidFill>
                  <a:srgbClr val="2587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SECTION 06</a:t>
            </a:r>
            <a:endParaRPr lang="en-US" sz="2000" dirty="0"/>
          </a:p>
        </p:txBody>
      </p:sp>
      <p:sp>
        <p:nvSpPr>
          <p:cNvPr id="4" name="Text 1"/>
          <p:cNvSpPr txBox="1"/>
          <p:nvPr/>
        </p:nvSpPr>
        <p:spPr>
          <a:xfrm>
            <a:off x="667512" y="2487168"/>
            <a:ext cx="10789920" cy="11887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76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Productivity</a:t>
            </a:r>
            <a:endParaRPr lang="en-US" sz="7600" dirty="0"/>
          </a:p>
        </p:txBody>
      </p:sp>
      <p:sp>
        <p:nvSpPr>
          <p:cNvPr id="5" name="Text 2"/>
          <p:cNvSpPr txBox="1"/>
          <p:nvPr/>
        </p:nvSpPr>
        <p:spPr>
          <a:xfrm>
            <a:off x="694944" y="3767328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Headcount   ·   Gross per employee   ·   Technician proficiency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685800" y="4983480"/>
            <a:ext cx="1956816" cy="45720"/>
          </a:xfrm>
          <a:prstGeom prst="rect">
            <a:avLst/>
          </a:prstGeom>
          <a:solidFill>
            <a:srgbClr val="5B9BD5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685800" y="5166360"/>
            <a:ext cx="1956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Gross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2843784" y="4983480"/>
            <a:ext cx="1956816" cy="45720"/>
          </a:xfrm>
          <a:prstGeom prst="rect">
            <a:avLst/>
          </a:prstGeom>
          <a:solidFill>
            <a:srgbClr val="5B9BD5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2843784" y="5166360"/>
            <a:ext cx="1956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Profitability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5001768" y="4983480"/>
            <a:ext cx="1956816" cy="45720"/>
          </a:xfrm>
          <a:prstGeom prst="rect">
            <a:avLst/>
          </a:prstGeom>
          <a:solidFill>
            <a:srgbClr val="5B9BD5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5001768" y="5166360"/>
            <a:ext cx="1956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Customer Pay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7159752" y="4983480"/>
            <a:ext cx="1956816" cy="45720"/>
          </a:xfrm>
          <a:prstGeom prst="rect">
            <a:avLst/>
          </a:prstGeom>
          <a:solidFill>
            <a:srgbClr val="5B9BD5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7159752" y="5166360"/>
            <a:ext cx="1956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Opcodes</a:t>
            </a:r>
            <a:endParaRPr lang="en-US" sz="1700" dirty="0"/>
          </a:p>
        </p:txBody>
      </p:sp>
      <p:sp>
        <p:nvSpPr>
          <p:cNvPr id="14" name="Shape 11"/>
          <p:cNvSpPr/>
          <p:nvPr/>
        </p:nvSpPr>
        <p:spPr>
          <a:xfrm>
            <a:off x="9317736" y="4983480"/>
            <a:ext cx="1956816" cy="45720"/>
          </a:xfrm>
          <a:prstGeom prst="rect">
            <a:avLst/>
          </a:prstGeom>
          <a:solidFill>
            <a:srgbClr val="5B9BD5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9317736" y="5166360"/>
            <a:ext cx="1956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Internal</a:t>
            </a:r>
            <a:endParaRPr lang="en-US" sz="1700" dirty="0"/>
          </a:p>
        </p:txBody>
      </p:sp>
      <p:sp>
        <p:nvSpPr>
          <p:cNvPr id="16" name="Shape 13"/>
          <p:cNvSpPr/>
          <p:nvPr/>
        </p:nvSpPr>
        <p:spPr>
          <a:xfrm>
            <a:off x="685800" y="5696712"/>
            <a:ext cx="1956816" cy="91440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685800" y="5879592"/>
            <a:ext cx="1956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Productivity</a:t>
            </a:r>
            <a:endParaRPr lang="en-US" sz="1700" dirty="0"/>
          </a:p>
        </p:txBody>
      </p:sp>
      <p:sp>
        <p:nvSpPr>
          <p:cNvPr id="18" name="Shape 15"/>
          <p:cNvSpPr/>
          <p:nvPr/>
        </p:nvSpPr>
        <p:spPr>
          <a:xfrm>
            <a:off x="2843784" y="5696712"/>
            <a:ext cx="1956816" cy="45720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2843784" y="5879592"/>
            <a:ext cx="1956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Warranty</a:t>
            </a:r>
            <a:endParaRPr lang="en-US" sz="1700" dirty="0"/>
          </a:p>
        </p:txBody>
      </p:sp>
      <p:sp>
        <p:nvSpPr>
          <p:cNvPr id="20" name="Shape 17"/>
          <p:cNvSpPr/>
          <p:nvPr/>
        </p:nvSpPr>
        <p:spPr>
          <a:xfrm>
            <a:off x="5001768" y="5696712"/>
            <a:ext cx="1956816" cy="45720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5001768" y="5879592"/>
            <a:ext cx="1956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Close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566928"/>
            <a:ext cx="1828800" cy="555955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13232" y="2121408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260" kern="0" dirty="0">
                <a:solidFill>
                  <a:srgbClr val="2587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SECTION 07</a:t>
            </a:r>
            <a:endParaRPr lang="en-US" sz="2000" dirty="0"/>
          </a:p>
        </p:txBody>
      </p:sp>
      <p:sp>
        <p:nvSpPr>
          <p:cNvPr id="4" name="Text 1"/>
          <p:cNvSpPr txBox="1"/>
          <p:nvPr/>
        </p:nvSpPr>
        <p:spPr>
          <a:xfrm>
            <a:off x="667512" y="2487168"/>
            <a:ext cx="10789920" cy="11887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76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Warranty</a:t>
            </a:r>
            <a:endParaRPr lang="en-US" sz="7600" dirty="0"/>
          </a:p>
        </p:txBody>
      </p:sp>
      <p:sp>
        <p:nvSpPr>
          <p:cNvPr id="5" name="Text 2"/>
          <p:cNvSpPr txBox="1"/>
          <p:nvPr/>
        </p:nvSpPr>
        <p:spPr>
          <a:xfrm>
            <a:off x="694944" y="3767328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Rate increases   ·   Warranty ELR   ·   Parts margin   ·   Warranty audits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685800" y="4983480"/>
            <a:ext cx="1956816" cy="45720"/>
          </a:xfrm>
          <a:prstGeom prst="rect">
            <a:avLst/>
          </a:prstGeom>
          <a:solidFill>
            <a:srgbClr val="5B9BD5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685800" y="5166360"/>
            <a:ext cx="1956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Gross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2843784" y="4983480"/>
            <a:ext cx="1956816" cy="45720"/>
          </a:xfrm>
          <a:prstGeom prst="rect">
            <a:avLst/>
          </a:prstGeom>
          <a:solidFill>
            <a:srgbClr val="5B9BD5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2843784" y="5166360"/>
            <a:ext cx="1956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Profitability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5001768" y="4983480"/>
            <a:ext cx="1956816" cy="45720"/>
          </a:xfrm>
          <a:prstGeom prst="rect">
            <a:avLst/>
          </a:prstGeom>
          <a:solidFill>
            <a:srgbClr val="5B9BD5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5001768" y="5166360"/>
            <a:ext cx="1956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Customer Pay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7159752" y="4983480"/>
            <a:ext cx="1956816" cy="45720"/>
          </a:xfrm>
          <a:prstGeom prst="rect">
            <a:avLst/>
          </a:prstGeom>
          <a:solidFill>
            <a:srgbClr val="5B9BD5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7159752" y="5166360"/>
            <a:ext cx="1956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Opcodes</a:t>
            </a:r>
            <a:endParaRPr lang="en-US" sz="1700" dirty="0"/>
          </a:p>
        </p:txBody>
      </p:sp>
      <p:sp>
        <p:nvSpPr>
          <p:cNvPr id="14" name="Shape 11"/>
          <p:cNvSpPr/>
          <p:nvPr/>
        </p:nvSpPr>
        <p:spPr>
          <a:xfrm>
            <a:off x="9317736" y="4983480"/>
            <a:ext cx="1956816" cy="45720"/>
          </a:xfrm>
          <a:prstGeom prst="rect">
            <a:avLst/>
          </a:prstGeom>
          <a:solidFill>
            <a:srgbClr val="5B9BD5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9317736" y="5166360"/>
            <a:ext cx="1956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Internal</a:t>
            </a:r>
            <a:endParaRPr lang="en-US" sz="1700" dirty="0"/>
          </a:p>
        </p:txBody>
      </p:sp>
      <p:sp>
        <p:nvSpPr>
          <p:cNvPr id="16" name="Shape 13"/>
          <p:cNvSpPr/>
          <p:nvPr/>
        </p:nvSpPr>
        <p:spPr>
          <a:xfrm>
            <a:off x="685800" y="5696712"/>
            <a:ext cx="1956816" cy="45720"/>
          </a:xfrm>
          <a:prstGeom prst="rect">
            <a:avLst/>
          </a:prstGeom>
          <a:solidFill>
            <a:srgbClr val="5B9BD5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685800" y="5879592"/>
            <a:ext cx="1956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Productivity</a:t>
            </a:r>
            <a:endParaRPr lang="en-US" sz="1700" dirty="0"/>
          </a:p>
        </p:txBody>
      </p:sp>
      <p:sp>
        <p:nvSpPr>
          <p:cNvPr id="18" name="Shape 15"/>
          <p:cNvSpPr/>
          <p:nvPr/>
        </p:nvSpPr>
        <p:spPr>
          <a:xfrm>
            <a:off x="2843784" y="5696712"/>
            <a:ext cx="1956816" cy="91440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2843784" y="5879592"/>
            <a:ext cx="1956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Warranty</a:t>
            </a:r>
            <a:endParaRPr lang="en-US" sz="1700" dirty="0"/>
          </a:p>
        </p:txBody>
      </p:sp>
      <p:sp>
        <p:nvSpPr>
          <p:cNvPr id="20" name="Shape 17"/>
          <p:cNvSpPr/>
          <p:nvPr/>
        </p:nvSpPr>
        <p:spPr>
          <a:xfrm>
            <a:off x="5001768" y="5696712"/>
            <a:ext cx="1956816" cy="45720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5001768" y="5879592"/>
            <a:ext cx="1956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Close</a:t>
            </a:r>
            <a:endParaRPr lang="en-US" sz="1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566928"/>
            <a:ext cx="1828800" cy="555955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13232" y="2121408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260" kern="0" dirty="0">
                <a:solidFill>
                  <a:srgbClr val="2587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SECTION 08</a:t>
            </a:r>
            <a:endParaRPr lang="en-US" sz="2000" dirty="0"/>
          </a:p>
        </p:txBody>
      </p:sp>
      <p:sp>
        <p:nvSpPr>
          <p:cNvPr id="4" name="Text 1"/>
          <p:cNvSpPr txBox="1"/>
          <p:nvPr/>
        </p:nvSpPr>
        <p:spPr>
          <a:xfrm>
            <a:off x="667512" y="2487168"/>
            <a:ext cx="10789920" cy="11887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76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Close</a:t>
            </a:r>
            <a:endParaRPr lang="en-US" sz="7600" dirty="0"/>
          </a:p>
        </p:txBody>
      </p:sp>
      <p:sp>
        <p:nvSpPr>
          <p:cNvPr id="5" name="Text 2"/>
          <p:cNvSpPr txBox="1"/>
          <p:nvPr/>
        </p:nvSpPr>
        <p:spPr>
          <a:xfrm>
            <a:off x="694944" y="3767328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Most improved   ·   Where the money is   ·   Before you leave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685800" y="4983480"/>
            <a:ext cx="1956816" cy="45720"/>
          </a:xfrm>
          <a:prstGeom prst="rect">
            <a:avLst/>
          </a:prstGeom>
          <a:solidFill>
            <a:srgbClr val="5B9BD5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685800" y="5166360"/>
            <a:ext cx="1956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Gross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2843784" y="4983480"/>
            <a:ext cx="1956816" cy="45720"/>
          </a:xfrm>
          <a:prstGeom prst="rect">
            <a:avLst/>
          </a:prstGeom>
          <a:solidFill>
            <a:srgbClr val="5B9BD5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2843784" y="5166360"/>
            <a:ext cx="1956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Profitability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5001768" y="4983480"/>
            <a:ext cx="1956816" cy="45720"/>
          </a:xfrm>
          <a:prstGeom prst="rect">
            <a:avLst/>
          </a:prstGeom>
          <a:solidFill>
            <a:srgbClr val="5B9BD5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5001768" y="5166360"/>
            <a:ext cx="1956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Customer Pay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7159752" y="4983480"/>
            <a:ext cx="1956816" cy="45720"/>
          </a:xfrm>
          <a:prstGeom prst="rect">
            <a:avLst/>
          </a:prstGeom>
          <a:solidFill>
            <a:srgbClr val="5B9BD5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7159752" y="5166360"/>
            <a:ext cx="1956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Opcodes</a:t>
            </a:r>
            <a:endParaRPr lang="en-US" sz="1700" dirty="0"/>
          </a:p>
        </p:txBody>
      </p:sp>
      <p:sp>
        <p:nvSpPr>
          <p:cNvPr id="14" name="Shape 11"/>
          <p:cNvSpPr/>
          <p:nvPr/>
        </p:nvSpPr>
        <p:spPr>
          <a:xfrm>
            <a:off x="9317736" y="4983480"/>
            <a:ext cx="1956816" cy="45720"/>
          </a:xfrm>
          <a:prstGeom prst="rect">
            <a:avLst/>
          </a:prstGeom>
          <a:solidFill>
            <a:srgbClr val="5B9BD5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9317736" y="5166360"/>
            <a:ext cx="1956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Internal</a:t>
            </a:r>
            <a:endParaRPr lang="en-US" sz="1700" dirty="0"/>
          </a:p>
        </p:txBody>
      </p:sp>
      <p:sp>
        <p:nvSpPr>
          <p:cNvPr id="16" name="Shape 13"/>
          <p:cNvSpPr/>
          <p:nvPr/>
        </p:nvSpPr>
        <p:spPr>
          <a:xfrm>
            <a:off x="685800" y="5696712"/>
            <a:ext cx="1956816" cy="45720"/>
          </a:xfrm>
          <a:prstGeom prst="rect">
            <a:avLst/>
          </a:prstGeom>
          <a:solidFill>
            <a:srgbClr val="5B9BD5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685800" y="5879592"/>
            <a:ext cx="1956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Productivity</a:t>
            </a:r>
            <a:endParaRPr lang="en-US" sz="1700" dirty="0"/>
          </a:p>
        </p:txBody>
      </p:sp>
      <p:sp>
        <p:nvSpPr>
          <p:cNvPr id="18" name="Shape 15"/>
          <p:cNvSpPr/>
          <p:nvPr/>
        </p:nvSpPr>
        <p:spPr>
          <a:xfrm>
            <a:off x="2843784" y="5696712"/>
            <a:ext cx="1956816" cy="45720"/>
          </a:xfrm>
          <a:prstGeom prst="rect">
            <a:avLst/>
          </a:prstGeom>
          <a:solidFill>
            <a:srgbClr val="5B9BD5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2843784" y="5879592"/>
            <a:ext cx="1956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Warranty</a:t>
            </a:r>
            <a:endParaRPr lang="en-US" sz="1700" dirty="0"/>
          </a:p>
        </p:txBody>
      </p:sp>
      <p:sp>
        <p:nvSpPr>
          <p:cNvPr id="20" name="Shape 17"/>
          <p:cNvSpPr/>
          <p:nvPr/>
        </p:nvSpPr>
        <p:spPr>
          <a:xfrm>
            <a:off x="5001768" y="5696712"/>
            <a:ext cx="1956816" cy="91440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5001768" y="5879592"/>
            <a:ext cx="1956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Close</a:t>
            </a:r>
            <a:endParaRPr lang="en-US" sz="1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566928"/>
            <a:ext cx="1828800" cy="555955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13232" y="2121408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260" kern="0" dirty="0">
                <a:solidFill>
                  <a:srgbClr val="2587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 PRESENTED · FOR REVIEW</a:t>
            </a:r>
            <a:endParaRPr lang="en-US" sz="2000" dirty="0"/>
          </a:p>
        </p:txBody>
      </p:sp>
      <p:sp>
        <p:nvSpPr>
          <p:cNvPr id="4" name="Text 1"/>
          <p:cNvSpPr txBox="1"/>
          <p:nvPr/>
        </p:nvSpPr>
        <p:spPr>
          <a:xfrm>
            <a:off x="667512" y="2487168"/>
            <a:ext cx="10789920" cy="11887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76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 Decisions</a:t>
            </a:r>
            <a:endParaRPr lang="en-US" sz="7600" dirty="0"/>
          </a:p>
        </p:txBody>
      </p:sp>
      <p:sp>
        <p:nvSpPr>
          <p:cNvPr id="5" name="Text 2"/>
          <p:cNvSpPr txBox="1"/>
          <p:nvPr/>
        </p:nvSpPr>
        <p:spPr>
          <a:xfrm>
            <a:off x="694944" y="3767328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Store records   ·   Door rate   ·   CP vs internal   ·   Photo %   ·   Productivity   ·   Who's moving now   ·   Most improved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Inte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2026-10-27T23:33:43Z</dcterms:created>
  <dcterms:modified xsi:type="dcterms:W3CDTF">2026-10-27T23:33:43Z</dcterms:modified>
</cp:coreProperties>
</file>