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40.xml" ContentType="application/vnd.openxmlformats-officedocument.presentationml.notesSlide+xml"/>
  <Override PartName="/ppt/notesSlides/notesSlide145.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27.xml" ContentType="application/vnd.openxmlformats-officedocument.presentationml.slide+xml"/>
  <Override PartName="/ppt/slides/slide128.xml" ContentType="application/vnd.openxmlformats-officedocument.presentationml.slide+xml"/>
  <Override PartName="/ppt/slides/slide137.xml" ContentType="application/vnd.openxmlformats-officedocument.presentationml.slide+xml"/>
  <Override PartName="/ppt/slides/slide142.xml" ContentType="application/vnd.openxmlformats-officedocument.presentationml.slide+xml"/>
  <Override PartName="/ppt/slides/slide8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48" r:id="rId99"/>
    <p:sldId id="385" r:id="rId136"/>
    <p:sldId id="386" r:id="rId137"/>
    <p:sldId id="395" r:id="rId146"/>
    <p:sldId id="400" r:id="rId151"/>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99" Type="http://schemas.openxmlformats.org/officeDocument/2006/relationships/slide" Target="slides/slide88.xml"/><Relationship Id="rId136" Type="http://schemas.openxmlformats.org/officeDocument/2006/relationships/slide" Target="slides/slide127.xml"/><Relationship Id="rId137" Type="http://schemas.openxmlformats.org/officeDocument/2006/relationships/slide" Target="slides/slide128.xml"/><Relationship Id="rId146" Type="http://schemas.openxmlformats.org/officeDocument/2006/relationships/slide" Target="slides/slide137.xml"/><Relationship Id="rId151" Type="http://schemas.openxmlformats.org/officeDocument/2006/relationships/slide" Target="slides/slide1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Opcode Benchmarks, after Road to the Sale and ahead of MPI Completion % (Noah, Oct 23: maintenance visits and a complete MPI go hand in hand).</a:t>
            </a:r>
          </a:p>
          <a:p>
            <a:r>
              <a:t>Talk track (Noah, Oct 25): go to the dentist for a quick cleaning and they don't tell you something is starting to look like a cavity: that is a disservice. Get cars in quickly, perform a complete, comprehensive MPI, and make the proper recommendations at that time. This is critical, and it can't be left to entry-level employees alone: someone with experience who knows what to look for has to be looking at these cars. Depending on work mix, maintenance can be 25% to 75% of a store's service. Many stores focus on getting more cars in the door, which is great, and we want both, but they miss the opportunities they already have. Processes and policies make sure we capitalize on them: every car, every time.</a:t>
            </a:r>
          </a:p>
          <a:p>
            <a:r>
              <a:t>The 52.5% customer-pay share of labor sale tile was dropped with the rewrite.</a:t>
            </a:r>
          </a:p>
          <a:p>
            <a:r>
              <a:t>Said: Jan GM slide 8 / May GM slide 7 (Express Service), reworded.</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Productivity section, after the section break and before Fixed Gross per Fixed Employee.</a:t>
            </a:r>
          </a:p>
          <a:p>
            <a:r>
              <a:t>Said: Roundtable slide 6 (People); Jan GM slide 57 (Technician Pipeline).</a:t>
            </a:r>
          </a:p>
          <a:p>
            <a:r>
              <a:t>Bay tile (Oct 26): counted technicians (proficiency basis, Dec 25 2025 - Oct 9 2026, 9.49 months) flagged 841,721 sold hours, 583 techs = 152 sold hours per tech a month; labor gross $132.13 + parts gross $55.85 = $187.98 per sold hour, all pay types (Qlik Closed ROs) = $28,584 a month per tech. One tech per bay assumed (1:1 tech to stall). The -2.3% CP &amp; W RO tile was dropped for it.</a:t>
            </a:r>
          </a:p>
          <a:p>
            <a:r>
              <a:t>Numbers rebuilt 2026-10-20 on ADP headcount (Employee Master extract 10/19/2026); the Qlik headcount history undercounted 2025.</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Productivity section, before CP &amp; W ROs per Service Advisor.</a:t>
            </a:r>
          </a:p>
          <a:p>
            <a:r>
              <a:t>Said: Jan GM slide 16 / May GM slide 12 (Pay Plans aka Work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right after 'What Is Technician Proficiency?'.</a:t>
            </a:r>
          </a:p>
          <a:p>
            <a:r>
              <a:t>Period: pay periods Dec 25, 2025 to Oct 9, 2026, matched by tech number, all pay types; labelled Jan-Sep 2026 YTD on the slide (Noah, Oct 26: closest the pay periods allow).</a:t>
            </a:r>
          </a:p>
          <a:p>
            <a:r>
              <a:t>Rules as applied on the proficiency slides (Oct 16 2026). Express techs at stores that pool express hours are mostly excluded by the 10% rule.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Each technician under 85% lifted to 85% of their own worked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 Missed and Gross are per month. Share = missed labor + parts gross / labor + parts gross on the store's closed ROs, all pay types, same dates (includes work on shared tech codes). Not P&amp;L gross: counter and wholesale parts are excluded because techs do not produce them.ACURA: 67.4%; 11 of 11 under 85%; gap 2,954 hrs; labor $50K/mo + parts $26K/mo; tech pay $14K/mo; 25.4% of $299K/mo RO gross; top quarter 74% (3 techs); 3.46 ROs/tech day; 1.75 hrs/RO</a:t>
            </a:r>
          </a:p>
          <a:p>
            <a:r>
              <a:t>AUDI HENDERSON: 91.0%; 13 of 23 under 85%; gap 3,426 hrs; labor $81K/mo + parts $20K/mo; tech pay $14K/mo; 8.3% of $1.23M/mo RO gross; top quarter 135% (6 techs); 2.77 ROs/tech day; 3.23 hrs/RO</a:t>
            </a:r>
          </a:p>
          <a:p>
            <a:r>
              <a:t>AUDI RENO: 117.1%; 4 of 10 under 85%; gap 826 hrs; labor $14K/mo + parts $6K/mo; tech pay $4K/mo; 4.0% of $504K/mo RO gross; top quarter 194% (2 techs); 4.08 ROs/tech day; 2.88 hrs/RO</a:t>
            </a:r>
          </a:p>
          <a:p>
            <a:r>
              <a:t>CADILLAC: 87.7%; 16 of 29 under 85%; gap 6,705 hrs; labor $108K/mo + parts $49K/mo; tech pay $24K/mo; 13.6% of $1.16M/mo RO gross; top quarter 143% (7 techs); 2.48 ROs/tech day; 3.41 hrs/RO</a:t>
            </a:r>
          </a:p>
          <a:p>
            <a:r>
              <a:t>CDJR POST FALLS: 71.2%; 9 of 14 under 85%; gap 5,005 hrs; labor $68K/mo + parts $32K/mo; tech pay $18K/mo; 24.6% of $408K/mo RO gross; top quarter 129% (4 techs); 3.77 ROs/tech day; 2.25 hrs/RO</a:t>
            </a:r>
          </a:p>
          <a:p>
            <a:r>
              <a:t>CHEVY GMC BULLHEAD: 68.4%; 16 of 20 under 85%; gap 5,809 hrs; labor $73K/mo + parts $39K/mo; tech pay $20K/mo; 23.2% of $483K/mo RO gross; top quarter 96% (5 techs); 3.06 ROs/tech day; 2.19 hrs/RO</a:t>
            </a:r>
          </a:p>
          <a:p>
            <a:r>
              <a:t>CHEVY LV: 103.4%; 16 of 51 under 85%; gap 5,102 hrs; labor $62K/mo + parts $25K/mo; tech pay $17K/mo; 5.2% of $1.69M/mo RO gross; top quarter 164% (13 techs); 3.95 ROs/tech day; 2.69 hrs/RO</a:t>
            </a:r>
          </a:p>
          <a:p>
            <a:r>
              <a:t>GMC PRESCOTT: 73.6%; 7 of 12 under 85%; gap 2,741 hrs; labor $31K/mo + parts $17K/mo; tech pay $12K/mo; 14.4% of $333K/mo RO gross; top quarter 104% (3 techs); 3.59 ROs/tech day; 4.21 hrs/RO</a:t>
            </a:r>
          </a:p>
          <a:p>
            <a:r>
              <a:t>HONDA FLAGSTAFF: 78.5%; 4 of 6 under 85%; gap 2,217 hrs; labor $28K/mo + parts $12K/mo; tech pay $8K/mo; 19.6% of $202K/mo RO gross; top quarter 131% (2 techs); 5.23 ROs/tech day; 1.85 hrs/RO</a:t>
            </a:r>
          </a:p>
          <a:p>
            <a:r>
              <a:t>HONDA HENDERSON: 118.5%; 5 of 28 under 85%; gap 669 hrs; labor $9K/mo + parts $4K/mo; tech pay $2K/mo; 0.8% of $1.54M/mo RO gross; top quarter 172% (7 techs); 6.04 ROs/tech day; 2.11 hrs/RO</a:t>
            </a:r>
          </a:p>
          <a:p>
            <a:r>
              <a:t>HONDA NORTH: 109.3%; 4 of 22 under 85%; gap 764 hrs; labor $9K/mo + parts $4K/mo; tech pay $2K/mo; 1.4% of $949K/mo RO gross; top quarter 152% (6 techs); 6.08 ROs/tech day; 2.29 hrs/RO</a:t>
            </a:r>
          </a:p>
          <a:p>
            <a:r>
              <a:t>HONDA SPOKANE: 109.0%; 2 of 15 under 85%; gap 57 hrs; labor $1K/mo + parts $0K/mo; tech pay $0K/mo; 0.2% of $453K/mo RO gross; top quarter 130% (4 techs); 6.24 ROs/tech day; 2.14 hrs/RO</a:t>
            </a:r>
          </a:p>
          <a:p>
            <a:r>
              <a:t>HYUNDAI PRESCOTT: 78.8%; 6 of 9 under 85%; gap 1,873 hrs; labor $23K/mo + parts $11K/mo; tech pay $8K/mo; 18.5% of $185K/mo RO gross; top quarter 113% (2 techs); 3.75 ROs/tech day; 1.78 hrs/RO</a:t>
            </a:r>
          </a:p>
          <a:p>
            <a:r>
              <a:t>HYUNDAI ST GEORGE: 69.0%; 8 of 11 under 85%; gap 3,952 hrs; labor $58K/mo + parts $30K/mo; tech pay $13K/mo; 31.9% of $277K/mo RO gross; top quarter 122% (3 techs); 4.23 ROs/tech day; 1.45 hrs/RO</a:t>
            </a:r>
          </a:p>
          <a:p>
            <a:r>
              <a:t>KIA LV: 76.8%; 16 of 20 under 85%; gap 3,389 hrs; labor $51K/mo + parts $23K/mo; tech pay $12K/mo; 11.6% of $643K/mo RO gross; top quarter 101% (5 techs); 5.22 ROs/tech day; 1.70 hrs/RO</a:t>
            </a:r>
          </a:p>
          <a:p>
            <a:r>
              <a:t>KIA ST GEORGE: 67.5%; 9 of 12 under 85%; gap 3,713 hrs; labor $48K/mo + parts $29K/mo; tech pay $11K/mo; 29.7% of $258K/mo RO gross; top quarter 98% (3 techs); 4.25 ROs/tech day; 1.31 hrs/RO</a:t>
            </a:r>
          </a:p>
          <a:p>
            <a:r>
              <a:t>LEXUS: 104.7%; 6 of 11 under 85%; gap 1,451 hrs; labor $24K/mo + parts $7K/mo; tech pay $5K/mo; 7.9% of $400K/mo RO gross; top quarter 178% (3 techs); 4.01 ROs/tech day; 2.44 hrs/RO</a:t>
            </a:r>
          </a:p>
          <a:p>
            <a:r>
              <a:t>LINCOLN: 94.9%; 5 of 11 under 85%; gap 1,236 hrs; labor $17K/mo + parts $7K/mo; tech pay $4K/mo; 7.6% of $312K/mo RO gross; top quarter 125% (3 techs); 3.24 ROs/tech day; 2.35 hrs/RO</a:t>
            </a:r>
          </a:p>
          <a:p>
            <a:r>
              <a:t>LR HENDERSON: 106.0%; 3 of 7 under 85%; gap 567 hrs; labor $9K/mo + parts $5K/mo; tech pay $2K/mo; 4.2% of $357K/mo RO gross; top quarter 145% (2 techs); 2.94 ROs/tech day; 3.68 hrs/RO</a:t>
            </a:r>
          </a:p>
          <a:p>
            <a:r>
              <a:t>LR LV: 91.2%; 8 of 16 under 85%; gap 2,154 hrs; labor $42K/mo + parts $21K/mo; tech pay $9K/mo; 9.0% of $702K/mo RO gross; top quarter 131% (4 techs); 2.41 ROs/tech day; 3.54 hrs/RO</a:t>
            </a:r>
          </a:p>
          <a:p>
            <a:r>
              <a:t>LR RENO: 81.4%; 2 of 6 under 85%; gap 724 hrs; labor $14K/mo + parts $7K/mo; tech pay $3K/mo; 8.0% of $257K/mo RO gross; top quarter 96% (2 techs); 2.36 ROs/tech day; 3.20 hrs/RO</a:t>
            </a:r>
          </a:p>
          <a:p>
            <a:r>
              <a:t>MAZDA: 101.6%; 4 of 11 under 85%; gap 415 hrs; labor $6K/mo + parts $3K/mo; tech pay $1K/mo; 2.7% of $322K/mo RO gross; top quarter 123% (3 techs); 5.78 ROs/tech day; 1.54 hrs/RO</a:t>
            </a:r>
          </a:p>
          <a:p>
            <a:r>
              <a:t>NISSAN: 91.1%; 8 of 17 under 85%; gap 2,291 hrs; labor $30K/mo + parts $13K/mo; tech pay $9K/mo; 8.0% of $532K/mo RO gross; top quarter 132% (4 techs); 4.08 ROs/tech day; 2.29 hrs/RO</a:t>
            </a:r>
          </a:p>
          <a:p>
            <a:r>
              <a:t>SUBARU LV: 96.9%; 11 of 27 under 85%; gap 2,050 hrs; labor $29K/mo + parts $15K/mo; tech pay $5K/mo; 4.1% of $1.07M/mo RO gross; top quarter 132% (7 techs); 4.64 ROs/tech day; 2.07 hrs/RO</a:t>
            </a:r>
          </a:p>
          <a:p>
            <a:r>
              <a:t>SUBARU PRESCOTT: 98.4%; 6 of 12 under 85%; gap 3,523 hrs; labor $37K/mo + parts $21K/mo; tech pay $13K/mo; 20.0% of $288K/mo RO gross; top quarter 179% (3 techs); 4.73 ROs/tech day; 1.68 hrs/RO</a:t>
            </a:r>
          </a:p>
          <a:p>
            <a:r>
              <a:t>SUBARU ST GEORGE: 109.7%; 3 of 12 under 85%; gap 1,248 hrs; labor $14K/mo + parts $8K/mo; tech pay $5K/mo; 5.8% of $382K/mo RO gross; top quarter 146% (3 techs); 4.11 ROs/tech day; 2.20 hrs/RO</a:t>
            </a:r>
          </a:p>
          <a:p>
            <a:r>
              <a:t>TOYOTA FLAGSTAFF: 102.4%; 6 of 18 under 85%; gap 662 hrs; labor $8K/mo + parts $3K/mo; tech pay $2K/mo; 1.9% of $542K/mo RO gross; top quarter 151% (4 techs); 4.96 ROs/tech day; 1.84 hrs/RO</a:t>
            </a:r>
          </a:p>
          <a:p>
            <a:r>
              <a:t>TOYOTA HENDERSON: 104.3%; 20 of 59 under 85%; gap 4,057 hrs; labor $51K/mo + parts $19K/mo; tech pay $14K/mo; 2.9% of $2.44M/mo RO gross; top quarter 153% (15 techs); 6.41 ROs/tech day; 1.88 hrs/RO</a:t>
            </a:r>
          </a:p>
          <a:p>
            <a:r>
              <a:t>TOYOTA PRESCOTT: 83.6%; 11 of 22 under 85%; gap 4,174 hrs; labor $57K/mo + parts $20K/mo; tech pay $16K/mo; 13.5% of $573K/mo RO gross; top quarter 118% (6 techs); 4.22 ROs/tech day; 1.72 hrs/RO</a:t>
            </a:r>
          </a:p>
          <a:p>
            <a:r>
              <a:t>TOYOTA SPOKANE: 108.0%; 4 of 28 under 85%; gap 745 hrs; labor $8K/mo + parts $4K/mo; tech pay $3K/mo; 1.9% of $609K/mo RO gross; top quarter 134% (7 techs); 5.36 ROs/tech day; 1.81 hrs/RO</a:t>
            </a:r>
          </a:p>
          <a:p>
            <a:r>
              <a:t>VOLVO: 72.3%; 8 of 9 under 85%; gap 1,963 hrs; labor $40K/mo + parts $22K/mo; tech pay $5K/mo; 14.8% of $417K/mo RO gross; top quarter 89% (2 techs); 3.81 ROs/tech day; 1.92 hrs/RO</a:t>
            </a:r>
          </a:p>
          <a:p>
            <a:r>
              <a:t>VW HENDERSON: 92.2%; 6 of 19 under 85%; gap 1,416 hrs; labor $19K/mo + parts $5K/mo; tech pay $4K/mo; 4.8% of $516K/mo RO gross; top quarter 115% (5 techs); 3.77 ROs/tech day; 2.28 hrs/RO</a:t>
            </a:r>
          </a:p>
          <a:p>
            <a:r>
              <a:t>VW ST GEORGE: 70.0%; 5 of 5 under 85%; gap 1,149 hrs; labor $13K/mo + parts $7K/mo; tech pay $3K/mo; 19.0% of $109K/mo RO gross; top quarter 76% (1 techs); 3.81 ROs/tech day; 1.65 hrs/RO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Basic Maintenance Service</a:t>
            </a:r>
            <a:endParaRPr lang="en-US" sz="2800" dirty="0"/>
          </a:p>
        </p:txBody>
      </p:sp>
      <p:sp>
        <p:nvSpPr>
          <p:cNvPr id="5" name="Shape 3"/>
          <p:cNvSpPr/>
          <p:nvPr/>
        </p:nvSpPr>
        <p:spPr>
          <a:xfrm>
            <a:off x="457200" y="1207008"/>
            <a:ext cx="6400800" cy="4782312"/>
          </a:xfrm>
          <a:prstGeom prst="rect">
            <a:avLst/>
          </a:prstGeom>
          <a:solidFill>
            <a:srgbClr val="FFFFFF"/>
          </a:solidFill>
          <a:ln/>
        </p:spPr>
        <p:txBody>
          <a:bodyPr/>
          <a:p/>
        </p:txBody>
      </p:sp>
      <p:sp>
        <p:nvSpPr>
          <p:cNvPr id="6" name="Shape 4"/>
          <p:cNvSpPr/>
          <p:nvPr/>
        </p:nvSpPr>
        <p:spPr>
          <a:xfrm>
            <a:off x="7022592" y="1207008"/>
            <a:ext cx="4709160" cy="4782312"/>
          </a:xfrm>
          <a:prstGeom prst="rect">
            <a:avLst/>
          </a:prstGeom>
          <a:solidFill>
            <a:srgbClr val="FFFFFF"/>
          </a:solidFill>
          <a:ln/>
        </p:spPr>
        <p:txBody>
          <a:bodyPr/>
          <a:p/>
        </p:txBody>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txBody>
          <a:bodyPr/>
          <a:p/>
        </p:txBody>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On-demand maintenance appointments: get cars in quickly</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A complete, comprehensive multi-point inspection on every visit, with the right recommendations at that time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Experienced eyes on every car: entry-level staff alone won't know what to look for</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An oil change that misses worn brakes or a leaking water pump is a disservice to the customer</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More cars in the door is great, but first make the most of every car already in the shop</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Processes and policies that make it happen: every car, every time</a:t>
            </a:r>
            <a:endParaRPr lang="en-US" sz="1800" dirty="0"/>
          </a:p>
        </p:txBody>
      </p:sp>
      <p:sp>
        <p:nvSpPr>
          <p:cNvPr id="10" name="Shape 8"/>
          <p:cNvSpPr/>
          <p:nvPr/>
        </p:nvSpPr>
        <p:spPr>
          <a:xfrm>
            <a:off x="7269480" y="1920240"/>
            <a:ext cx="54864" cy="1783080"/>
          </a:xfrm>
          <a:prstGeom prst="rect">
            <a:avLst/>
          </a:prstGeom>
          <a:solidFill>
            <a:srgbClr val="2587C5"/>
          </a:solidFill>
          <a:ln/>
        </p:spPr>
        <p:txBody>
          <a:bodyPr/>
          <a:p/>
        </p:txBody>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54.3%</a:t>
            </a:r>
            <a:endParaRPr lang="en-US" sz="3000" dirty="0"/>
          </a:p>
        </p:txBody>
      </p:sp>
      <p:sp>
        <p:nvSpPr>
          <p:cNvPr id="12" name="Text 10"/>
          <p:cNvSpPr txBox="1"/>
          <p:nvPr/>
        </p:nvSpPr>
        <p:spPr>
          <a:xfrm>
            <a:off x="7452360" y="244144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Maintenance share of customer-pay labor across the group; repair 30.5%. Depending on work mix, maintenance runs 25% to 75% of a store's service.</a:t>
            </a:r>
            <a:endParaRPr lang="en-US" sz="1400" dirty="0"/>
          </a:p>
        </p:txBody>
      </p:sp>
      <p:sp>
        <p:nvSpPr>
          <p:cNvPr id="13" name="Shape 11"/>
          <p:cNvSpPr/>
          <p:nvPr/>
        </p:nvSpPr>
        <p:spPr>
          <a:xfrm>
            <a:off x="7269480" y="3931920"/>
            <a:ext cx="54864" cy="1783080"/>
          </a:xfrm>
          <a:prstGeom prst="rect">
            <a:avLst/>
          </a:prstGeom>
          <a:solidFill>
            <a:srgbClr val="C2352F"/>
          </a:solidFill>
          <a:ln/>
        </p:spPr>
        <p:txBody>
          <a:bodyPr/>
          <a:p/>
        </p:txBody>
      </p:sp>
      <p:sp>
        <p:nvSpPr>
          <p:cNvPr id="14" name="Text 12"/>
          <p:cNvSpPr txBox="1"/>
          <p:nvPr/>
        </p:nvSpPr>
        <p:spPr>
          <a:xfrm>
            <a:off x="7452360" y="388620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The value of the unknown</a:t>
            </a:r>
            <a:endParaRPr lang="en-US" sz="3000" dirty="0"/>
          </a:p>
        </p:txBody>
      </p:sp>
      <p:sp>
        <p:nvSpPr>
          <p:cNvPr id="15" name="Text 13"/>
          <p:cNvSpPr txBox="1"/>
          <p:nvPr/>
        </p:nvSpPr>
        <p:spPr>
          <a:xfrm>
            <a:off x="7452360" y="445312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The work a complete multi-point inspection finds is worth far more than the maintenance the car is due for. Turn a car away, or miss the time the customer wants, and we lose all of it.</a:t>
            </a:r>
            <a:endParaRPr lang="en-US" sz="1400" dirty="0"/>
          </a:p>
        </p:txBody>
      </p:sp>
      <p:sp>
        <p:nvSpPr>
          <p:cNvPr id="16" name="Shape 14"/>
          <p:cNvSpPr/>
          <p:nvPr/>
        </p:nvSpPr>
        <p:spPr>
          <a:xfrm>
            <a:off x="457200" y="6126480"/>
            <a:ext cx="11274552" cy="615696"/>
          </a:xfrm>
          <a:prstGeom prst="rect">
            <a:avLst/>
          </a:prstGeom>
          <a:solidFill>
            <a:srgbClr val="EDF4FA"/>
          </a:solidFill>
          <a:ln/>
        </p:spPr>
        <p:txBody>
          <a:bodyPr/>
          <a:p/>
        </p:txBody>
      </p:sp>
      <p:sp>
        <p:nvSpPr>
          <p:cNvPr id="17" name="Text 1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capitalize on every maintenance visit: in quickly, inspected completely by someone who knows what to look for, and every finding recommended.</a:t>
            </a:r>
            <a:endParaRPr lang="en-US" sz="1600" dirty="0"/>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People</a:t>
            </a:r>
            <a:endParaRPr lang="en-US" sz="2800" dirty="0"/>
          </a:p>
        </p:txBody>
      </p:sp>
      <p:sp>
        <p:nvSpPr>
          <p:cNvPr id="5" name="Shape 3"/>
          <p:cNvSpPr/>
          <p:nvPr/>
        </p:nvSpPr>
        <p:spPr>
          <a:xfrm>
            <a:off x="457200" y="1207008"/>
            <a:ext cx="6400800" cy="4782312"/>
          </a:xfrm>
          <a:prstGeom prst="rect">
            <a:avLst/>
          </a:prstGeom>
          <a:solidFill>
            <a:srgbClr val="FFFFFF"/>
          </a:solidFill>
          <a:ln/>
        </p:spPr>
        <p:txBody>
          <a:bodyPr/>
          <a:p/>
        </p:txBody>
      </p:sp>
      <p:sp>
        <p:nvSpPr>
          <p:cNvPr id="6" name="Shape 4"/>
          <p:cNvSpPr/>
          <p:nvPr/>
        </p:nvSpPr>
        <p:spPr>
          <a:xfrm>
            <a:off x="7022592" y="1207008"/>
            <a:ext cx="4709160" cy="4782312"/>
          </a:xfrm>
          <a:prstGeom prst="rect">
            <a:avLst/>
          </a:prstGeom>
          <a:solidFill>
            <a:srgbClr val="FFFFFF"/>
          </a:solidFill>
          <a:ln/>
        </p:spPr>
        <p:txBody>
          <a:bodyPr/>
          <a:p/>
        </p:txBody>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txBody>
          <a:bodyPr/>
          <a:p/>
        </p:txBody>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Our most valuable asset: this is what separates us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Invest in training and a defined career path. Be the best place to work.</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Grow your own techs, advisors and managers: apprentice programs, develop your bench, train your replacement</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Always be teaching, training and educating</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Being short-handed limits scheduling, loses opportunities and leads to missed MPIs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Clear pay plans, job descriptions and expectations</a:t>
            </a:r>
            <a:endParaRPr lang="en-US" sz="1800" dirty="0"/>
          </a:p>
        </p:txBody>
      </p:sp>
      <p:sp>
        <p:nvSpPr>
          <p:cNvPr id="10" name="Shape 8"/>
          <p:cNvSpPr/>
          <p:nvPr/>
        </p:nvSpPr>
        <p:spPr>
          <a:xfrm>
            <a:off x="7269480" y="1920240"/>
            <a:ext cx="54864" cy="1112520"/>
          </a:xfrm>
          <a:prstGeom prst="rect">
            <a:avLst/>
          </a:prstGeom>
          <a:solidFill>
            <a:srgbClr val="2587C5"/>
          </a:solidFill>
          <a:ln/>
        </p:spPr>
        <p:txBody>
          <a:bodyPr/>
          <a:p/>
        </p:txBody>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−76</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ops staff, Sep to Sep, to 1,540 (−4.7%): technicians −17, advisors −7, managers −3.</a:t>
            </a:r>
            <a:endParaRPr lang="en-US" sz="1400" dirty="0"/>
          </a:p>
        </p:txBody>
      </p:sp>
      <p:sp>
        <p:nvSpPr>
          <p:cNvPr id="13" name="Shape 11"/>
          <p:cNvSpPr/>
          <p:nvPr/>
        </p:nvSpPr>
        <p:spPr>
          <a:xfrm>
            <a:off x="7269480" y="3261360"/>
            <a:ext cx="54864" cy="1112520"/>
          </a:xfrm>
          <a:prstGeom prst="rect">
            <a:avLst/>
          </a:prstGeom>
          <a:solidFill>
            <a:srgbClr val="12A566"/>
          </a:solidFill>
          <a:ln/>
        </p:spPr>
        <p:txBody>
          <a:bodyPr/>
          <a:p/>
        </p:txBody>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$13,617</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Fixed gross per fixed employee a month, up $1,207. Gross grew 4.1% with 5.1% fewer people.</a:t>
            </a:r>
            <a:endParaRPr lang="en-US" sz="1400" dirty="0"/>
          </a:p>
        </p:txBody>
      </p:sp>
      <p:sp>
        <p:nvSpPr>
          <p:cNvPr id="16" name="Shape 14"/>
          <p:cNvSpPr/>
          <p:nvPr/>
        </p:nvSpPr>
        <p:spPr>
          <a:xfrm>
            <a:off x="7269480" y="4602480"/>
            <a:ext cx="54864" cy="1112520"/>
          </a:xfrm>
          <a:prstGeom prst="rect">
            <a:avLst/>
          </a:prstGeom>
          <a:solidFill>
            <a:srgbClr val="C2352F"/>
          </a:solidFill>
          <a:ln/>
        </p:spPr>
        <p:txBody>
          <a:bodyPr/>
          <a:p/>
        </p:txBody>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$28,600</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Gross an average tech's bay produces a month: 152 sold hours at $188 each. An empty or idle bay misses all of it.</a:t>
            </a:r>
            <a:endParaRPr lang="en-US" sz="1400" dirty="0"/>
          </a:p>
        </p:txBody>
      </p:sp>
      <p:sp>
        <p:nvSpPr>
          <p:cNvPr id="19" name="Shape 17"/>
          <p:cNvSpPr/>
          <p:nvPr/>
        </p:nvSpPr>
        <p:spPr>
          <a:xfrm>
            <a:off x="457200" y="6126480"/>
            <a:ext cx="11274552" cy="615696"/>
          </a:xfrm>
          <a:prstGeom prst="rect">
            <a:avLst/>
          </a:prstGeom>
          <a:solidFill>
            <a:srgbClr val="EDF4FA"/>
          </a:solidFill>
          <a:ln/>
        </p:spPr>
        <p:txBody>
          <a:bodyPr/>
          <a:p/>
        </p:txBody>
      </p:sp>
      <p:sp>
        <p:nvSpPr>
          <p:cNvPr id="20" name="Text 1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keep every seat filled with someone who adds hours. Being short-handed costs appointments, MPIs and sold hours.</a:t>
            </a:r>
            <a:endParaRPr lang="en-US" sz="1600" dirty="0"/>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Pay Plans Are Work Instructions</a:t>
            </a:r>
            <a:endParaRPr lang="en-US" sz="2800" dirty="0"/>
          </a:p>
        </p:txBody>
      </p:sp>
      <p:sp>
        <p:nvSpPr>
          <p:cNvPr id="5" name="Shape 3"/>
          <p:cNvSpPr/>
          <p:nvPr/>
        </p:nvSpPr>
        <p:spPr>
          <a:xfrm>
            <a:off x="457200" y="1207008"/>
            <a:ext cx="6400800" cy="4782312"/>
          </a:xfrm>
          <a:prstGeom prst="rect">
            <a:avLst/>
          </a:prstGeom>
          <a:solidFill>
            <a:srgbClr val="FFFFFF"/>
          </a:solidFill>
          <a:ln/>
        </p:spPr>
        <p:txBody>
          <a:bodyPr/>
          <a:p/>
        </p:txBody>
      </p:sp>
      <p:sp>
        <p:nvSpPr>
          <p:cNvPr id="6" name="Shape 4"/>
          <p:cNvSpPr/>
          <p:nvPr/>
        </p:nvSpPr>
        <p:spPr>
          <a:xfrm>
            <a:off x="7022592" y="1207008"/>
            <a:ext cx="4709160" cy="4782312"/>
          </a:xfrm>
          <a:prstGeom prst="rect">
            <a:avLst/>
          </a:prstGeom>
          <a:solidFill>
            <a:srgbClr val="FFFFFF"/>
          </a:solidFill>
          <a:ln/>
        </p:spPr>
        <p:txBody>
          <a:bodyPr/>
          <a:p/>
        </p:txBody>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txBody>
          <a:bodyPr/>
          <a:p/>
        </p:txBody>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Clear and easily understood</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Based on customer-pay performance: CP labor or gross per RO, hours per RO, maintenance penetration, total sales or gross</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Incentivize improvement in the metrics that make the biggest difference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Move technicians to flat rate and away from hourly: it rewards productivity and makes proficiency easy to track</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Base versus bonus: a 50/50 ratio</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Every system is perfectly designed to get the results it gets</a:t>
            </a:r>
            <a:endParaRPr lang="en-US" sz="1800" dirty="0"/>
          </a:p>
        </p:txBody>
      </p:sp>
      <p:sp>
        <p:nvSpPr>
          <p:cNvPr id="10" name="Shape 8"/>
          <p:cNvSpPr/>
          <p:nvPr/>
        </p:nvSpPr>
        <p:spPr>
          <a:xfrm>
            <a:off x="7269480" y="1920240"/>
            <a:ext cx="54864" cy="1783080"/>
          </a:xfrm>
          <a:prstGeom prst="rect">
            <a:avLst/>
          </a:prstGeom>
          <a:solidFill>
            <a:srgbClr val="12A566"/>
          </a:solidFill>
          <a:ln/>
        </p:spPr>
        <p:txBody>
          <a:bodyPr/>
          <a:p/>
        </p:txBody>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$304</a:t>
            </a:r>
            <a:endParaRPr lang="en-US" sz="3000" dirty="0"/>
          </a:p>
        </p:txBody>
      </p:sp>
      <p:sp>
        <p:nvSpPr>
          <p:cNvPr id="12" name="Text 10"/>
          <p:cNvSpPr txBox="1"/>
          <p:nvPr/>
        </p:nvSpPr>
        <p:spPr>
          <a:xfrm>
            <a:off x="7452360" y="244144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labor per RO, the number the plans should pay on. Up $17.</a:t>
            </a:r>
            <a:endParaRPr lang="en-US" sz="1400" dirty="0"/>
          </a:p>
        </p:txBody>
      </p:sp>
      <p:sp>
        <p:nvSpPr>
          <p:cNvPr id="13" name="Shape 11"/>
          <p:cNvSpPr/>
          <p:nvPr/>
        </p:nvSpPr>
        <p:spPr>
          <a:xfrm>
            <a:off x="7269480" y="3931920"/>
            <a:ext cx="54864" cy="1783080"/>
          </a:xfrm>
          <a:prstGeom prst="rect">
            <a:avLst/>
          </a:prstGeom>
          <a:solidFill>
            <a:srgbClr val="12A566"/>
          </a:solidFill>
          <a:ln/>
        </p:spPr>
        <p:txBody>
          <a:bodyPr/>
          <a:p/>
        </p:txBody>
      </p:sp>
      <p:sp>
        <p:nvSpPr>
          <p:cNvPr id="14" name="Text 12"/>
          <p:cNvSpPr txBox="1"/>
          <p:nvPr/>
        </p:nvSpPr>
        <p:spPr>
          <a:xfrm>
            <a:off x="7452360" y="388620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94.7%</a:t>
            </a:r>
            <a:endParaRPr lang="en-US" sz="3000" dirty="0"/>
          </a:p>
        </p:txBody>
      </p:sp>
      <p:sp>
        <p:nvSpPr>
          <p:cNvPr id="15" name="Text 13"/>
          <p:cNvSpPr txBox="1"/>
          <p:nvPr/>
        </p:nvSpPr>
        <p:spPr>
          <a:xfrm>
            <a:off x="7452360" y="4453128"/>
            <a:ext cx="4023360" cy="128016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Technician proficiency, Jan-Sep: 20 of 33 stores at or above 85%. Flat-rate pay rewards what techs produce.</a:t>
            </a:r>
            <a:endParaRPr lang="en-US" sz="1400" dirty="0"/>
          </a:p>
        </p:txBody>
      </p:sp>
      <p:sp>
        <p:nvSpPr>
          <p:cNvPr id="16" name="Shape 14"/>
          <p:cNvSpPr/>
          <p:nvPr/>
        </p:nvSpPr>
        <p:spPr>
          <a:xfrm>
            <a:off x="457200" y="6126480"/>
            <a:ext cx="11274552" cy="371856"/>
          </a:xfrm>
          <a:prstGeom prst="rect">
            <a:avLst/>
          </a:prstGeom>
          <a:solidFill>
            <a:srgbClr val="EDF4FA"/>
          </a:solidFill>
          <a:ln/>
        </p:spPr>
        <p:txBody>
          <a:bodyPr/>
          <a:p/>
        </p:txBody>
      </p:sp>
      <p:sp>
        <p:nvSpPr>
          <p:cNvPr id="17" name="Text 1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check that every advisor and tech pay plan pays for the numbers on these slides.</a:t>
            </a:r>
            <a:endParaRPr lang="en-US" sz="1600" dirty="0"/>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How We Measured It</a:t>
            </a:r>
            <a:endParaRPr lang="en-US" sz="2800" dirty="0"/>
          </a:p>
        </p:txBody>
      </p:sp>
      <p:sp>
        <p:nvSpPr>
          <p:cNvPr id="5" name="Shape 3"/>
          <p:cNvSpPr/>
          <p:nvPr/>
        </p:nvSpPr>
        <p:spPr>
          <a:xfrm>
            <a:off x="457200" y="1207008"/>
            <a:ext cx="11274552" cy="1024128"/>
          </a:xfrm>
          <a:prstGeom prst="rect">
            <a:avLst/>
          </a:prstGeom>
          <a:solidFill>
            <a:srgbClr val="EDF4FA"/>
          </a:solidFill>
          <a:ln/>
        </p:spPr>
        <p:txBody>
          <a:bodyPr/>
          <a:p/>
        </p:txBody>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Sold hours (Qlik)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worked hours (ADP, regular + overtime)</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January through September 2026, year to date. Store = total sold hours / total worked hours.</a:t>
            </a:r>
            <a:endParaRPr lang="en-US" sz="1500" dirty="0"/>
          </a:p>
        </p:txBody>
      </p:sp>
      <p:sp>
        <p:nvSpPr>
          <p:cNvPr id="8" name="Shape 6"/>
          <p:cNvSpPr/>
          <p:nvPr/>
        </p:nvSpPr>
        <p:spPr>
          <a:xfrm>
            <a:off x="457200" y="2340864"/>
            <a:ext cx="4343400" cy="3648456"/>
          </a:xfrm>
          <a:prstGeom prst="rect">
            <a:avLst/>
          </a:prstGeom>
          <a:solidFill>
            <a:srgbClr val="FFFFFF"/>
          </a:solidFill>
          <a:ln/>
        </p:spPr>
        <p:txBody>
          <a:bodyPr/>
          <a:p/>
        </p:txBody>
      </p:sp>
      <p:sp>
        <p:nvSpPr>
          <p:cNvPr id="9" name="Shape 7"/>
          <p:cNvSpPr/>
          <p:nvPr/>
        </p:nvSpPr>
        <p:spPr>
          <a:xfrm>
            <a:off x="4937760" y="2340864"/>
            <a:ext cx="6793992" cy="3648456"/>
          </a:xfrm>
          <a:prstGeom prst="rect">
            <a:avLst/>
          </a:prstGeom>
          <a:solidFill>
            <a:srgbClr val="FFFFFF"/>
          </a:solidFill>
          <a:ln/>
        </p:spPr>
        <p:txBody>
          <a:bodyPr/>
          <a:p/>
        </p:txBody>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WHO COUNTS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THE RULES</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Service technicians and express technicians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Service team leaders and shop foremen</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Everyone whose job is to produce sold hours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Not counted: body shop, detail and tint</a:t>
            </a:r>
            <a:endParaRPr lang="en-US" sz="1500" dirty="0"/>
          </a:p>
        </p:txBody>
      </p:sp>
      <p:sp>
        <p:nvSpPr>
          <p:cNvPr id="13" name="Shape 11"/>
          <p:cNvSpPr/>
          <p:nvPr/>
        </p:nvSpPr>
        <p:spPr>
          <a:xfrm>
            <a:off x="5138928" y="2843784"/>
            <a:ext cx="45720" cy="908304"/>
          </a:xfrm>
          <a:prstGeom prst="rect">
            <a:avLst/>
          </a:prstGeom>
          <a:solidFill>
            <a:srgbClr val="2587C5"/>
          </a:solidFill>
          <a:ln/>
        </p:spPr>
        <p:txBody>
          <a:bodyPr/>
          <a:p/>
        </p:txBody>
      </p:sp>
      <p:sp>
        <p:nvSpPr>
          <p:cNvPr id="14" name="Text 12"/>
          <p:cNvSpPr txBox="1"/>
          <p:nvPr/>
        </p:nvSpPr>
        <p:spPr>
          <a:xfrm>
            <a:off x="5266944" y="2843784"/>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Shop foremen above 30%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a foreman is mainly dispatching</a:t>
            </a:r>
            <a:endParaRPr lang="en-US" sz="1400" dirty="0"/>
          </a:p>
        </p:txBody>
      </p:sp>
      <p:sp>
        <p:nvSpPr>
          <p:cNvPr id="15" name="Shape 13"/>
          <p:cNvSpPr/>
          <p:nvPr/>
        </p:nvSpPr>
        <p:spPr>
          <a:xfrm>
            <a:off x="8394192" y="2843784"/>
            <a:ext cx="45720" cy="908304"/>
          </a:xfrm>
          <a:prstGeom prst="rect">
            <a:avLst/>
          </a:prstGeom>
          <a:solidFill>
            <a:srgbClr val="2587C5"/>
          </a:solidFill>
          <a:ln/>
        </p:spPr>
        <p:txBody>
          <a:bodyPr/>
          <a:p/>
        </p:txBody>
      </p:sp>
      <p:sp>
        <p:nvSpPr>
          <p:cNvPr id="16" name="Text 14"/>
          <p:cNvSpPr txBox="1"/>
          <p:nvPr/>
        </p:nvSpPr>
        <p:spPr>
          <a:xfrm>
            <a:off x="8522208" y="2843784"/>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Techs above 10%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they are not working as a line tech</a:t>
            </a:r>
            <a:endParaRPr lang="en-US" sz="1400" dirty="0"/>
          </a:p>
        </p:txBody>
      </p:sp>
      <p:sp>
        <p:nvSpPr>
          <p:cNvPr id="17" name="Shape 15"/>
          <p:cNvSpPr/>
          <p:nvPr/>
        </p:nvSpPr>
        <p:spPr>
          <a:xfrm>
            <a:off x="5138928" y="3861816"/>
            <a:ext cx="45720" cy="908304"/>
          </a:xfrm>
          <a:prstGeom prst="rect">
            <a:avLst/>
          </a:prstGeom>
          <a:solidFill>
            <a:srgbClr val="2587C5"/>
          </a:solidFill>
          <a:ln/>
        </p:spPr>
        <p:txBody>
          <a:bodyPr/>
          <a:p/>
        </p:txBody>
      </p:sp>
      <p:sp>
        <p:nvSpPr>
          <p:cNvPr id="18" name="Text 16"/>
          <p:cNvSpPr txBox="1"/>
          <p:nvPr/>
        </p:nvSpPr>
        <p:spPr>
          <a:xfrm>
            <a:off x="5266944" y="3861816"/>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Role changes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Worked hours trimmed to the months a tech actually flagged</a:t>
            </a:r>
            <a:endParaRPr lang="en-US" sz="1400" dirty="0"/>
          </a:p>
        </p:txBody>
      </p:sp>
      <p:sp>
        <p:nvSpPr>
          <p:cNvPr id="19" name="Shape 17"/>
          <p:cNvSpPr/>
          <p:nvPr/>
        </p:nvSpPr>
        <p:spPr>
          <a:xfrm>
            <a:off x="8394192" y="3861816"/>
            <a:ext cx="45720" cy="908304"/>
          </a:xfrm>
          <a:prstGeom prst="rect">
            <a:avLst/>
          </a:prstGeom>
          <a:solidFill>
            <a:srgbClr val="2587C5"/>
          </a:solidFill>
          <a:ln/>
        </p:spPr>
        <p:txBody>
          <a:bodyPr/>
          <a:p/>
        </p:txBody>
      </p:sp>
      <p:sp>
        <p:nvSpPr>
          <p:cNvPr id="20" name="Text 18"/>
          <p:cNvSpPr txBox="1"/>
          <p:nvPr/>
        </p:nvSpPr>
        <p:spPr>
          <a:xfrm>
            <a:off x="8522208" y="3861816"/>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Keying errors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Example: 940 hours keyed on a single $0 line</a:t>
            </a:r>
            <a:endParaRPr lang="en-US" sz="1400" dirty="0"/>
          </a:p>
        </p:txBody>
      </p:sp>
      <p:sp>
        <p:nvSpPr>
          <p:cNvPr id="21" name="Shape 19"/>
          <p:cNvSpPr/>
          <p:nvPr/>
        </p:nvSpPr>
        <p:spPr>
          <a:xfrm>
            <a:off x="5138928" y="4879848"/>
            <a:ext cx="45720" cy="908304"/>
          </a:xfrm>
          <a:prstGeom prst="rect">
            <a:avLst/>
          </a:prstGeom>
          <a:solidFill>
            <a:srgbClr val="2587C5"/>
          </a:solidFill>
          <a:ln/>
        </p:spPr>
        <p:txBody>
          <a:bodyPr/>
          <a:p/>
        </p:txBody>
      </p:sp>
      <p:sp>
        <p:nvSpPr>
          <p:cNvPr id="22" name="Text 20"/>
          <p:cNvSpPr txBox="1"/>
          <p:nvPr/>
        </p:nvSpPr>
        <p:spPr>
          <a:xfrm>
            <a:off x="5266944" y="4879848"/>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Shared tech numbers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Example: hours flagged to a shop code like 999, not a person</a:t>
            </a:r>
            <a:endParaRPr lang="en-US" sz="1400" dirty="0"/>
          </a:p>
        </p:txBody>
      </p:sp>
      <p:sp>
        <p:nvSpPr>
          <p:cNvPr id="23" name="Shape 21"/>
          <p:cNvSpPr/>
          <p:nvPr/>
        </p:nvSpPr>
        <p:spPr>
          <a:xfrm>
            <a:off x="8394192" y="4879848"/>
            <a:ext cx="45720" cy="908304"/>
          </a:xfrm>
          <a:prstGeom prst="rect">
            <a:avLst/>
          </a:prstGeom>
          <a:solidFill>
            <a:srgbClr val="2587C5"/>
          </a:solidFill>
          <a:ln/>
        </p:spPr>
        <p:txBody>
          <a:bodyPr/>
          <a:p/>
        </p:txBody>
      </p:sp>
      <p:sp>
        <p:nvSpPr>
          <p:cNvPr id="24" name="Text 22"/>
          <p:cNvSpPr txBox="1"/>
          <p:nvPr/>
        </p:nvSpPr>
        <p:spPr>
          <a:xfrm>
            <a:off x="8522208" y="4879848"/>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Opportunity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Each tech under 85% raised to 85% of their own worked hours</a:t>
            </a:r>
            <a:endParaRPr lang="en-US" sz="1400" dirty="0"/>
          </a:p>
        </p:txBody>
      </p:sp>
      <p:sp>
        <p:nvSpPr>
          <p:cNvPr id="25" name="Shape 23"/>
          <p:cNvSpPr/>
          <p:nvPr/>
        </p:nvSpPr>
        <p:spPr>
          <a:xfrm>
            <a:off x="457200" y="6126480"/>
            <a:ext cx="11274552" cy="356616"/>
          </a:xfrm>
          <a:prstGeom prst="rect">
            <a:avLst/>
          </a:prstGeom>
          <a:solidFill>
            <a:srgbClr val="EDF4FA"/>
          </a:solidFill>
          <a:ln/>
        </p:spPr>
        <p:txBody>
          <a:bodyPr/>
          <a:p/>
        </p:txBody>
      </p:sp>
      <p:sp>
        <p:nvSpPr>
          <p:cNvPr id="26" name="Text 24"/>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The rules keep non-tech time and data errors out of the numbers, and every store is measured the same way.</a:t>
            </a:r>
            <a:endParaRPr lang="en-US" sz="1500" dirty="0"/>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 · JAN–SEP 2026, MONTHLY AVERAGE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Opportunity as a Share of Gross</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Text 4"/>
          <p:cNvSpPr txBox="1"/>
          <p:nvPr/>
        </p:nvSpPr>
        <p:spPr>
          <a:xfrm>
            <a:off x="339242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Share</a:t>
            </a:r>
            <a:endParaRPr lang="en-US" sz="1400" dirty="0"/>
          </a:p>
        </p:txBody>
      </p:sp>
      <p:sp>
        <p:nvSpPr>
          <p:cNvPr id="7" name="Text 5"/>
          <p:cNvSpPr txBox="1"/>
          <p:nvPr/>
        </p:nvSpPr>
        <p:spPr>
          <a:xfrm>
            <a:off x="417880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8" name="Text 6"/>
          <p:cNvSpPr txBox="1"/>
          <p:nvPr/>
        </p:nvSpPr>
        <p:spPr>
          <a:xfrm>
            <a:off x="5047488"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a:t>
            </a:r>
            <a:endParaRPr lang="en-US" sz="1400" dirty="0"/>
          </a:p>
        </p:txBody>
      </p:sp>
      <p:sp>
        <p:nvSpPr>
          <p:cNvPr id="9" name="Text 7"/>
          <p:cNvSpPr txBox="1"/>
          <p:nvPr/>
        </p:nvSpPr>
        <p:spPr>
          <a:xfrm>
            <a:off x="894283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Share</a:t>
            </a:r>
            <a:endParaRPr lang="en-US" sz="1400" dirty="0"/>
          </a:p>
        </p:txBody>
      </p:sp>
      <p:sp>
        <p:nvSpPr>
          <p:cNvPr id="10" name="Text 8"/>
          <p:cNvSpPr txBox="1"/>
          <p:nvPr/>
        </p:nvSpPr>
        <p:spPr>
          <a:xfrm>
            <a:off x="972921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Missed</a:t>
            </a:r>
            <a:endParaRPr lang="en-US" sz="1400" dirty="0"/>
          </a:p>
        </p:txBody>
      </p:sp>
      <p:sp>
        <p:nvSpPr>
          <p:cNvPr id="11" name="Text 9"/>
          <p:cNvSpPr txBox="1"/>
          <p:nvPr/>
        </p:nvSpPr>
        <p:spPr>
          <a:xfrm>
            <a:off x="10597896" y="1316736"/>
            <a:ext cx="868680"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Gross</a:t>
            </a:r>
            <a:endParaRPr lang="en-US" sz="1400" dirty="0"/>
          </a:p>
        </p:txBody>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4" name="Shape 12"/>
          <p:cNvSpPr/>
          <p:nvPr/>
        </p:nvSpPr>
        <p:spPr>
          <a:xfrm>
            <a:off x="2871216" y="1756697"/>
            <a:ext cx="466344" cy="136676"/>
          </a:xfrm>
          <a:prstGeom prst="rect">
            <a:avLst/>
          </a:prstGeom>
          <a:solidFill>
            <a:srgbClr val="C2352F"/>
          </a:solidFill>
          <a:ln/>
        </p:spPr>
        <p:txBody>
          <a:bodyPr/>
          <a:p/>
        </p:txBody>
      </p:sp>
      <p:sp>
        <p:nvSpPr>
          <p:cNvPr id="15" name="Text 13"/>
          <p:cNvSpPr txBox="1"/>
          <p:nvPr/>
        </p:nvSpPr>
        <p:spPr>
          <a:xfrm>
            <a:off x="3392424"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a:t>
            </a:r>
            <a:endParaRPr lang="en-US" sz="1300" dirty="0"/>
          </a:p>
        </p:txBody>
      </p:sp>
      <p:sp>
        <p:nvSpPr>
          <p:cNvPr id="16" name="Text 14"/>
          <p:cNvSpPr txBox="1"/>
          <p:nvPr/>
        </p:nvSpPr>
        <p:spPr>
          <a:xfrm>
            <a:off x="417880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$88K</a:t>
            </a:r>
            <a:endParaRPr lang="en-US" sz="1300" dirty="0"/>
          </a:p>
        </p:txBody>
      </p:sp>
      <p:sp>
        <p:nvSpPr>
          <p:cNvPr id="17" name="Text 15"/>
          <p:cNvSpPr txBox="1"/>
          <p:nvPr/>
        </p:nvSpPr>
        <p:spPr>
          <a:xfrm>
            <a:off x="5047488"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$277K</a:t>
            </a:r>
            <a:endParaRPr lang="en-US" sz="1300" dirty="0"/>
          </a:p>
        </p:txBody>
      </p:sp>
      <p:sp>
        <p:nvSpPr>
          <p:cNvPr id="18" name="Text 16"/>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20" name="Shape 18"/>
          <p:cNvSpPr/>
          <p:nvPr/>
        </p:nvSpPr>
        <p:spPr>
          <a:xfrm>
            <a:off x="2871216" y="2005199"/>
            <a:ext cx="435113" cy="136676"/>
          </a:xfrm>
          <a:prstGeom prst="rect">
            <a:avLst/>
          </a:prstGeom>
          <a:solidFill>
            <a:srgbClr val="C2352F"/>
          </a:solidFill>
          <a:ln/>
        </p:spPr>
        <p:txBody>
          <a:bodyPr/>
          <a:p/>
        </p:txBody>
      </p:sp>
      <p:sp>
        <p:nvSpPr>
          <p:cNvPr id="21" name="Text 19"/>
          <p:cNvSpPr txBox="1"/>
          <p:nvPr/>
        </p:nvSpPr>
        <p:spPr>
          <a:xfrm>
            <a:off x="3392424"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30%</a:t>
            </a:r>
            <a:endParaRPr lang="en-US" sz="1300" dirty="0"/>
          </a:p>
        </p:txBody>
      </p:sp>
      <p:sp>
        <p:nvSpPr>
          <p:cNvPr id="22" name="Text 20"/>
          <p:cNvSpPr txBox="1"/>
          <p:nvPr/>
        </p:nvSpPr>
        <p:spPr>
          <a:xfrm>
            <a:off x="417880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$77K</a:t>
            </a:r>
            <a:endParaRPr lang="en-US" sz="1300" dirty="0"/>
          </a:p>
        </p:txBody>
      </p:sp>
      <p:sp>
        <p:nvSpPr>
          <p:cNvPr id="23" name="Text 21"/>
          <p:cNvSpPr txBox="1"/>
          <p:nvPr/>
        </p:nvSpPr>
        <p:spPr>
          <a:xfrm>
            <a:off x="5047488"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$258K</a:t>
            </a:r>
            <a:endParaRPr lang="en-US" sz="1300" dirty="0"/>
          </a:p>
        </p:txBody>
      </p:sp>
      <p:sp>
        <p:nvSpPr>
          <p:cNvPr id="24" name="Text 22"/>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5" name="Text 23"/>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26" name="Shape 24"/>
          <p:cNvSpPr/>
          <p:nvPr/>
        </p:nvSpPr>
        <p:spPr>
          <a:xfrm>
            <a:off x="2871216" y="2253700"/>
            <a:ext cx="371948" cy="136676"/>
          </a:xfrm>
          <a:prstGeom prst="rect">
            <a:avLst/>
          </a:prstGeom>
          <a:solidFill>
            <a:srgbClr val="C2352F"/>
          </a:solidFill>
          <a:ln/>
        </p:spPr>
        <p:txBody>
          <a:bodyPr/>
          <a:p/>
        </p:txBody>
      </p:sp>
      <p:sp>
        <p:nvSpPr>
          <p:cNvPr id="27" name="Text 25"/>
          <p:cNvSpPr txBox="1"/>
          <p:nvPr/>
        </p:nvSpPr>
        <p:spPr>
          <a:xfrm>
            <a:off x="3392424"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a:t>
            </a:r>
            <a:endParaRPr lang="en-US" sz="1300" dirty="0"/>
          </a:p>
        </p:txBody>
      </p:sp>
      <p:sp>
        <p:nvSpPr>
          <p:cNvPr id="28" name="Text 26"/>
          <p:cNvSpPr txBox="1"/>
          <p:nvPr/>
        </p:nvSpPr>
        <p:spPr>
          <a:xfrm>
            <a:off x="417880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$76K</a:t>
            </a:r>
            <a:endParaRPr lang="en-US" sz="1300" dirty="0"/>
          </a:p>
        </p:txBody>
      </p:sp>
      <p:sp>
        <p:nvSpPr>
          <p:cNvPr id="29" name="Text 27"/>
          <p:cNvSpPr txBox="1"/>
          <p:nvPr/>
        </p:nvSpPr>
        <p:spPr>
          <a:xfrm>
            <a:off x="5047488"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$299K</a:t>
            </a:r>
            <a:endParaRPr lang="en-US" sz="1300" dirty="0"/>
          </a:p>
        </p:txBody>
      </p:sp>
      <p:sp>
        <p:nvSpPr>
          <p:cNvPr id="30" name="Text 28"/>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32" name="Shape 30"/>
          <p:cNvSpPr/>
          <p:nvPr/>
        </p:nvSpPr>
        <p:spPr>
          <a:xfrm>
            <a:off x="2871216" y="2502202"/>
            <a:ext cx="359385" cy="136676"/>
          </a:xfrm>
          <a:prstGeom prst="rect">
            <a:avLst/>
          </a:prstGeom>
          <a:solidFill>
            <a:srgbClr val="C2352F"/>
          </a:solidFill>
          <a:ln/>
        </p:spPr>
        <p:txBody>
          <a:bodyPr/>
          <a:p/>
        </p:txBody>
      </p:sp>
      <p:sp>
        <p:nvSpPr>
          <p:cNvPr id="33" name="Text 31"/>
          <p:cNvSpPr txBox="1"/>
          <p:nvPr/>
        </p:nvSpPr>
        <p:spPr>
          <a:xfrm>
            <a:off x="3392424"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a:t>
            </a:r>
            <a:endParaRPr lang="en-US" sz="1300" dirty="0"/>
          </a:p>
        </p:txBody>
      </p:sp>
      <p:sp>
        <p:nvSpPr>
          <p:cNvPr id="34" name="Text 32"/>
          <p:cNvSpPr txBox="1"/>
          <p:nvPr/>
        </p:nvSpPr>
        <p:spPr>
          <a:xfrm>
            <a:off x="417880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$100K</a:t>
            </a:r>
            <a:endParaRPr lang="en-US" sz="1300" dirty="0"/>
          </a:p>
        </p:txBody>
      </p:sp>
      <p:sp>
        <p:nvSpPr>
          <p:cNvPr id="35" name="Text 33"/>
          <p:cNvSpPr txBox="1"/>
          <p:nvPr/>
        </p:nvSpPr>
        <p:spPr>
          <a:xfrm>
            <a:off x="5047488"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$408K</a:t>
            </a:r>
            <a:endParaRPr lang="en-US" sz="1300" dirty="0"/>
          </a:p>
        </p:txBody>
      </p:sp>
      <p:sp>
        <p:nvSpPr>
          <p:cNvPr id="36" name="Text 34"/>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38" name="Shape 36"/>
          <p:cNvSpPr/>
          <p:nvPr/>
        </p:nvSpPr>
        <p:spPr>
          <a:xfrm>
            <a:off x="2871216" y="2750703"/>
            <a:ext cx="339754" cy="136676"/>
          </a:xfrm>
          <a:prstGeom prst="rect">
            <a:avLst/>
          </a:prstGeom>
          <a:solidFill>
            <a:srgbClr val="C2352F"/>
          </a:solidFill>
          <a:ln/>
        </p:spPr>
        <p:txBody>
          <a:bodyPr/>
          <a:p/>
        </p:txBody>
      </p:sp>
      <p:sp>
        <p:nvSpPr>
          <p:cNvPr id="39" name="Text 37"/>
          <p:cNvSpPr txBox="1"/>
          <p:nvPr/>
        </p:nvSpPr>
        <p:spPr>
          <a:xfrm>
            <a:off x="3392424"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23%</a:t>
            </a:r>
            <a:endParaRPr lang="en-US" sz="1300" dirty="0"/>
          </a:p>
        </p:txBody>
      </p:sp>
      <p:sp>
        <p:nvSpPr>
          <p:cNvPr id="40" name="Text 38"/>
          <p:cNvSpPr txBox="1"/>
          <p:nvPr/>
        </p:nvSpPr>
        <p:spPr>
          <a:xfrm>
            <a:off x="417880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$112K</a:t>
            </a:r>
            <a:endParaRPr lang="en-US" sz="1300" dirty="0"/>
          </a:p>
        </p:txBody>
      </p:sp>
      <p:sp>
        <p:nvSpPr>
          <p:cNvPr id="41" name="Text 39"/>
          <p:cNvSpPr txBox="1"/>
          <p:nvPr/>
        </p:nvSpPr>
        <p:spPr>
          <a:xfrm>
            <a:off x="5047488"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$483K</a:t>
            </a:r>
            <a:endParaRPr lang="en-US" sz="1300" dirty="0"/>
          </a:p>
        </p:txBody>
      </p:sp>
      <p:sp>
        <p:nvSpPr>
          <p:cNvPr id="42" name="Text 40"/>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3" name="Text 41"/>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4" name="Shape 42"/>
          <p:cNvSpPr/>
          <p:nvPr/>
        </p:nvSpPr>
        <p:spPr>
          <a:xfrm>
            <a:off x="2871216" y="2999205"/>
            <a:ext cx="292285" cy="136676"/>
          </a:xfrm>
          <a:prstGeom prst="rect">
            <a:avLst/>
          </a:prstGeom>
          <a:solidFill>
            <a:srgbClr val="C2352F"/>
          </a:solidFill>
          <a:ln/>
        </p:spPr>
        <p:txBody>
          <a:bodyPr/>
          <a:p/>
        </p:txBody>
      </p:sp>
      <p:sp>
        <p:nvSpPr>
          <p:cNvPr id="45" name="Text 43"/>
          <p:cNvSpPr txBox="1"/>
          <p:nvPr/>
        </p:nvSpPr>
        <p:spPr>
          <a:xfrm>
            <a:off x="3392424"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a:t>
            </a:r>
            <a:endParaRPr lang="en-US" sz="1300" dirty="0"/>
          </a:p>
        </p:txBody>
      </p:sp>
      <p:sp>
        <p:nvSpPr>
          <p:cNvPr id="46" name="Text 44"/>
          <p:cNvSpPr txBox="1"/>
          <p:nvPr/>
        </p:nvSpPr>
        <p:spPr>
          <a:xfrm>
            <a:off x="417880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$58K</a:t>
            </a:r>
            <a:endParaRPr lang="en-US" sz="1300" dirty="0"/>
          </a:p>
        </p:txBody>
      </p:sp>
      <p:sp>
        <p:nvSpPr>
          <p:cNvPr id="47" name="Text 45"/>
          <p:cNvSpPr txBox="1"/>
          <p:nvPr/>
        </p:nvSpPr>
        <p:spPr>
          <a:xfrm>
            <a:off x="5047488"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$288K</a:t>
            </a:r>
            <a:endParaRPr lang="en-US" sz="1300" dirty="0"/>
          </a:p>
        </p:txBody>
      </p:sp>
      <p:sp>
        <p:nvSpPr>
          <p:cNvPr id="48" name="Text 46"/>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9" name="Text 47"/>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50" name="Shape 48"/>
          <p:cNvSpPr/>
          <p:nvPr/>
        </p:nvSpPr>
        <p:spPr>
          <a:xfrm>
            <a:off x="2871216" y="3247707"/>
            <a:ext cx="286413" cy="136676"/>
          </a:xfrm>
          <a:prstGeom prst="rect">
            <a:avLst/>
          </a:prstGeom>
          <a:solidFill>
            <a:srgbClr val="C2352F"/>
          </a:solidFill>
          <a:ln/>
        </p:spPr>
        <p:txBody>
          <a:bodyPr/>
          <a:p/>
        </p:txBody>
      </p:sp>
      <p:sp>
        <p:nvSpPr>
          <p:cNvPr id="51" name="Text 49"/>
          <p:cNvSpPr txBox="1"/>
          <p:nvPr/>
        </p:nvSpPr>
        <p:spPr>
          <a:xfrm>
            <a:off x="3392424"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a:t>
            </a:r>
            <a:endParaRPr lang="en-US" sz="1300" dirty="0"/>
          </a:p>
        </p:txBody>
      </p:sp>
      <p:sp>
        <p:nvSpPr>
          <p:cNvPr id="52" name="Text 50"/>
          <p:cNvSpPr txBox="1"/>
          <p:nvPr/>
        </p:nvSpPr>
        <p:spPr>
          <a:xfrm>
            <a:off x="417880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$39K</a:t>
            </a:r>
            <a:endParaRPr lang="en-US" sz="1300" dirty="0"/>
          </a:p>
        </p:txBody>
      </p:sp>
      <p:sp>
        <p:nvSpPr>
          <p:cNvPr id="53" name="Text 51"/>
          <p:cNvSpPr txBox="1"/>
          <p:nvPr/>
        </p:nvSpPr>
        <p:spPr>
          <a:xfrm>
            <a:off x="5047488"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$202K</a:t>
            </a:r>
            <a:endParaRPr lang="en-US" sz="1300" dirty="0"/>
          </a:p>
        </p:txBody>
      </p:sp>
      <p:sp>
        <p:nvSpPr>
          <p:cNvPr id="54" name="Text 52"/>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5" name="Text 53"/>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56" name="Shape 54"/>
          <p:cNvSpPr/>
          <p:nvPr/>
        </p:nvSpPr>
        <p:spPr>
          <a:xfrm>
            <a:off x="2871216" y="3496208"/>
            <a:ext cx="277524" cy="136676"/>
          </a:xfrm>
          <a:prstGeom prst="rect">
            <a:avLst/>
          </a:prstGeom>
          <a:solidFill>
            <a:srgbClr val="C2352F"/>
          </a:solidFill>
          <a:ln/>
        </p:spPr>
        <p:txBody>
          <a:bodyPr/>
          <a:p/>
        </p:txBody>
      </p:sp>
      <p:sp>
        <p:nvSpPr>
          <p:cNvPr id="57" name="Text 55"/>
          <p:cNvSpPr txBox="1"/>
          <p:nvPr/>
        </p:nvSpPr>
        <p:spPr>
          <a:xfrm>
            <a:off x="3392424"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a:t>
            </a:r>
            <a:endParaRPr lang="en-US" sz="1300" dirty="0"/>
          </a:p>
        </p:txBody>
      </p:sp>
      <p:sp>
        <p:nvSpPr>
          <p:cNvPr id="58" name="Text 56"/>
          <p:cNvSpPr txBox="1"/>
          <p:nvPr/>
        </p:nvSpPr>
        <p:spPr>
          <a:xfrm>
            <a:off x="417880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$21K</a:t>
            </a:r>
            <a:endParaRPr lang="en-US" sz="1300" dirty="0"/>
          </a:p>
        </p:txBody>
      </p:sp>
      <p:sp>
        <p:nvSpPr>
          <p:cNvPr id="59" name="Text 57"/>
          <p:cNvSpPr txBox="1"/>
          <p:nvPr/>
        </p:nvSpPr>
        <p:spPr>
          <a:xfrm>
            <a:off x="5047488"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$109K</a:t>
            </a:r>
            <a:endParaRPr lang="en-US" sz="1300" dirty="0"/>
          </a:p>
        </p:txBody>
      </p:sp>
      <p:sp>
        <p:nvSpPr>
          <p:cNvPr id="60" name="Text 58"/>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1" name="Text 59"/>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62" name="Shape 60"/>
          <p:cNvSpPr/>
          <p:nvPr/>
        </p:nvSpPr>
        <p:spPr>
          <a:xfrm>
            <a:off x="2871216" y="3744710"/>
            <a:ext cx="270873" cy="136676"/>
          </a:xfrm>
          <a:prstGeom prst="rect">
            <a:avLst/>
          </a:prstGeom>
          <a:solidFill>
            <a:srgbClr val="C2352F"/>
          </a:solidFill>
          <a:ln/>
        </p:spPr>
        <p:txBody>
          <a:bodyPr/>
          <a:p/>
        </p:txBody>
      </p:sp>
      <p:sp>
        <p:nvSpPr>
          <p:cNvPr id="63" name="Text 61"/>
          <p:cNvSpPr txBox="1"/>
          <p:nvPr/>
        </p:nvSpPr>
        <p:spPr>
          <a:xfrm>
            <a:off x="3392424"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19%</a:t>
            </a:r>
            <a:endParaRPr lang="en-US" sz="1300" dirty="0"/>
          </a:p>
        </p:txBody>
      </p:sp>
      <p:sp>
        <p:nvSpPr>
          <p:cNvPr id="64" name="Text 62"/>
          <p:cNvSpPr txBox="1"/>
          <p:nvPr/>
        </p:nvSpPr>
        <p:spPr>
          <a:xfrm>
            <a:off x="417880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$34K</a:t>
            </a:r>
            <a:endParaRPr lang="en-US" sz="1300" dirty="0"/>
          </a:p>
        </p:txBody>
      </p:sp>
      <p:sp>
        <p:nvSpPr>
          <p:cNvPr id="65" name="Text 63"/>
          <p:cNvSpPr txBox="1"/>
          <p:nvPr/>
        </p:nvSpPr>
        <p:spPr>
          <a:xfrm>
            <a:off x="5047488"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$185K</a:t>
            </a:r>
            <a:endParaRPr lang="en-US" sz="1300" dirty="0"/>
          </a:p>
        </p:txBody>
      </p:sp>
      <p:sp>
        <p:nvSpPr>
          <p:cNvPr id="66" name="Text 64"/>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7" name="Text 65"/>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68" name="Shape 66"/>
          <p:cNvSpPr/>
          <p:nvPr/>
        </p:nvSpPr>
        <p:spPr>
          <a:xfrm>
            <a:off x="2871216" y="3993212"/>
            <a:ext cx="217136" cy="136676"/>
          </a:xfrm>
          <a:prstGeom prst="rect">
            <a:avLst/>
          </a:prstGeom>
          <a:solidFill>
            <a:srgbClr val="C2352F"/>
          </a:solidFill>
          <a:ln/>
        </p:spPr>
        <p:txBody>
          <a:bodyPr/>
          <a:p/>
        </p:txBody>
      </p:sp>
      <p:sp>
        <p:nvSpPr>
          <p:cNvPr id="69" name="Text 67"/>
          <p:cNvSpPr txBox="1"/>
          <p:nvPr/>
        </p:nvSpPr>
        <p:spPr>
          <a:xfrm>
            <a:off x="3392424"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a:t>
            </a:r>
            <a:endParaRPr lang="en-US" sz="1300" dirty="0"/>
          </a:p>
        </p:txBody>
      </p:sp>
      <p:sp>
        <p:nvSpPr>
          <p:cNvPr id="70" name="Text 68"/>
          <p:cNvSpPr txBox="1"/>
          <p:nvPr/>
        </p:nvSpPr>
        <p:spPr>
          <a:xfrm>
            <a:off x="417880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$62K</a:t>
            </a:r>
            <a:endParaRPr lang="en-US" sz="1300" dirty="0"/>
          </a:p>
        </p:txBody>
      </p:sp>
      <p:sp>
        <p:nvSpPr>
          <p:cNvPr id="71" name="Text 69"/>
          <p:cNvSpPr txBox="1"/>
          <p:nvPr/>
        </p:nvSpPr>
        <p:spPr>
          <a:xfrm>
            <a:off x="5047488"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$417K</a:t>
            </a:r>
            <a:endParaRPr lang="en-US" sz="1300" dirty="0"/>
          </a:p>
        </p:txBody>
      </p:sp>
      <p:sp>
        <p:nvSpPr>
          <p:cNvPr id="72" name="Text 7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3" name="Text 71"/>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74" name="Shape 72"/>
          <p:cNvSpPr/>
          <p:nvPr/>
        </p:nvSpPr>
        <p:spPr>
          <a:xfrm>
            <a:off x="2871216" y="4241713"/>
            <a:ext cx="210283" cy="136676"/>
          </a:xfrm>
          <a:prstGeom prst="rect">
            <a:avLst/>
          </a:prstGeom>
          <a:solidFill>
            <a:srgbClr val="C2352F"/>
          </a:solidFill>
          <a:ln/>
        </p:spPr>
        <p:txBody>
          <a:bodyPr/>
          <a:p/>
        </p:txBody>
      </p:sp>
      <p:sp>
        <p:nvSpPr>
          <p:cNvPr id="75" name="Text 73"/>
          <p:cNvSpPr txBox="1"/>
          <p:nvPr/>
        </p:nvSpPr>
        <p:spPr>
          <a:xfrm>
            <a:off x="3392424"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a:t>
            </a:r>
            <a:endParaRPr lang="en-US" sz="1300" dirty="0"/>
          </a:p>
        </p:txBody>
      </p:sp>
      <p:sp>
        <p:nvSpPr>
          <p:cNvPr id="76" name="Text 74"/>
          <p:cNvSpPr txBox="1"/>
          <p:nvPr/>
        </p:nvSpPr>
        <p:spPr>
          <a:xfrm>
            <a:off x="417880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$48K</a:t>
            </a:r>
            <a:endParaRPr lang="en-US" sz="1300" dirty="0"/>
          </a:p>
        </p:txBody>
      </p:sp>
      <p:sp>
        <p:nvSpPr>
          <p:cNvPr id="77" name="Text 75"/>
          <p:cNvSpPr txBox="1"/>
          <p:nvPr/>
        </p:nvSpPr>
        <p:spPr>
          <a:xfrm>
            <a:off x="5047488"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$333K</a:t>
            </a:r>
            <a:endParaRPr lang="en-US" sz="1300" dirty="0"/>
          </a:p>
        </p:txBody>
      </p:sp>
      <p:sp>
        <p:nvSpPr>
          <p:cNvPr id="78" name="Text 76"/>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9" name="Text 77"/>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80" name="Shape 78"/>
          <p:cNvSpPr/>
          <p:nvPr/>
        </p:nvSpPr>
        <p:spPr>
          <a:xfrm>
            <a:off x="2871216" y="4490215"/>
            <a:ext cx="199373" cy="136676"/>
          </a:xfrm>
          <a:prstGeom prst="rect">
            <a:avLst/>
          </a:prstGeom>
          <a:solidFill>
            <a:srgbClr val="C2352F"/>
          </a:solidFill>
          <a:ln/>
        </p:spPr>
        <p:txBody>
          <a:bodyPr/>
          <a:p/>
        </p:txBody>
      </p:sp>
      <p:sp>
        <p:nvSpPr>
          <p:cNvPr id="81" name="Text 79"/>
          <p:cNvSpPr txBox="1"/>
          <p:nvPr/>
        </p:nvSpPr>
        <p:spPr>
          <a:xfrm>
            <a:off x="3392424"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14%</a:t>
            </a:r>
            <a:endParaRPr lang="en-US" sz="1300" dirty="0"/>
          </a:p>
        </p:txBody>
      </p:sp>
      <p:sp>
        <p:nvSpPr>
          <p:cNvPr id="82" name="Text 80"/>
          <p:cNvSpPr txBox="1"/>
          <p:nvPr/>
        </p:nvSpPr>
        <p:spPr>
          <a:xfrm>
            <a:off x="417880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$158K</a:t>
            </a:r>
            <a:endParaRPr lang="en-US" sz="1300" dirty="0"/>
          </a:p>
        </p:txBody>
      </p:sp>
      <p:sp>
        <p:nvSpPr>
          <p:cNvPr id="83" name="Text 81"/>
          <p:cNvSpPr txBox="1"/>
          <p:nvPr/>
        </p:nvSpPr>
        <p:spPr>
          <a:xfrm>
            <a:off x="5047488"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$1.16M</a:t>
            </a:r>
            <a:endParaRPr lang="en-US" sz="1300" dirty="0"/>
          </a:p>
        </p:txBody>
      </p:sp>
      <p:sp>
        <p:nvSpPr>
          <p:cNvPr id="84" name="Text 82"/>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5" name="Text 83"/>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6" name="Shape 84"/>
          <p:cNvSpPr/>
          <p:nvPr/>
        </p:nvSpPr>
        <p:spPr>
          <a:xfrm>
            <a:off x="2871216" y="4738717"/>
            <a:ext cx="197385" cy="136676"/>
          </a:xfrm>
          <a:prstGeom prst="rect">
            <a:avLst/>
          </a:prstGeom>
          <a:solidFill>
            <a:srgbClr val="C2352F"/>
          </a:solidFill>
          <a:ln/>
        </p:spPr>
        <p:txBody>
          <a:bodyPr/>
          <a:p/>
        </p:txBody>
      </p:sp>
      <p:sp>
        <p:nvSpPr>
          <p:cNvPr id="87" name="Text 85"/>
          <p:cNvSpPr txBox="1"/>
          <p:nvPr/>
        </p:nvSpPr>
        <p:spPr>
          <a:xfrm>
            <a:off x="3392424"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a:t>
            </a:r>
            <a:endParaRPr lang="en-US" sz="1300" dirty="0"/>
          </a:p>
        </p:txBody>
      </p:sp>
      <p:sp>
        <p:nvSpPr>
          <p:cNvPr id="88" name="Text 86"/>
          <p:cNvSpPr txBox="1"/>
          <p:nvPr/>
        </p:nvSpPr>
        <p:spPr>
          <a:xfrm>
            <a:off x="417880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$77K</a:t>
            </a:r>
            <a:endParaRPr lang="en-US" sz="1300" dirty="0"/>
          </a:p>
        </p:txBody>
      </p:sp>
      <p:sp>
        <p:nvSpPr>
          <p:cNvPr id="89" name="Text 87"/>
          <p:cNvSpPr txBox="1"/>
          <p:nvPr/>
        </p:nvSpPr>
        <p:spPr>
          <a:xfrm>
            <a:off x="5047488"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$573K</a:t>
            </a:r>
            <a:endParaRPr lang="en-US" sz="1300" dirty="0"/>
          </a:p>
        </p:txBody>
      </p:sp>
      <p:sp>
        <p:nvSpPr>
          <p:cNvPr id="90" name="Text 88"/>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1" name="Text 89"/>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92" name="Shape 90"/>
          <p:cNvSpPr/>
          <p:nvPr/>
        </p:nvSpPr>
        <p:spPr>
          <a:xfrm>
            <a:off x="2871216" y="4987218"/>
            <a:ext cx="169024" cy="136676"/>
          </a:xfrm>
          <a:prstGeom prst="rect">
            <a:avLst/>
          </a:prstGeom>
          <a:solidFill>
            <a:srgbClr val="C2352F"/>
          </a:solidFill>
          <a:ln/>
        </p:spPr>
        <p:txBody>
          <a:bodyPr/>
          <a:p/>
        </p:txBody>
      </p:sp>
      <p:sp>
        <p:nvSpPr>
          <p:cNvPr id="93" name="Text 91"/>
          <p:cNvSpPr txBox="1"/>
          <p:nvPr/>
        </p:nvSpPr>
        <p:spPr>
          <a:xfrm>
            <a:off x="3392424"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12%</a:t>
            </a:r>
            <a:endParaRPr lang="en-US" sz="1300" dirty="0"/>
          </a:p>
        </p:txBody>
      </p:sp>
      <p:sp>
        <p:nvSpPr>
          <p:cNvPr id="94" name="Text 92"/>
          <p:cNvSpPr txBox="1"/>
          <p:nvPr/>
        </p:nvSpPr>
        <p:spPr>
          <a:xfrm>
            <a:off x="417880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$74K</a:t>
            </a:r>
            <a:endParaRPr lang="en-US" sz="1300" dirty="0"/>
          </a:p>
        </p:txBody>
      </p:sp>
      <p:sp>
        <p:nvSpPr>
          <p:cNvPr id="95" name="Text 93"/>
          <p:cNvSpPr txBox="1"/>
          <p:nvPr/>
        </p:nvSpPr>
        <p:spPr>
          <a:xfrm>
            <a:off x="5047488"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$643K</a:t>
            </a:r>
            <a:endParaRPr lang="en-US" sz="1300" dirty="0"/>
          </a:p>
        </p:txBody>
      </p:sp>
      <p:sp>
        <p:nvSpPr>
          <p:cNvPr id="96" name="Text 94"/>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7" name="Text 95"/>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98" name="Shape 96"/>
          <p:cNvSpPr/>
          <p:nvPr/>
        </p:nvSpPr>
        <p:spPr>
          <a:xfrm>
            <a:off x="2871216" y="5235720"/>
            <a:ext cx="131586" cy="136676"/>
          </a:xfrm>
          <a:prstGeom prst="rect">
            <a:avLst/>
          </a:prstGeom>
          <a:solidFill>
            <a:srgbClr val="C2352F"/>
          </a:solidFill>
          <a:ln/>
        </p:spPr>
        <p:txBody>
          <a:bodyPr/>
          <a:p/>
        </p:txBody>
      </p:sp>
      <p:sp>
        <p:nvSpPr>
          <p:cNvPr id="99" name="Text 97"/>
          <p:cNvSpPr txBox="1"/>
          <p:nvPr/>
        </p:nvSpPr>
        <p:spPr>
          <a:xfrm>
            <a:off x="3392424"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a:t>
            </a:r>
            <a:endParaRPr lang="en-US" sz="1300" dirty="0"/>
          </a:p>
        </p:txBody>
      </p:sp>
      <p:sp>
        <p:nvSpPr>
          <p:cNvPr id="100" name="Text 98"/>
          <p:cNvSpPr txBox="1"/>
          <p:nvPr/>
        </p:nvSpPr>
        <p:spPr>
          <a:xfrm>
            <a:off x="417880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$63K</a:t>
            </a:r>
            <a:endParaRPr lang="en-US" sz="1300" dirty="0"/>
          </a:p>
        </p:txBody>
      </p:sp>
      <p:sp>
        <p:nvSpPr>
          <p:cNvPr id="101" name="Text 99"/>
          <p:cNvSpPr txBox="1"/>
          <p:nvPr/>
        </p:nvSpPr>
        <p:spPr>
          <a:xfrm>
            <a:off x="5047488"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$702K</a:t>
            </a:r>
            <a:endParaRPr lang="en-US" sz="1300" dirty="0"/>
          </a:p>
        </p:txBody>
      </p:sp>
      <p:sp>
        <p:nvSpPr>
          <p:cNvPr id="102" name="Text 100"/>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3" name="Text 101"/>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04" name="Shape 102"/>
          <p:cNvSpPr/>
          <p:nvPr/>
        </p:nvSpPr>
        <p:spPr>
          <a:xfrm>
            <a:off x="2871216" y="5484222"/>
            <a:ext cx="120839" cy="136676"/>
          </a:xfrm>
          <a:prstGeom prst="rect">
            <a:avLst/>
          </a:prstGeom>
          <a:solidFill>
            <a:srgbClr val="C2352F"/>
          </a:solidFill>
          <a:ln/>
        </p:spPr>
        <p:txBody>
          <a:bodyPr/>
          <a:p/>
        </p:txBody>
      </p:sp>
      <p:sp>
        <p:nvSpPr>
          <p:cNvPr id="105" name="Text 103"/>
          <p:cNvSpPr txBox="1"/>
          <p:nvPr/>
        </p:nvSpPr>
        <p:spPr>
          <a:xfrm>
            <a:off x="3392424"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06" name="Text 104"/>
          <p:cNvSpPr txBox="1"/>
          <p:nvPr/>
        </p:nvSpPr>
        <p:spPr>
          <a:xfrm>
            <a:off x="417880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$102K</a:t>
            </a:r>
            <a:endParaRPr lang="en-US" sz="1300" dirty="0"/>
          </a:p>
        </p:txBody>
      </p:sp>
      <p:sp>
        <p:nvSpPr>
          <p:cNvPr id="107" name="Text 105"/>
          <p:cNvSpPr txBox="1"/>
          <p:nvPr/>
        </p:nvSpPr>
        <p:spPr>
          <a:xfrm>
            <a:off x="5047488"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$1.23M</a:t>
            </a:r>
            <a:endParaRPr lang="en-US" sz="1300" dirty="0"/>
          </a:p>
        </p:txBody>
      </p:sp>
      <p:sp>
        <p:nvSpPr>
          <p:cNvPr id="108" name="Text 106"/>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9" name="Text 107"/>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10" name="Shape 108"/>
          <p:cNvSpPr/>
          <p:nvPr/>
        </p:nvSpPr>
        <p:spPr>
          <a:xfrm>
            <a:off x="2871216" y="5732723"/>
            <a:ext cx="116857" cy="136676"/>
          </a:xfrm>
          <a:prstGeom prst="rect">
            <a:avLst/>
          </a:prstGeom>
          <a:solidFill>
            <a:srgbClr val="C2352F"/>
          </a:solidFill>
          <a:ln/>
        </p:spPr>
        <p:txBody>
          <a:bodyPr/>
          <a:p/>
        </p:txBody>
      </p:sp>
      <p:sp>
        <p:nvSpPr>
          <p:cNvPr id="111" name="Text 109"/>
          <p:cNvSpPr txBox="1"/>
          <p:nvPr/>
        </p:nvSpPr>
        <p:spPr>
          <a:xfrm>
            <a:off x="3392424" y="567681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12" name="Text 110"/>
          <p:cNvSpPr txBox="1"/>
          <p:nvPr/>
        </p:nvSpPr>
        <p:spPr>
          <a:xfrm>
            <a:off x="417880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$21K</a:t>
            </a:r>
            <a:endParaRPr lang="en-US" sz="1300" dirty="0"/>
          </a:p>
        </p:txBody>
      </p:sp>
      <p:sp>
        <p:nvSpPr>
          <p:cNvPr id="113" name="Text 111"/>
          <p:cNvSpPr txBox="1"/>
          <p:nvPr/>
        </p:nvSpPr>
        <p:spPr>
          <a:xfrm>
            <a:off x="5047488" y="567681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$257K</a:t>
            </a:r>
            <a:endParaRPr lang="en-US" sz="1300" dirty="0"/>
          </a:p>
        </p:txBody>
      </p:sp>
      <p:sp>
        <p:nvSpPr>
          <p:cNvPr id="114" name="Text 112"/>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15" name="Text 113"/>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16" name="Shape 114"/>
          <p:cNvSpPr/>
          <p:nvPr/>
        </p:nvSpPr>
        <p:spPr>
          <a:xfrm>
            <a:off x="8421624" y="1756697"/>
            <a:ext cx="116484" cy="136676"/>
          </a:xfrm>
          <a:prstGeom prst="rect">
            <a:avLst/>
          </a:prstGeom>
          <a:solidFill>
            <a:srgbClr val="C2352F"/>
          </a:solidFill>
          <a:ln/>
        </p:spPr>
        <p:txBody>
          <a:bodyPr/>
          <a:p/>
        </p:txBody>
      </p:sp>
      <p:sp>
        <p:nvSpPr>
          <p:cNvPr id="117" name="Text 115"/>
          <p:cNvSpPr txBox="1"/>
          <p:nvPr/>
        </p:nvSpPr>
        <p:spPr>
          <a:xfrm>
            <a:off x="8942832"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18" name="Text 116"/>
          <p:cNvSpPr txBox="1"/>
          <p:nvPr/>
        </p:nvSpPr>
        <p:spPr>
          <a:xfrm>
            <a:off x="972921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$42K</a:t>
            </a:r>
            <a:endParaRPr lang="en-US" sz="1300" dirty="0"/>
          </a:p>
        </p:txBody>
      </p:sp>
      <p:sp>
        <p:nvSpPr>
          <p:cNvPr id="119" name="Text 117"/>
          <p:cNvSpPr txBox="1"/>
          <p:nvPr/>
        </p:nvSpPr>
        <p:spPr>
          <a:xfrm>
            <a:off x="10597896" y="170078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$532K</a:t>
            </a:r>
            <a:endParaRPr lang="en-US" sz="1300" dirty="0"/>
          </a:p>
        </p:txBody>
      </p:sp>
      <p:sp>
        <p:nvSpPr>
          <p:cNvPr id="120" name="Text 118"/>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1" name="Text 119"/>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22" name="Shape 120"/>
          <p:cNvSpPr/>
          <p:nvPr/>
        </p:nvSpPr>
        <p:spPr>
          <a:xfrm>
            <a:off x="8421624" y="2005199"/>
            <a:ext cx="115541" cy="136676"/>
          </a:xfrm>
          <a:prstGeom prst="rect">
            <a:avLst/>
          </a:prstGeom>
          <a:solidFill>
            <a:srgbClr val="C2352F"/>
          </a:solidFill>
          <a:ln/>
        </p:spPr>
        <p:txBody>
          <a:bodyPr/>
          <a:p/>
        </p:txBody>
      </p:sp>
      <p:sp>
        <p:nvSpPr>
          <p:cNvPr id="123" name="Text 121"/>
          <p:cNvSpPr txBox="1"/>
          <p:nvPr/>
        </p:nvSpPr>
        <p:spPr>
          <a:xfrm>
            <a:off x="8942832"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24" name="Text 122"/>
          <p:cNvSpPr txBox="1"/>
          <p:nvPr/>
        </p:nvSpPr>
        <p:spPr>
          <a:xfrm>
            <a:off x="972921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$32K</a:t>
            </a:r>
            <a:endParaRPr lang="en-US" sz="1300" dirty="0"/>
          </a:p>
        </p:txBody>
      </p:sp>
      <p:sp>
        <p:nvSpPr>
          <p:cNvPr id="125" name="Text 123"/>
          <p:cNvSpPr txBox="1"/>
          <p:nvPr/>
        </p:nvSpPr>
        <p:spPr>
          <a:xfrm>
            <a:off x="10597896" y="194928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$400K</a:t>
            </a:r>
            <a:endParaRPr lang="en-US" sz="1300" dirty="0"/>
          </a:p>
        </p:txBody>
      </p:sp>
      <p:sp>
        <p:nvSpPr>
          <p:cNvPr id="126" name="Text 124"/>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7" name="Text 125"/>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8" name="Shape 126"/>
          <p:cNvSpPr/>
          <p:nvPr/>
        </p:nvSpPr>
        <p:spPr>
          <a:xfrm>
            <a:off x="8421624" y="2253700"/>
            <a:ext cx="111161" cy="136676"/>
          </a:xfrm>
          <a:prstGeom prst="rect">
            <a:avLst/>
          </a:prstGeom>
          <a:solidFill>
            <a:srgbClr val="C2352F"/>
          </a:solidFill>
          <a:ln/>
        </p:spPr>
        <p:txBody>
          <a:bodyPr/>
          <a:p/>
        </p:txBody>
      </p:sp>
      <p:sp>
        <p:nvSpPr>
          <p:cNvPr id="129" name="Text 127"/>
          <p:cNvSpPr txBox="1"/>
          <p:nvPr/>
        </p:nvSpPr>
        <p:spPr>
          <a:xfrm>
            <a:off x="8942832"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a:t>
            </a:r>
            <a:endParaRPr lang="en-US" sz="1300" dirty="0"/>
          </a:p>
        </p:txBody>
      </p:sp>
      <p:sp>
        <p:nvSpPr>
          <p:cNvPr id="130" name="Text 128"/>
          <p:cNvSpPr txBox="1"/>
          <p:nvPr/>
        </p:nvSpPr>
        <p:spPr>
          <a:xfrm>
            <a:off x="972921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$24K</a:t>
            </a:r>
            <a:endParaRPr lang="en-US" sz="1300" dirty="0"/>
          </a:p>
        </p:txBody>
      </p:sp>
      <p:sp>
        <p:nvSpPr>
          <p:cNvPr id="131" name="Text 129"/>
          <p:cNvSpPr txBox="1"/>
          <p:nvPr/>
        </p:nvSpPr>
        <p:spPr>
          <a:xfrm>
            <a:off x="10597896" y="219778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$312K</a:t>
            </a:r>
            <a:endParaRPr lang="en-US" sz="1300" dirty="0"/>
          </a:p>
        </p:txBody>
      </p:sp>
      <p:sp>
        <p:nvSpPr>
          <p:cNvPr id="132" name="Text 13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4" name="Shape 132"/>
          <p:cNvSpPr/>
          <p:nvPr/>
        </p:nvSpPr>
        <p:spPr>
          <a:xfrm>
            <a:off x="8421624" y="2502202"/>
            <a:ext cx="84754" cy="136676"/>
          </a:xfrm>
          <a:prstGeom prst="rect">
            <a:avLst/>
          </a:prstGeom>
          <a:solidFill>
            <a:srgbClr val="C2352F"/>
          </a:solidFill>
          <a:ln/>
        </p:spPr>
        <p:txBody>
          <a:bodyPr/>
          <a:p/>
        </p:txBody>
      </p:sp>
      <p:sp>
        <p:nvSpPr>
          <p:cNvPr id="135" name="Text 133"/>
          <p:cNvSpPr txBox="1"/>
          <p:nvPr/>
        </p:nvSpPr>
        <p:spPr>
          <a:xfrm>
            <a:off x="8942832"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a:t>
            </a:r>
            <a:endParaRPr lang="en-US" sz="1300" dirty="0"/>
          </a:p>
        </p:txBody>
      </p:sp>
      <p:sp>
        <p:nvSpPr>
          <p:cNvPr id="136" name="Text 134"/>
          <p:cNvSpPr txBox="1"/>
          <p:nvPr/>
        </p:nvSpPr>
        <p:spPr>
          <a:xfrm>
            <a:off x="972921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$22K</a:t>
            </a:r>
            <a:endParaRPr lang="en-US" sz="1300" dirty="0"/>
          </a:p>
        </p:txBody>
      </p:sp>
      <p:sp>
        <p:nvSpPr>
          <p:cNvPr id="137" name="Text 135"/>
          <p:cNvSpPr txBox="1"/>
          <p:nvPr/>
        </p:nvSpPr>
        <p:spPr>
          <a:xfrm>
            <a:off x="10597896" y="244628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$382K</a:t>
            </a:r>
            <a:endParaRPr lang="en-US" sz="1300" dirty="0"/>
          </a:p>
        </p:txBody>
      </p:sp>
      <p:sp>
        <p:nvSpPr>
          <p:cNvPr id="138" name="Text 136"/>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40" name="Shape 138"/>
          <p:cNvSpPr/>
          <p:nvPr/>
        </p:nvSpPr>
        <p:spPr>
          <a:xfrm>
            <a:off x="8421624" y="2750703"/>
            <a:ext cx="75701" cy="136676"/>
          </a:xfrm>
          <a:prstGeom prst="rect">
            <a:avLst/>
          </a:prstGeom>
          <a:solidFill>
            <a:srgbClr val="C2352F"/>
          </a:solidFill>
          <a:ln/>
        </p:spPr>
        <p:txBody>
          <a:bodyPr/>
          <a:p/>
        </p:txBody>
      </p:sp>
      <p:sp>
        <p:nvSpPr>
          <p:cNvPr id="141" name="Text 139"/>
          <p:cNvSpPr txBox="1"/>
          <p:nvPr/>
        </p:nvSpPr>
        <p:spPr>
          <a:xfrm>
            <a:off x="8942832"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a:t>
            </a:r>
            <a:endParaRPr lang="en-US" sz="1300" dirty="0"/>
          </a:p>
        </p:txBody>
      </p:sp>
      <p:sp>
        <p:nvSpPr>
          <p:cNvPr id="142" name="Text 140"/>
          <p:cNvSpPr txBox="1"/>
          <p:nvPr/>
        </p:nvSpPr>
        <p:spPr>
          <a:xfrm>
            <a:off x="972921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$87K</a:t>
            </a:r>
            <a:endParaRPr lang="en-US" sz="1300" dirty="0"/>
          </a:p>
        </p:txBody>
      </p:sp>
      <p:sp>
        <p:nvSpPr>
          <p:cNvPr id="143" name="Text 141"/>
          <p:cNvSpPr txBox="1"/>
          <p:nvPr/>
        </p:nvSpPr>
        <p:spPr>
          <a:xfrm>
            <a:off x="10597896" y="2694791"/>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$1.69M</a:t>
            </a:r>
            <a:endParaRPr lang="en-US" sz="1300" dirty="0"/>
          </a:p>
        </p:txBody>
      </p:sp>
      <p:sp>
        <p:nvSpPr>
          <p:cNvPr id="144" name="Text 142"/>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5" name="Text 143"/>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46" name="Shape 144"/>
          <p:cNvSpPr/>
          <p:nvPr/>
        </p:nvSpPr>
        <p:spPr>
          <a:xfrm>
            <a:off x="8421624" y="2999205"/>
            <a:ext cx="69750" cy="136676"/>
          </a:xfrm>
          <a:prstGeom prst="rect">
            <a:avLst/>
          </a:prstGeom>
          <a:solidFill>
            <a:srgbClr val="C2352F"/>
          </a:solidFill>
          <a:ln/>
        </p:spPr>
        <p:txBody>
          <a:bodyPr/>
          <a:p/>
        </p:txBody>
      </p:sp>
      <p:sp>
        <p:nvSpPr>
          <p:cNvPr id="147" name="Text 145"/>
          <p:cNvSpPr txBox="1"/>
          <p:nvPr/>
        </p:nvSpPr>
        <p:spPr>
          <a:xfrm>
            <a:off x="8942832"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a:t>
            </a:r>
            <a:endParaRPr lang="en-US" sz="1300" dirty="0"/>
          </a:p>
        </p:txBody>
      </p:sp>
      <p:sp>
        <p:nvSpPr>
          <p:cNvPr id="148" name="Text 146"/>
          <p:cNvSpPr txBox="1"/>
          <p:nvPr/>
        </p:nvSpPr>
        <p:spPr>
          <a:xfrm>
            <a:off x="972921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$25K</a:t>
            </a:r>
            <a:endParaRPr lang="en-US" sz="1300" dirty="0"/>
          </a:p>
        </p:txBody>
      </p:sp>
      <p:sp>
        <p:nvSpPr>
          <p:cNvPr id="149" name="Text 147"/>
          <p:cNvSpPr txBox="1"/>
          <p:nvPr/>
        </p:nvSpPr>
        <p:spPr>
          <a:xfrm>
            <a:off x="10597896" y="294329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$516K</a:t>
            </a:r>
            <a:endParaRPr lang="en-US" sz="1300" dirty="0"/>
          </a:p>
        </p:txBody>
      </p:sp>
      <p:sp>
        <p:nvSpPr>
          <p:cNvPr id="150" name="Text 148"/>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1" name="Text 149"/>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52" name="Shape 150"/>
          <p:cNvSpPr/>
          <p:nvPr/>
        </p:nvSpPr>
        <p:spPr>
          <a:xfrm>
            <a:off x="8421624" y="3247707"/>
            <a:ext cx="61333" cy="136676"/>
          </a:xfrm>
          <a:prstGeom prst="rect">
            <a:avLst/>
          </a:prstGeom>
          <a:solidFill>
            <a:srgbClr val="C2352F"/>
          </a:solidFill>
          <a:ln/>
        </p:spPr>
        <p:txBody>
          <a:bodyPr/>
          <a:p/>
        </p:txBody>
      </p:sp>
      <p:sp>
        <p:nvSpPr>
          <p:cNvPr id="153" name="Text 151"/>
          <p:cNvSpPr txBox="1"/>
          <p:nvPr/>
        </p:nvSpPr>
        <p:spPr>
          <a:xfrm>
            <a:off x="8942832"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a:t>
            </a:r>
            <a:endParaRPr lang="en-US" sz="1300" dirty="0"/>
          </a:p>
        </p:txBody>
      </p:sp>
      <p:sp>
        <p:nvSpPr>
          <p:cNvPr id="154" name="Text 152"/>
          <p:cNvSpPr txBox="1"/>
          <p:nvPr/>
        </p:nvSpPr>
        <p:spPr>
          <a:xfrm>
            <a:off x="972921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$15K</a:t>
            </a:r>
            <a:endParaRPr lang="en-US" sz="1300" dirty="0"/>
          </a:p>
        </p:txBody>
      </p:sp>
      <p:sp>
        <p:nvSpPr>
          <p:cNvPr id="155" name="Text 153"/>
          <p:cNvSpPr txBox="1"/>
          <p:nvPr/>
        </p:nvSpPr>
        <p:spPr>
          <a:xfrm>
            <a:off x="10597896" y="319179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$357K</a:t>
            </a:r>
            <a:endParaRPr lang="en-US" sz="1300" dirty="0"/>
          </a:p>
        </p:txBody>
      </p:sp>
      <p:sp>
        <p:nvSpPr>
          <p:cNvPr id="156" name="Text 154"/>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57" name="Text 155"/>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58" name="Shape 156"/>
          <p:cNvSpPr/>
          <p:nvPr/>
        </p:nvSpPr>
        <p:spPr>
          <a:xfrm>
            <a:off x="8421624" y="3496208"/>
            <a:ext cx="59486" cy="136676"/>
          </a:xfrm>
          <a:prstGeom prst="rect">
            <a:avLst/>
          </a:prstGeom>
          <a:solidFill>
            <a:srgbClr val="C2352F"/>
          </a:solidFill>
          <a:ln/>
        </p:spPr>
        <p:txBody>
          <a:bodyPr/>
          <a:p/>
        </p:txBody>
      </p:sp>
      <p:sp>
        <p:nvSpPr>
          <p:cNvPr id="159" name="Text 157"/>
          <p:cNvSpPr txBox="1"/>
          <p:nvPr/>
        </p:nvSpPr>
        <p:spPr>
          <a:xfrm>
            <a:off x="8942832"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a:t>
            </a:r>
            <a:endParaRPr lang="en-US" sz="1300" dirty="0"/>
          </a:p>
        </p:txBody>
      </p:sp>
      <p:sp>
        <p:nvSpPr>
          <p:cNvPr id="160" name="Text 158"/>
          <p:cNvSpPr txBox="1"/>
          <p:nvPr/>
        </p:nvSpPr>
        <p:spPr>
          <a:xfrm>
            <a:off x="972921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$44K</a:t>
            </a:r>
            <a:endParaRPr lang="en-US" sz="1300" dirty="0"/>
          </a:p>
        </p:txBody>
      </p:sp>
      <p:sp>
        <p:nvSpPr>
          <p:cNvPr id="161" name="Text 159"/>
          <p:cNvSpPr txBox="1"/>
          <p:nvPr/>
        </p:nvSpPr>
        <p:spPr>
          <a:xfrm>
            <a:off x="10597896" y="3440296"/>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$1.07M</a:t>
            </a:r>
            <a:endParaRPr lang="en-US" sz="1300" dirty="0"/>
          </a:p>
        </p:txBody>
      </p:sp>
      <p:sp>
        <p:nvSpPr>
          <p:cNvPr id="162" name="Text 160"/>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3" name="Text 161"/>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64" name="Shape 162"/>
          <p:cNvSpPr/>
          <p:nvPr/>
        </p:nvSpPr>
        <p:spPr>
          <a:xfrm>
            <a:off x="8421624" y="3744710"/>
            <a:ext cx="58291" cy="136676"/>
          </a:xfrm>
          <a:prstGeom prst="rect">
            <a:avLst/>
          </a:prstGeom>
          <a:solidFill>
            <a:srgbClr val="C2352F"/>
          </a:solidFill>
          <a:ln/>
        </p:spPr>
        <p:txBody>
          <a:bodyPr/>
          <a:p/>
        </p:txBody>
      </p:sp>
      <p:sp>
        <p:nvSpPr>
          <p:cNvPr id="165" name="Text 163"/>
          <p:cNvSpPr txBox="1"/>
          <p:nvPr/>
        </p:nvSpPr>
        <p:spPr>
          <a:xfrm>
            <a:off x="8942832"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a:t>
            </a:r>
            <a:endParaRPr lang="en-US" sz="1300" dirty="0"/>
          </a:p>
        </p:txBody>
      </p:sp>
      <p:sp>
        <p:nvSpPr>
          <p:cNvPr id="166" name="Text 164"/>
          <p:cNvSpPr txBox="1"/>
          <p:nvPr/>
        </p:nvSpPr>
        <p:spPr>
          <a:xfrm>
            <a:off x="972921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$20K</a:t>
            </a:r>
            <a:endParaRPr lang="en-US" sz="1300" dirty="0"/>
          </a:p>
        </p:txBody>
      </p:sp>
      <p:sp>
        <p:nvSpPr>
          <p:cNvPr id="167" name="Text 165"/>
          <p:cNvSpPr txBox="1"/>
          <p:nvPr/>
        </p:nvSpPr>
        <p:spPr>
          <a:xfrm>
            <a:off x="10597896" y="368879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$504K</a:t>
            </a:r>
            <a:endParaRPr lang="en-US" sz="1300" dirty="0"/>
          </a:p>
        </p:txBody>
      </p:sp>
      <p:sp>
        <p:nvSpPr>
          <p:cNvPr id="168" name="Text 166"/>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69" name="Text 167"/>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70" name="Shape 168"/>
          <p:cNvSpPr/>
          <p:nvPr/>
        </p:nvSpPr>
        <p:spPr>
          <a:xfrm>
            <a:off x="8421624" y="3993212"/>
            <a:ext cx="42032" cy="136676"/>
          </a:xfrm>
          <a:prstGeom prst="rect">
            <a:avLst/>
          </a:prstGeom>
          <a:solidFill>
            <a:srgbClr val="C2352F"/>
          </a:solidFill>
          <a:ln/>
        </p:spPr>
        <p:txBody>
          <a:bodyPr/>
          <a:p/>
        </p:txBody>
      </p:sp>
      <p:sp>
        <p:nvSpPr>
          <p:cNvPr id="171" name="Text 169"/>
          <p:cNvSpPr txBox="1"/>
          <p:nvPr/>
        </p:nvSpPr>
        <p:spPr>
          <a:xfrm>
            <a:off x="8942832"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a:t>
            </a:r>
            <a:endParaRPr lang="en-US" sz="1300" dirty="0"/>
          </a:p>
        </p:txBody>
      </p:sp>
      <p:sp>
        <p:nvSpPr>
          <p:cNvPr id="172" name="Text 170"/>
          <p:cNvSpPr txBox="1"/>
          <p:nvPr/>
        </p:nvSpPr>
        <p:spPr>
          <a:xfrm>
            <a:off x="972921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$70K</a:t>
            </a:r>
            <a:endParaRPr lang="en-US" sz="1300" dirty="0"/>
          </a:p>
        </p:txBody>
      </p:sp>
      <p:sp>
        <p:nvSpPr>
          <p:cNvPr id="173" name="Text 171"/>
          <p:cNvSpPr txBox="1"/>
          <p:nvPr/>
        </p:nvSpPr>
        <p:spPr>
          <a:xfrm>
            <a:off x="10597896" y="393729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$2.44M</a:t>
            </a:r>
            <a:endParaRPr lang="en-US" sz="1300" dirty="0"/>
          </a:p>
        </p:txBody>
      </p:sp>
      <p:sp>
        <p:nvSpPr>
          <p:cNvPr id="174" name="Text 172"/>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75" name="Text 173"/>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76" name="Shape 174"/>
          <p:cNvSpPr/>
          <p:nvPr/>
        </p:nvSpPr>
        <p:spPr>
          <a:xfrm>
            <a:off x="8421624" y="4241713"/>
            <a:ext cx="38916" cy="136676"/>
          </a:xfrm>
          <a:prstGeom prst="rect">
            <a:avLst/>
          </a:prstGeom>
          <a:solidFill>
            <a:srgbClr val="C2352F"/>
          </a:solidFill>
          <a:ln/>
        </p:spPr>
        <p:txBody>
          <a:bodyPr/>
          <a:p/>
        </p:txBody>
      </p:sp>
      <p:sp>
        <p:nvSpPr>
          <p:cNvPr id="177" name="Text 175"/>
          <p:cNvSpPr txBox="1"/>
          <p:nvPr/>
        </p:nvSpPr>
        <p:spPr>
          <a:xfrm>
            <a:off x="8942832"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a:t>
            </a:r>
            <a:endParaRPr lang="en-US" sz="1300" dirty="0"/>
          </a:p>
        </p:txBody>
      </p:sp>
      <p:sp>
        <p:nvSpPr>
          <p:cNvPr id="178" name="Text 176"/>
          <p:cNvSpPr txBox="1"/>
          <p:nvPr/>
        </p:nvSpPr>
        <p:spPr>
          <a:xfrm>
            <a:off x="972921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$9K</a:t>
            </a:r>
            <a:endParaRPr lang="en-US" sz="1300" dirty="0"/>
          </a:p>
        </p:txBody>
      </p:sp>
      <p:sp>
        <p:nvSpPr>
          <p:cNvPr id="179" name="Text 177"/>
          <p:cNvSpPr txBox="1"/>
          <p:nvPr/>
        </p:nvSpPr>
        <p:spPr>
          <a:xfrm>
            <a:off x="10597896" y="4185800"/>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$322K</a:t>
            </a:r>
            <a:endParaRPr lang="en-US" sz="1300" dirty="0"/>
          </a:p>
        </p:txBody>
      </p:sp>
      <p:sp>
        <p:nvSpPr>
          <p:cNvPr id="180" name="Text 178"/>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1" name="Text 179"/>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82" name="Shape 180"/>
          <p:cNvSpPr/>
          <p:nvPr/>
        </p:nvSpPr>
        <p:spPr>
          <a:xfrm>
            <a:off x="8421624" y="4490215"/>
            <a:ext cx="28242" cy="136676"/>
          </a:xfrm>
          <a:prstGeom prst="rect">
            <a:avLst/>
          </a:prstGeom>
          <a:solidFill>
            <a:srgbClr val="C2352F"/>
          </a:solidFill>
          <a:ln/>
        </p:spPr>
        <p:txBody>
          <a:bodyPr/>
          <a:p/>
        </p:txBody>
      </p:sp>
      <p:sp>
        <p:nvSpPr>
          <p:cNvPr id="183" name="Text 181"/>
          <p:cNvSpPr txBox="1"/>
          <p:nvPr/>
        </p:nvSpPr>
        <p:spPr>
          <a:xfrm>
            <a:off x="8942832"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a:t>
            </a:r>
            <a:endParaRPr lang="en-US" sz="1300" dirty="0"/>
          </a:p>
        </p:txBody>
      </p:sp>
      <p:sp>
        <p:nvSpPr>
          <p:cNvPr id="184" name="Text 182"/>
          <p:cNvSpPr txBox="1"/>
          <p:nvPr/>
        </p:nvSpPr>
        <p:spPr>
          <a:xfrm>
            <a:off x="972921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$10K</a:t>
            </a:r>
            <a:endParaRPr lang="en-US" sz="1300" dirty="0"/>
          </a:p>
        </p:txBody>
      </p:sp>
      <p:sp>
        <p:nvSpPr>
          <p:cNvPr id="185" name="Text 183"/>
          <p:cNvSpPr txBox="1"/>
          <p:nvPr/>
        </p:nvSpPr>
        <p:spPr>
          <a:xfrm>
            <a:off x="10597896" y="4434302"/>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$542K</a:t>
            </a:r>
            <a:endParaRPr lang="en-US" sz="1300" dirty="0"/>
          </a:p>
        </p:txBody>
      </p:sp>
      <p:sp>
        <p:nvSpPr>
          <p:cNvPr id="186" name="Text 184"/>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87" name="Text 185"/>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88" name="Shape 186"/>
          <p:cNvSpPr/>
          <p:nvPr/>
        </p:nvSpPr>
        <p:spPr>
          <a:xfrm>
            <a:off x="8421624" y="4738717"/>
            <a:ext cx="27287" cy="136676"/>
          </a:xfrm>
          <a:prstGeom prst="rect">
            <a:avLst/>
          </a:prstGeom>
          <a:solidFill>
            <a:srgbClr val="C2352F"/>
          </a:solidFill>
          <a:ln/>
        </p:spPr>
        <p:txBody>
          <a:bodyPr/>
          <a:p/>
        </p:txBody>
      </p:sp>
      <p:sp>
        <p:nvSpPr>
          <p:cNvPr id="189" name="Text 187"/>
          <p:cNvSpPr txBox="1"/>
          <p:nvPr/>
        </p:nvSpPr>
        <p:spPr>
          <a:xfrm>
            <a:off x="8942832"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a:t>
            </a:r>
            <a:endParaRPr lang="en-US" sz="1300" dirty="0"/>
          </a:p>
        </p:txBody>
      </p:sp>
      <p:sp>
        <p:nvSpPr>
          <p:cNvPr id="190" name="Text 188"/>
          <p:cNvSpPr txBox="1"/>
          <p:nvPr/>
        </p:nvSpPr>
        <p:spPr>
          <a:xfrm>
            <a:off x="972921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$11K</a:t>
            </a:r>
            <a:endParaRPr lang="en-US" sz="1300" dirty="0"/>
          </a:p>
        </p:txBody>
      </p:sp>
      <p:sp>
        <p:nvSpPr>
          <p:cNvPr id="191" name="Text 189"/>
          <p:cNvSpPr txBox="1"/>
          <p:nvPr/>
        </p:nvSpPr>
        <p:spPr>
          <a:xfrm>
            <a:off x="10597896" y="4682804"/>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$609K</a:t>
            </a:r>
            <a:endParaRPr lang="en-US" sz="1300" dirty="0"/>
          </a:p>
        </p:txBody>
      </p:sp>
      <p:sp>
        <p:nvSpPr>
          <p:cNvPr id="192" name="Text 19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3" name="Text 191"/>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94" name="Shape 192"/>
          <p:cNvSpPr/>
          <p:nvPr/>
        </p:nvSpPr>
        <p:spPr>
          <a:xfrm>
            <a:off x="8421624" y="4987218"/>
            <a:ext cx="19910" cy="136676"/>
          </a:xfrm>
          <a:prstGeom prst="rect">
            <a:avLst/>
          </a:prstGeom>
          <a:solidFill>
            <a:srgbClr val="C2352F"/>
          </a:solidFill>
          <a:ln/>
        </p:spPr>
        <p:txBody>
          <a:bodyPr/>
          <a:p/>
        </p:txBody>
      </p:sp>
      <p:sp>
        <p:nvSpPr>
          <p:cNvPr id="195" name="Text 193"/>
          <p:cNvSpPr txBox="1"/>
          <p:nvPr/>
        </p:nvSpPr>
        <p:spPr>
          <a:xfrm>
            <a:off x="8942832"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a:t>
            </a:r>
            <a:endParaRPr lang="en-US" sz="1300" dirty="0"/>
          </a:p>
        </p:txBody>
      </p:sp>
      <p:sp>
        <p:nvSpPr>
          <p:cNvPr id="196" name="Text 194"/>
          <p:cNvSpPr txBox="1"/>
          <p:nvPr/>
        </p:nvSpPr>
        <p:spPr>
          <a:xfrm>
            <a:off x="972921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$13K</a:t>
            </a:r>
            <a:endParaRPr lang="en-US" sz="1300" dirty="0"/>
          </a:p>
        </p:txBody>
      </p:sp>
      <p:sp>
        <p:nvSpPr>
          <p:cNvPr id="197" name="Text 195"/>
          <p:cNvSpPr txBox="1"/>
          <p:nvPr/>
        </p:nvSpPr>
        <p:spPr>
          <a:xfrm>
            <a:off x="10597896" y="4931305"/>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$949K</a:t>
            </a:r>
            <a:endParaRPr lang="en-US" sz="1300" dirty="0"/>
          </a:p>
        </p:txBody>
      </p:sp>
      <p:sp>
        <p:nvSpPr>
          <p:cNvPr id="198" name="Text 196"/>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99" name="Text 197"/>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200" name="Shape 198"/>
          <p:cNvSpPr/>
          <p:nvPr/>
        </p:nvSpPr>
        <p:spPr>
          <a:xfrm>
            <a:off x="8421624" y="5235720"/>
            <a:ext cx="18288" cy="136676"/>
          </a:xfrm>
          <a:prstGeom prst="rect">
            <a:avLst/>
          </a:prstGeom>
          <a:solidFill>
            <a:srgbClr val="C2352F"/>
          </a:solidFill>
          <a:ln/>
        </p:spPr>
        <p:txBody>
          <a:bodyPr/>
          <a:p/>
        </p:txBody>
      </p:sp>
      <p:sp>
        <p:nvSpPr>
          <p:cNvPr id="201" name="Text 199"/>
          <p:cNvSpPr txBox="1"/>
          <p:nvPr/>
        </p:nvSpPr>
        <p:spPr>
          <a:xfrm>
            <a:off x="8942832"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a:t>
            </a:r>
            <a:endParaRPr lang="en-US" sz="1300" dirty="0"/>
          </a:p>
        </p:txBody>
      </p:sp>
      <p:sp>
        <p:nvSpPr>
          <p:cNvPr id="202" name="Text 200"/>
          <p:cNvSpPr txBox="1"/>
          <p:nvPr/>
        </p:nvSpPr>
        <p:spPr>
          <a:xfrm>
            <a:off x="972921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$13K</a:t>
            </a:r>
            <a:endParaRPr lang="en-US" sz="1300" dirty="0"/>
          </a:p>
        </p:txBody>
      </p:sp>
      <p:sp>
        <p:nvSpPr>
          <p:cNvPr id="203" name="Text 201"/>
          <p:cNvSpPr txBox="1"/>
          <p:nvPr/>
        </p:nvSpPr>
        <p:spPr>
          <a:xfrm>
            <a:off x="10597896" y="5179807"/>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$1.54M</a:t>
            </a:r>
            <a:endParaRPr lang="en-US" sz="1300" dirty="0"/>
          </a:p>
        </p:txBody>
      </p:sp>
      <p:sp>
        <p:nvSpPr>
          <p:cNvPr id="204" name="Text 202"/>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05" name="Text 203"/>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206" name="Shape 204"/>
          <p:cNvSpPr/>
          <p:nvPr/>
        </p:nvSpPr>
        <p:spPr>
          <a:xfrm>
            <a:off x="8421624" y="5484222"/>
            <a:ext cx="18288" cy="136676"/>
          </a:xfrm>
          <a:prstGeom prst="rect">
            <a:avLst/>
          </a:prstGeom>
          <a:solidFill>
            <a:srgbClr val="C2352F"/>
          </a:solidFill>
          <a:ln/>
        </p:spPr>
        <p:txBody>
          <a:bodyPr/>
          <a:p/>
        </p:txBody>
      </p:sp>
      <p:sp>
        <p:nvSpPr>
          <p:cNvPr id="207" name="Text 205"/>
          <p:cNvSpPr txBox="1"/>
          <p:nvPr/>
        </p:nvSpPr>
        <p:spPr>
          <a:xfrm>
            <a:off x="8942832"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0%</a:t>
            </a:r>
            <a:endParaRPr lang="en-US" sz="1300" dirty="0"/>
          </a:p>
        </p:txBody>
      </p:sp>
      <p:sp>
        <p:nvSpPr>
          <p:cNvPr id="208" name="Text 206"/>
          <p:cNvSpPr txBox="1"/>
          <p:nvPr/>
        </p:nvSpPr>
        <p:spPr>
          <a:xfrm>
            <a:off x="972921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$1K</a:t>
            </a:r>
            <a:endParaRPr lang="en-US" sz="1300" dirty="0"/>
          </a:p>
        </p:txBody>
      </p:sp>
      <p:sp>
        <p:nvSpPr>
          <p:cNvPr id="209" name="Text 207"/>
          <p:cNvSpPr txBox="1"/>
          <p:nvPr/>
        </p:nvSpPr>
        <p:spPr>
          <a:xfrm>
            <a:off x="10597896" y="5428309"/>
            <a:ext cx="868680"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$453K</a:t>
            </a:r>
            <a:endParaRPr lang="en-US" sz="1300" dirty="0"/>
          </a:p>
        </p:txBody>
      </p:sp>
      <p:sp>
        <p:nvSpPr>
          <p:cNvPr id="210" name="Shape 208"/>
          <p:cNvSpPr/>
          <p:nvPr/>
        </p:nvSpPr>
        <p:spPr>
          <a:xfrm>
            <a:off x="6085332" y="1700784"/>
            <a:ext cx="10973" cy="4224528"/>
          </a:xfrm>
          <a:prstGeom prst="rect">
            <a:avLst/>
          </a:prstGeom>
          <a:solidFill>
            <a:srgbClr val="D9D9D9"/>
          </a:solidFill>
          <a:ln/>
        </p:spPr>
        <p:txBody>
          <a:bodyPr/>
          <a:p/>
        </p:txBody>
      </p:sp>
      <p:sp>
        <p:nvSpPr>
          <p:cNvPr id="211" name="Shape 209"/>
          <p:cNvSpPr/>
          <p:nvPr/>
        </p:nvSpPr>
        <p:spPr>
          <a:xfrm>
            <a:off x="457200" y="6126480"/>
            <a:ext cx="11274552" cy="615696"/>
          </a:xfrm>
          <a:prstGeom prst="rect">
            <a:avLst/>
          </a:prstGeom>
          <a:solidFill>
            <a:srgbClr val="FBEBEA"/>
          </a:solidFill>
          <a:ln/>
        </p:spPr>
        <p:txBody>
          <a:bodyPr/>
          <a:p/>
        </p:txBody>
      </p:sp>
      <p:sp>
        <p:nvSpPr>
          <p:cNvPr id="212" name="Text 21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Group-wide the gap is 8.1% of RO gross. 5 stores are missing a fifth or more, led by Hyundai St George at 32% ($88K of $277K a month).</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2026-10-26T20:24:03Z</dcterms:created>
  <dcterms:modified xsi:type="dcterms:W3CDTF">2026-10-26T20:24:03Z</dcterms:modified>
</cp:coreProperties>
</file>