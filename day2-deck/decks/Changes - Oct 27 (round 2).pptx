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1.xml" ContentType="application/vnd.openxmlformats-officedocument.presentationml.notesSlide+xml"/>
  <Override PartName="/ppt/notesSlides/notesSlide105.xml" ContentType="application/vnd.openxmlformats-officedocument.presentationml.notesSlide+xml"/>
  <Override PartName="/ppt/notesSlides/notesSlide109.xml" ContentType="application/vnd.openxmlformats-officedocument.presentationml.notesSlide+xml"/>
  <Override PartName="/ppt/notesSlides/notesSlide1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4.xml" ContentType="application/vnd.openxmlformats-officedocument.presentationml.slide+xml"/>
  <Override PartName="/ppt/slides/slide108.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56" r:id="rId107"/>
    <p:sldId id="360" r:id="rId111"/>
    <p:sldId id="364" r:id="rId115"/>
    <p:sldId id="368" r:id="rId119"/>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07" Type="http://schemas.openxmlformats.org/officeDocument/2006/relationships/slide" Target="slides/slide96.xml"/><Relationship Id="rId111" Type="http://schemas.openxmlformats.org/officeDocument/2006/relationships/slide" Target="slides/slide100.xml"/><Relationship Id="rId115" Type="http://schemas.openxmlformats.org/officeDocument/2006/relationships/slide" Target="slides/slide104.xml"/><Relationship Id="rId119" Type="http://schemas.openxmlformats.org/officeDocument/2006/relationships/slide" Target="slides/slide10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Alignment: every store, gross Jan-Sep 2026 above (+) or below (-) the benchmark at the store's own gross per service; group gross per service $129. Rate = Jan-Sep closing %; green / red bar = top / bottom three by rate. Opcodes = opcodes Jan-Sep above (+) or below (-) the benchmark (benchmark x CP ROs vs services sold).Near-zero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TOYOTA SPOKANE: 4.2%, −1,867 opcodes, −$169K Jan-Sep at $90/service</a:t>
            </a:r>
          </a:p>
          <a:p>
            <a:r>
              <a:t>TOYOTA FLAGSTAFF: 9.7%, −799 opcodes, −$67K Jan-Sep at $84/service</a:t>
            </a:r>
          </a:p>
          <a:p>
            <a:r>
              <a:t>NISSAN: 7.4%, −525 opcodes, −$62K Jan-Sep at $119/service</a:t>
            </a:r>
          </a:p>
          <a:p>
            <a:r>
              <a:t>KIA LV: 9.7%, −426 opcodes, −$58K Jan-Sep at $135/service</a:t>
            </a:r>
          </a:p>
          <a:p>
            <a:r>
              <a:t>CHEVY LV: 12.8%, −417 opcodes, −$57K Jan-Sep at $136/service</a:t>
            </a:r>
          </a:p>
          <a:p>
            <a:r>
              <a:t>CDJR POST FALLS: 4.2%, −578 opcodes, −$43K Jan-Sep at $74/service</a:t>
            </a:r>
          </a:p>
          <a:p>
            <a:r>
              <a:t>TOYOTA PRESCOTT: 12.3%, −359 opcodes, −$37K Jan-Sep at $103/service</a:t>
            </a:r>
          </a:p>
          <a:p>
            <a:r>
              <a:t>KIA ST GEORGE: 8.0%, −274 opcodes, −$29K Jan-Sep at $105/service</a:t>
            </a:r>
          </a:p>
          <a:p>
            <a:r>
              <a:t>HONDA SPOKANE: 12.5%, −221 opcodes, −$27K Jan-Sep at $124/service</a:t>
            </a:r>
          </a:p>
          <a:p>
            <a:r>
              <a:t>AUDI RENO: 11.8%, −112 opcodes, −$26K Jan-Sep at $230/service</a:t>
            </a:r>
          </a:p>
          <a:p>
            <a:r>
              <a:t>TOYOTA HENDERSON: 14.5%, −245 opcodes, −$25K Jan-Sep at $102/service</a:t>
            </a:r>
          </a:p>
          <a:p>
            <a:r>
              <a:t>LEXUS: 11.3%, −166 opcodes, −$24K Jan-Sep at $147/service</a:t>
            </a:r>
          </a:p>
          <a:p>
            <a:r>
              <a:t>LINCOLN: 8.4%, −173 opcodes, −$20K Jan-Sep at $114/service</a:t>
            </a:r>
          </a:p>
          <a:p>
            <a:r>
              <a:t>CHEVY GMC BULLHEAD: 11.1%, −243 opcodes, −$19K Jan-Sep at $78/service</a:t>
            </a:r>
          </a:p>
          <a:p>
            <a:r>
              <a:t>VW HENDERSON: 13.6%, −72 opcodes, −$18K Jan-Sep at $245/service</a:t>
            </a:r>
          </a:p>
          <a:p>
            <a:r>
              <a:t>SUBARU ST GEORGE: 11.0%, −218 opcodes, −$17K Jan-Sep at $78/service</a:t>
            </a:r>
          </a:p>
          <a:p>
            <a:r>
              <a:t>HONDA FLAGSTAFF: 11.0%, −158 opcodes, −$16K Jan-Sep at $100/service</a:t>
            </a:r>
          </a:p>
          <a:p>
            <a:r>
              <a:t>VW ST GEORGE: 5.6%, −180 opcodes, −$13K Jan-Sep at $74/service</a:t>
            </a:r>
          </a:p>
          <a:p>
            <a:r>
              <a:t>SUBARU PRESCOTT: 12.5%, −124 opcodes, −$9K Jan-Sep at $73/service</a:t>
            </a:r>
          </a:p>
          <a:p>
            <a:r>
              <a:t>GMC PRESCOTT: 11.7%, −101 opcodes, −$9K Jan-Sep at $85/service</a:t>
            </a:r>
          </a:p>
          <a:p>
            <a:r>
              <a:t>LR RENO: 12.8%, −30 opcodes, −$8K Jan-Sep at $259/service (capped; raw $715/service)</a:t>
            </a:r>
          </a:p>
          <a:p>
            <a:r>
              <a:t>SUBARU LV: 14.5%, −63 opcodes, −$7K Jan-Sep at $117/service</a:t>
            </a:r>
          </a:p>
          <a:p>
            <a:r>
              <a:t>CADILLAC: 13.8%, −60 opcodes, −$7K Jan-Sep at $115/service</a:t>
            </a:r>
          </a:p>
          <a:p>
            <a:r>
              <a:t>VOLVO: 13.8%, −38 opcodes, −$5K Jan-Sep at $142/service</a:t>
            </a:r>
          </a:p>
          <a:p>
            <a:r>
              <a:t>HYUNDAI ST GEORGE: 14.8%, −5 opcodes, −$649 Jan-Sep at $121/service</a:t>
            </a:r>
          </a:p>
          <a:p>
            <a:r>
              <a:t>ACURA: 17.5%, +92 opcodes, +$11K Jan-Sep at $117/service</a:t>
            </a:r>
          </a:p>
          <a:p>
            <a:r>
              <a:t>MAZDA: 16.6%, +97 opcodes, +$13K Jan-Sep at $132/service</a:t>
            </a:r>
          </a:p>
          <a:p>
            <a:r>
              <a:t>LR LV: 17.3%, +84 opcodes, +$18K Jan-Sep at $210/service</a:t>
            </a:r>
          </a:p>
          <a:p>
            <a:r>
              <a:t>HONDA NORTH: 16.1%, +179 opcodes, +$20K Jan-Sep at $112/service</a:t>
            </a:r>
          </a:p>
          <a:p>
            <a:r>
              <a:t>LR HENDERSON: 24.4%, +147 opcodes, +$31K Jan-Sep at $209/service</a:t>
            </a:r>
          </a:p>
          <a:p>
            <a:r>
              <a:t>HYUNDAI PRESCOTT: 21.7%, +137 opcodes, +$31K Jan-Sep at $228/service</a:t>
            </a:r>
          </a:p>
          <a:p>
            <a:r>
              <a:t>AUDI HENDERSON: 27.5%, +473 opcodes, +$123K Jan-Sep at $259/service (capped; raw $390/service)</a:t>
            </a:r>
          </a:p>
          <a:p>
            <a:r>
              <a:t>HONDA HENDERSON: 21.3%, +1,422 opcodes, +$171K Jan-Sep at $121/service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Tire Balance: every store, gross Jan-Sep 2026 above (+) or below (-) the benchmark at the store's own gross per service; group gross per service $75. Rate = Jan-Sep closing %; green / red bar = top / bottom three by rate. Gray bar = the manufacturer doesn't call for tire balance at that store (AUDI HENDERSON, AUDI RENO); red = the three lowest after them. Opcodes = opcodes Jan-Sep above (+) or below (-) the benchmark (benchmark x CP ROs vs services sold).Near-zero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TOYOTA SPOKANE: 0.4%, −2,520 opcodes, −$135K Jan-Sep at $53/service</a:t>
            </a:r>
          </a:p>
          <a:p>
            <a:r>
              <a:t>TOYOTA HENDERSON: 11.2%, −2,004 opcodes, −$111K Jan-Sep at $55/service</a:t>
            </a:r>
          </a:p>
          <a:p>
            <a:r>
              <a:t>TOYOTA PRESCOTT: 6.1%, −1,193 opcodes, −$99K Jan-Sep at $83/service</a:t>
            </a:r>
          </a:p>
          <a:p>
            <a:r>
              <a:t>SUBARU ST GEORGE: 3.6%, −628 opcodes, −$94K Jan-Sep at $149/service (capped; raw $247/service)</a:t>
            </a:r>
          </a:p>
          <a:p>
            <a:r>
              <a:t>TOYOTA FLAGSTAFF: 4.9%, −1,523 opcodes, −$82K Jan-Sep at $54/service</a:t>
            </a:r>
          </a:p>
          <a:p>
            <a:r>
              <a:t>CHEVY LV: 7.3%, −1,501 opcodes, −$80K Jan-Sep at $53/service</a:t>
            </a:r>
          </a:p>
          <a:p>
            <a:r>
              <a:t>HONDA SPOKANE: 2.1%, −1,145 opcodes, −$60K Jan-Sep at $52/service</a:t>
            </a:r>
          </a:p>
          <a:p>
            <a:r>
              <a:t>NISSAN: 1.0%, −972 opcodes, −$58K Jan-Sep at $59/service</a:t>
            </a:r>
          </a:p>
          <a:p>
            <a:r>
              <a:t>CDJR POST FALLS: 1.2%, −736 opcodes, −$55K Jan-Sep at $75/service</a:t>
            </a:r>
          </a:p>
          <a:p>
            <a:r>
              <a:t>KIA LV: 5.2%, −794 opcodes, −$54K Jan-Sep at $68/service</a:t>
            </a:r>
          </a:p>
          <a:p>
            <a:r>
              <a:t>LEXUS: 0.0%, −682 opcodes, −$51K Jan-Sep at $75/service (group avg)</a:t>
            </a:r>
          </a:p>
          <a:p>
            <a:r>
              <a:t>SUBARU LV: 10.2%, −682 opcodes, −$51K Jan-Sep at $75/service</a:t>
            </a:r>
          </a:p>
          <a:p>
            <a:r>
              <a:t>AUDI HENDERSON: 0.0%, −566 opcodes, −$42K Jan-Sep at $75/service (group avg)</a:t>
            </a:r>
          </a:p>
          <a:p>
            <a:r>
              <a:t>AUDI RENO: 0.1%, −522 opcodes, −$39K Jan-Sep at $75/service (group avg)</a:t>
            </a:r>
          </a:p>
          <a:p>
            <a:r>
              <a:t>HONDA FLAGSTAFF: 1.3%, −552 opcodes, −$39K Jan-Sep at $70/service</a:t>
            </a:r>
          </a:p>
          <a:p>
            <a:r>
              <a:t>HONDA NORTH: 12.0%, −450 opcodes, −$29K Jan-Sep at $64/service</a:t>
            </a:r>
          </a:p>
          <a:p>
            <a:r>
              <a:t>HYUNDAI ST GEORGE: 1.2%, −461 opcodes, −$27K Jan-Sep at $58/service</a:t>
            </a:r>
          </a:p>
          <a:p>
            <a:r>
              <a:t>LINCOLN: 1.6%, −351 opcodes, −$23K Jan-Sep at $66/service</a:t>
            </a:r>
          </a:p>
          <a:p>
            <a:r>
              <a:t>VW ST GEORGE: 0.4%, −280 opcodes, −$21K Jan-Sep at $75/service (group avg)</a:t>
            </a:r>
          </a:p>
          <a:p>
            <a:r>
              <a:t>VW HENDERSON: 8.2%, −345 opcodes, −$21K Jan-Sep at $60/service</a:t>
            </a:r>
          </a:p>
          <a:p>
            <a:r>
              <a:t>GMC PRESCOTT: 7.7%, −225 opcodes, −$20K Jan-Sep at $90/service</a:t>
            </a:r>
          </a:p>
          <a:p>
            <a:r>
              <a:t>CHEVY GMC BULLHEAD: 9.0%, −372 opcodes, −$16K Jan-Sep at $42/service</a:t>
            </a:r>
          </a:p>
          <a:p>
            <a:r>
              <a:t>KIA ST GEORGE: 7.7%, −285 opcodes, −$14K Jan-Sep at $48/service</a:t>
            </a:r>
          </a:p>
          <a:p>
            <a:r>
              <a:t>CADILLAC: 5.9%, −483 opcodes, −$11K Jan-Sep at $22/service</a:t>
            </a:r>
          </a:p>
          <a:p>
            <a:r>
              <a:t>MAZDA: 13.1%, −103 opcodes, −$8K Jan-Sep at $79/service</a:t>
            </a:r>
          </a:p>
          <a:p>
            <a:r>
              <a:t>VOLVO: 11.7%, −111 opcodes, −$6K Jan-Sep at $51/service</a:t>
            </a:r>
          </a:p>
          <a:p>
            <a:r>
              <a:t>HYUNDAI PRESCOTT: 13.5%, −29 opcodes, −$4K Jan-Sep at $149/service (capped; raw $311/service)</a:t>
            </a:r>
          </a:p>
          <a:p>
            <a:r>
              <a:t>ACURA: 14.1%, −33 opcodes, −$2K Jan-Sep at $64/service</a:t>
            </a:r>
          </a:p>
          <a:p>
            <a:r>
              <a:t>SUBARU PRESCOTT: 14.9%, −1 opcodes, −$26 Jan-Sep at $34/service</a:t>
            </a:r>
          </a:p>
          <a:p>
            <a:r>
              <a:t>LR RENO: 16.9%, +28 opcodes, +$4K Jan-Sep at $149/service (capped; raw $647/service)</a:t>
            </a:r>
          </a:p>
          <a:p>
            <a:r>
              <a:t>LR LV: 16.9%, +70 opcodes, +$10K Jan-Sep at $149/service</a:t>
            </a:r>
          </a:p>
          <a:p>
            <a:r>
              <a:t>LR HENDERSON: 27.0%, +187 opcodes, +$23K Jan-Sep at $122/service</a:t>
            </a:r>
          </a:p>
          <a:p>
            <a:r>
              <a:t>HONDA HENDERSON: 18.4%, +769 opcodes, +$52K Jan-Sep at $68/service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Brake Fluid: every store, gross Jan-Sep 2026 above (+) or below (-) the benchmark at the store's own gross per service; group gross per service $189. Rate = Jan-Sep closing %; green / red bar = top / bottom three by rate. Opcodes = opcodes Jan-Sep above (+) or below (-) the benchmark (benchmark x CP ROs vs services sold).Near-zero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CHEVY LV: 5.7%, −820 opcodes, −$113K Jan-Sep at $138/service</a:t>
            </a:r>
          </a:p>
          <a:p>
            <a:r>
              <a:t>TOYOTA SPOKANE: 7.0%, −513 opcodes, −$60K Jan-Sep at $117/service</a:t>
            </a:r>
          </a:p>
          <a:p>
            <a:r>
              <a:t>AUDI RENO: 1.9%, −283 opcodes, −$58K Jan-Sep at $206/service</a:t>
            </a:r>
          </a:p>
          <a:p>
            <a:r>
              <a:t>AUDI HENDERSON: 2.4%, −285 opcodes, −$56K Jan-Sep at $196/service</a:t>
            </a:r>
          </a:p>
          <a:p>
            <a:r>
              <a:t>HONDA FLAGSTAFF: 3.1%, −275 opcodes, −$51K Jan-Sep at $184/service</a:t>
            </a:r>
          </a:p>
          <a:p>
            <a:r>
              <a:t>CADILLAC: 4.6%, −284 opcodes, −$43K Jan-Sep at $150/service</a:t>
            </a:r>
          </a:p>
          <a:p>
            <a:r>
              <a:t>CDJR POST FALLS: 4.2%, −309 opcodes, −$39K Jan-Sep at $128/service</a:t>
            </a:r>
          </a:p>
          <a:p>
            <a:r>
              <a:t>TOYOTA FLAGSTAFF: 8.0%, −292 opcodes, −$36K Jan-Sep at $123/service</a:t>
            </a:r>
          </a:p>
          <a:p>
            <a:r>
              <a:t>TOYOTA PRESCOTT: 8.4%, −215 opcodes, −$24K Jan-Sep at $112/service</a:t>
            </a:r>
          </a:p>
          <a:p>
            <a:r>
              <a:t>HYUNDAI ST GEORGE: 4.7%, −176 opcodes, −$24K Jan-Sep at $134/service</a:t>
            </a:r>
          </a:p>
          <a:p>
            <a:r>
              <a:t>KIA ST GEORGE: 5.9%, −158 opcodes, −$19K Jan-Sep at $119/service</a:t>
            </a:r>
          </a:p>
          <a:p>
            <a:r>
              <a:t>KIA LV: 8.2%, −140 opcodes, −$17K Jan-Sep at $120/service</a:t>
            </a:r>
          </a:p>
          <a:p>
            <a:r>
              <a:t>CHEVY GMC BULLHEAD: 7.0%, −184 opcodes, −$16K Jan-Sep at $87/service</a:t>
            </a:r>
          </a:p>
          <a:p>
            <a:r>
              <a:t>GMC PRESCOTT: 6.0%, −122 opcodes, −$15K Jan-Sep at $127/service</a:t>
            </a:r>
          </a:p>
          <a:p>
            <a:r>
              <a:t>LR RENO: 7.2%, −39 opcodes, −$15K Jan-Sep at $377/service (capped; raw $1,380/service)</a:t>
            </a:r>
          </a:p>
          <a:p>
            <a:r>
              <a:t>MAZDA: 8.4%, −86 opcodes, −$13K Jan-Sep at $154/service</a:t>
            </a:r>
          </a:p>
          <a:p>
            <a:r>
              <a:t>LEXUS: 8.3%, −74 opcodes, −$11K Jan-Sep at $154/service</a:t>
            </a:r>
          </a:p>
          <a:p>
            <a:r>
              <a:t>VW ST GEORGE: 5.4%, −88 opcodes, −$10K Jan-Sep at $111/service</a:t>
            </a:r>
          </a:p>
          <a:p>
            <a:r>
              <a:t>LINCOLN: 7.5%, −65 opcodes, −$8K Jan-Sep at $126/service</a:t>
            </a:r>
          </a:p>
          <a:p>
            <a:r>
              <a:t>VW HENDERSON: 9.5%, −25 opcodes, −$3K Jan-Sep at $134/service</a:t>
            </a:r>
          </a:p>
          <a:p>
            <a:r>
              <a:t>HYUNDAI PRESCOTT: 9.6%, −7 opcodes, −$2K Jan-Sep at $354/service</a:t>
            </a:r>
          </a:p>
          <a:p>
            <a:r>
              <a:t>HONDA SPOKANE: 10.3%, +30 opcodes, +$4K Jan-Sep at $126/service</a:t>
            </a:r>
          </a:p>
          <a:p>
            <a:r>
              <a:t>TOYOTA HENDERSON: 10.0%, +36 opcodes, +$5K Jan-Sep at $141/service</a:t>
            </a:r>
          </a:p>
          <a:p>
            <a:r>
              <a:t>SUBARU LV: 10.1%, +20 opcodes, +$7K Jan-Sep at $333/service</a:t>
            </a:r>
          </a:p>
          <a:p>
            <a:r>
              <a:t>SUBARU PRESCOTT: 10.6%, +32 opcodes, +$12K Jan-Sep at $377/service (capped; raw $380/service)</a:t>
            </a:r>
          </a:p>
          <a:p>
            <a:r>
              <a:t>ACURA: 12.7%, +100 opcodes, +$15K Jan-Sep at $147/service</a:t>
            </a:r>
          </a:p>
          <a:p>
            <a:r>
              <a:t>SUBARU ST GEORGE: 10.7%, +42 opcodes, +$16K Jan-Sep at $377/service (capped; raw $489/service)</a:t>
            </a:r>
          </a:p>
          <a:p>
            <a:r>
              <a:t>NISSAN: 11.6%, +115 opcodes, +$18K Jan-Sep at $155/service</a:t>
            </a:r>
          </a:p>
          <a:p>
            <a:r>
              <a:t>VOLVO: 11.9%, +65 opcodes, +$24K Jan-Sep at $377/service (capped; raw $538/service)</a:t>
            </a:r>
          </a:p>
          <a:p>
            <a:r>
              <a:t>LR HENDERSON: 14.3%, +67 opcodes, +$25K Jan-Sep at $377/service (capped; raw $709/service)</a:t>
            </a:r>
          </a:p>
          <a:p>
            <a:r>
              <a:t>HONDA NORTH: 12.1%, +316 opcodes, +$51K Jan-Sep at $160/service</a:t>
            </a:r>
          </a:p>
          <a:p>
            <a:r>
              <a:t>LR LV: 20.6%, +372 opcodes, +$141K Jan-Sep at $377/service (capped; raw $424/service)</a:t>
            </a:r>
          </a:p>
          <a:p>
            <a:r>
              <a:t>HONDA HENDERSON: 15.5%, +1,260 opcodes, +$195K Jan-Sep at $155/service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Fuel System Service: every store, gross Jan-Sep 2026 above (+) or below (-) the benchmark at the store's own gross per service; group gross per service $165. Rate = Jan-Sep closing %; green / red bar = top / bottom three by rate. Gray bar = the manufacturer doesn't call for fuel system service at that store (VOLVO, AUDI HENDERSON, VW HENDERSON, AUDI RENO); red = the three lowest after them. Opcodes = opcodes Jan-Sep above (+) or below (-) the benchmark (benchmark x CP ROs vs services sold).Near-zero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CHEVY LV: 5.2%, −439 opcodes, −$107K Jan-Sep at $243/service</a:t>
            </a:r>
          </a:p>
          <a:p>
            <a:r>
              <a:t>TOYOTA HENDERSON: 6.0%, −792 opcodes, −$96K Jan-Sep at $122/service</a:t>
            </a:r>
          </a:p>
          <a:p>
            <a:r>
              <a:t>TOYOTA FLAGSTAFF: 1.6%, −880 opcodes, −$82K Jan-Sep at $93/service</a:t>
            </a:r>
          </a:p>
          <a:p>
            <a:r>
              <a:t>VW HENDERSON: 0.0%, −386 opcodes, −$63K Jan-Sep at $165/service (group avg)</a:t>
            </a:r>
          </a:p>
          <a:p>
            <a:r>
              <a:t>KIA LV: 3.2%, −348 opcodes, −$57K Jan-Sep at $163/service</a:t>
            </a:r>
          </a:p>
          <a:p>
            <a:r>
              <a:t>HONDA SPOKANE: 3.2%, −382 opcodes, −$56K Jan-Sep at $147/service</a:t>
            </a:r>
          </a:p>
          <a:p>
            <a:r>
              <a:t>CHEVY GMC BULLHEAD: 2.7%, −300 opcodes, −$49K Jan-Sep at $163/service</a:t>
            </a:r>
          </a:p>
          <a:p>
            <a:r>
              <a:t>NISSAN: 4.1%, −231 opcodes, −$48K Jan-Sep at $206/service</a:t>
            </a:r>
          </a:p>
          <a:p>
            <a:r>
              <a:t>AUDI HENDERSON: 0.0%, −283 opcodes, −$47K Jan-Sep at $165/service (group avg)</a:t>
            </a:r>
          </a:p>
          <a:p>
            <a:r>
              <a:t>CDJR POST FALLS: 3.0%, −241 opcodes, −$46K Jan-Sep at $192/service</a:t>
            </a:r>
          </a:p>
          <a:p>
            <a:r>
              <a:t>HONDA FLAGSTAFF: 0.7%, −273 opcodes, −$45K Jan-Sep at $165/service (group avg)</a:t>
            </a:r>
          </a:p>
          <a:p>
            <a:r>
              <a:t>TOYOTA SPOKANE: 5.8%, −290 opcodes, −$42K Jan-Sep at $145/service</a:t>
            </a:r>
          </a:p>
          <a:p>
            <a:r>
              <a:t>VOLVO: 0.0%, −255 opcodes, −$42K Jan-Sep at $165/service (group avg)</a:t>
            </a:r>
          </a:p>
          <a:p>
            <a:r>
              <a:t>AUDI RENO: 0.8%, −234 opcodes, −$39K Jan-Sep at $165/service (group avg)</a:t>
            </a:r>
          </a:p>
          <a:p>
            <a:r>
              <a:t>CADILLAC: 5.1%, −128 opcodes, −$34K Jan-Sep at $269/service</a:t>
            </a:r>
          </a:p>
          <a:p>
            <a:r>
              <a:t>LR HENDERSON: 2.5%, −77 opcodes, −$25K Jan-Sep at $329/service (capped; raw $774/service)</a:t>
            </a:r>
          </a:p>
          <a:p>
            <a:r>
              <a:t>VW ST GEORGE: 2.7%, −92 opcodes, −$22K Jan-Sep at $236/service</a:t>
            </a:r>
          </a:p>
          <a:p>
            <a:r>
              <a:t>MAZDA: 5.2%, −131 opcodes, −$20K Jan-Sep at $150/service</a:t>
            </a:r>
          </a:p>
          <a:p>
            <a:r>
              <a:t>LEXUS: 4.2%, −147 opcodes, −$19K Jan-Sep at $128/service</a:t>
            </a:r>
          </a:p>
          <a:p>
            <a:r>
              <a:t>LR LV: 5.5%, −69 opcodes, −$18K Jan-Sep at $258/service</a:t>
            </a:r>
          </a:p>
          <a:p>
            <a:r>
              <a:t>GMC PRESCOTT: 3.6%, −120 opcodes, −$16K Jan-Sep at $133/service</a:t>
            </a:r>
          </a:p>
          <a:p>
            <a:r>
              <a:t>TOYOTA PRESCOTT: 6.4%, −140 opcodes, −$14K Jan-Sep at $101/service</a:t>
            </a:r>
          </a:p>
          <a:p>
            <a:r>
              <a:t>LR RENO: 4.5%, −42 opcodes, −$14K Jan-Sep at $329/service (capped; raw $1,631/service)</a:t>
            </a:r>
          </a:p>
          <a:p>
            <a:r>
              <a:t>HYUNDAI ST GEORGE: 5.8%, −54 opcodes, −$10K Jan-Sep at $176/service</a:t>
            </a:r>
          </a:p>
          <a:p>
            <a:r>
              <a:t>SUBARU LV: 7.0%, −59 opcodes, −$8K Jan-Sep at $130/service</a:t>
            </a:r>
          </a:p>
          <a:p>
            <a:r>
              <a:t>HYUNDAI PRESCOTT: 7.3%, −3 opcodes, −$905 Jan-Sep at $329/service (capped; raw $459/service)</a:t>
            </a:r>
          </a:p>
          <a:p>
            <a:r>
              <a:t>HONDA NORTH: 7.6%, +25 opcodes, +$3K Jan-Sep at $118/service</a:t>
            </a:r>
          </a:p>
          <a:p>
            <a:r>
              <a:t>LINCOLN: 8.2%, +19 opcodes, +$3K Jan-Sep at $175/service</a:t>
            </a:r>
          </a:p>
          <a:p>
            <a:r>
              <a:t>KIA ST GEORGE: 8.9%, +57 opcodes, +$9K Jan-Sep at $154/service</a:t>
            </a:r>
          </a:p>
          <a:p>
            <a:r>
              <a:t>ACURA: 9.3%, +69 opcodes, +$10K Jan-Sep at $145/service</a:t>
            </a:r>
          </a:p>
          <a:p>
            <a:r>
              <a:t>SUBARU PRESCOTT: 9.7%, +117 opcodes, +$39K Jan-Sep at $329/service (capped; raw $406/service)</a:t>
            </a:r>
          </a:p>
          <a:p>
            <a:r>
              <a:t>SUBARU ST GEORGE: 13.8%, +353 opcodes, +$54K Jan-Sep at $153/service</a:t>
            </a:r>
          </a:p>
          <a:p>
            <a:r>
              <a:t>HONDA HENDERSON: 12.0%, +1,024 opcodes, +$138K Jan-Sep at $135/service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Text 4"/>
          <p:cNvSpPr txBox="1"/>
          <p:nvPr/>
        </p:nvSpPr>
        <p:spPr>
          <a:xfrm>
            <a:off x="3401568" y="1316736"/>
            <a:ext cx="10058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440740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8" name="Text 6"/>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9" name="Shape 7"/>
          <p:cNvSpPr/>
          <p:nvPr/>
        </p:nvSpPr>
        <p:spPr>
          <a:xfrm>
            <a:off x="3101770" y="1700784"/>
            <a:ext cx="10973" cy="4224528"/>
          </a:xfrm>
          <a:prstGeom prst="rect">
            <a:avLst/>
          </a:prstGeom>
          <a:solidFill>
            <a:srgbClr val="9AA3AD"/>
          </a:solidFill>
          <a:ln/>
        </p:spPr>
        <p:txBody>
          <a:bodyPr/>
          <a:p/>
        </p:txBody>
      </p:sp>
      <p:sp>
        <p:nvSpPr>
          <p:cNvPr id="10" name="Text 8"/>
          <p:cNvSpPr txBox="1"/>
          <p:nvPr/>
        </p:nvSpPr>
        <p:spPr>
          <a:xfrm>
            <a:off x="8951976" y="1316736"/>
            <a:ext cx="10058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995781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12" name="Text 10"/>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3" name="Shape 11"/>
          <p:cNvSpPr/>
          <p:nvPr/>
        </p:nvSpPr>
        <p:spPr>
          <a:xfrm>
            <a:off x="8652178" y="1700784"/>
            <a:ext cx="10973" cy="3976026"/>
          </a:xfrm>
          <a:prstGeom prst="rect">
            <a:avLst/>
          </a:prstGeom>
          <a:solidFill>
            <a:srgbClr val="9AA3AD"/>
          </a:solidFill>
          <a:ln/>
        </p:spPr>
        <p:txBody>
          <a:bodyPr/>
          <a:p/>
        </p:txBody>
      </p:sp>
      <p:sp>
        <p:nvSpPr>
          <p:cNvPr id="14" name="Text 12"/>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6" name="Shape 14"/>
          <p:cNvSpPr/>
          <p:nvPr/>
        </p:nvSpPr>
        <p:spPr>
          <a:xfrm>
            <a:off x="3107256" y="1756697"/>
            <a:ext cx="239448" cy="136676"/>
          </a:xfrm>
          <a:prstGeom prst="rect">
            <a:avLst/>
          </a:prstGeom>
          <a:solidFill>
            <a:srgbClr val="12A566"/>
          </a:solidFill>
          <a:ln/>
        </p:spPr>
        <p:txBody>
          <a:bodyPr/>
          <a:p/>
        </p:txBody>
      </p:sp>
      <p:sp>
        <p:nvSpPr>
          <p:cNvPr id="17" name="Text 15"/>
          <p:cNvSpPr txBox="1"/>
          <p:nvPr/>
        </p:nvSpPr>
        <p:spPr>
          <a:xfrm>
            <a:off x="3401568" y="1700784"/>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+$171K</a:t>
            </a:r>
            <a:endParaRPr lang="en-US" sz="1300" dirty="0"/>
          </a:p>
        </p:txBody>
      </p:sp>
      <p:sp>
        <p:nvSpPr>
          <p:cNvPr id="18" name="Text 16"/>
          <p:cNvSpPr txBox="1"/>
          <p:nvPr/>
        </p:nvSpPr>
        <p:spPr>
          <a:xfrm>
            <a:off x="440740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+1,422</a:t>
            </a:r>
            <a:endParaRPr lang="en-US" sz="1300" dirty="0"/>
          </a:p>
        </p:txBody>
      </p:sp>
      <p:sp>
        <p:nvSpPr>
          <p:cNvPr id="19" name="Text 17"/>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21.3%</a:t>
            </a:r>
            <a:endParaRPr lang="en-US" sz="1300" dirty="0"/>
          </a:p>
        </p:txBody>
      </p:sp>
      <p:sp>
        <p:nvSpPr>
          <p:cNvPr id="20" name="Text 18"/>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1" name="Text 19"/>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2" name="Shape 20"/>
          <p:cNvSpPr/>
          <p:nvPr/>
        </p:nvSpPr>
        <p:spPr>
          <a:xfrm>
            <a:off x="3107256" y="2005199"/>
            <a:ext cx="171145" cy="136676"/>
          </a:xfrm>
          <a:prstGeom prst="rect">
            <a:avLst/>
          </a:prstGeom>
          <a:solidFill>
            <a:srgbClr val="12A566"/>
          </a:solidFill>
          <a:ln/>
        </p:spPr>
        <p:txBody>
          <a:bodyPr/>
          <a:p/>
        </p:txBody>
      </p:sp>
      <p:sp>
        <p:nvSpPr>
          <p:cNvPr id="23" name="Text 21"/>
          <p:cNvSpPr txBox="1"/>
          <p:nvPr/>
        </p:nvSpPr>
        <p:spPr>
          <a:xfrm>
            <a:off x="3401568" y="1949286"/>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+$123K</a:t>
            </a:r>
            <a:endParaRPr lang="en-US" sz="1300" dirty="0"/>
          </a:p>
        </p:txBody>
      </p:sp>
      <p:sp>
        <p:nvSpPr>
          <p:cNvPr id="24" name="Text 22"/>
          <p:cNvSpPr txBox="1"/>
          <p:nvPr/>
        </p:nvSpPr>
        <p:spPr>
          <a:xfrm>
            <a:off x="440740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+473</a:t>
            </a:r>
            <a:endParaRPr lang="en-US" sz="1300" dirty="0"/>
          </a:p>
        </p:txBody>
      </p:sp>
      <p:sp>
        <p:nvSpPr>
          <p:cNvPr id="25" name="Text 23"/>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a:t>
            </a:r>
            <a:endParaRPr lang="en-US" sz="1300" dirty="0"/>
          </a:p>
        </p:txBody>
      </p:sp>
      <p:sp>
        <p:nvSpPr>
          <p:cNvPr id="26" name="Shape 24"/>
          <p:cNvSpPr/>
          <p:nvPr/>
        </p:nvSpPr>
        <p:spPr>
          <a:xfrm>
            <a:off x="5971032" y="1995006"/>
            <a:ext cx="54864" cy="157062"/>
          </a:xfrm>
          <a:prstGeom prst="rect">
            <a:avLst/>
          </a:prstGeom>
          <a:solidFill>
            <a:srgbClr val="12A566"/>
          </a:solidFill>
          <a:ln/>
        </p:spPr>
        <p:txBody>
          <a:bodyPr/>
          <a:p/>
        </p:txBody>
      </p:sp>
      <p:sp>
        <p:nvSpPr>
          <p:cNvPr id="27" name="Text 25"/>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8" name="Text 26"/>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29" name="Shape 27"/>
          <p:cNvSpPr/>
          <p:nvPr/>
        </p:nvSpPr>
        <p:spPr>
          <a:xfrm>
            <a:off x="3107256" y="2253700"/>
            <a:ext cx="43486" cy="136676"/>
          </a:xfrm>
          <a:prstGeom prst="rect">
            <a:avLst/>
          </a:prstGeom>
          <a:solidFill>
            <a:srgbClr val="12A566"/>
          </a:solidFill>
          <a:ln/>
        </p:spPr>
        <p:txBody>
          <a:bodyPr/>
          <a:p/>
        </p:txBody>
      </p:sp>
      <p:sp>
        <p:nvSpPr>
          <p:cNvPr id="30" name="Text 28"/>
          <p:cNvSpPr txBox="1"/>
          <p:nvPr/>
        </p:nvSpPr>
        <p:spPr>
          <a:xfrm>
            <a:off x="3401568" y="2197787"/>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+$31K</a:t>
            </a:r>
            <a:endParaRPr lang="en-US" sz="1300" dirty="0"/>
          </a:p>
        </p:txBody>
      </p:sp>
      <p:sp>
        <p:nvSpPr>
          <p:cNvPr id="31" name="Text 29"/>
          <p:cNvSpPr txBox="1"/>
          <p:nvPr/>
        </p:nvSpPr>
        <p:spPr>
          <a:xfrm>
            <a:off x="440740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+137</a:t>
            </a:r>
            <a:endParaRPr lang="en-US" sz="1300" dirty="0"/>
          </a:p>
        </p:txBody>
      </p:sp>
      <p:sp>
        <p:nvSpPr>
          <p:cNvPr id="32" name="Text 30"/>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21.7%</a:t>
            </a:r>
            <a:endParaRPr lang="en-US" sz="1300" dirty="0"/>
          </a:p>
        </p:txBody>
      </p:sp>
      <p:sp>
        <p:nvSpPr>
          <p:cNvPr id="33" name="Shape 31"/>
          <p:cNvSpPr/>
          <p:nvPr/>
        </p:nvSpPr>
        <p:spPr>
          <a:xfrm>
            <a:off x="5971032" y="2243507"/>
            <a:ext cx="54864" cy="157062"/>
          </a:xfrm>
          <a:prstGeom prst="rect">
            <a:avLst/>
          </a:prstGeom>
          <a:solidFill>
            <a:srgbClr val="12A566"/>
          </a:solidFill>
          <a:ln/>
        </p:spPr>
        <p:txBody>
          <a:bodyPr/>
          <a:p/>
        </p:txBody>
      </p:sp>
      <p:sp>
        <p:nvSpPr>
          <p:cNvPr id="34" name="Text 32"/>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5" name="Text 33"/>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6" name="Shape 34"/>
          <p:cNvSpPr/>
          <p:nvPr/>
        </p:nvSpPr>
        <p:spPr>
          <a:xfrm>
            <a:off x="3107256" y="2502202"/>
            <a:ext cx="42955" cy="136676"/>
          </a:xfrm>
          <a:prstGeom prst="rect">
            <a:avLst/>
          </a:prstGeom>
          <a:solidFill>
            <a:srgbClr val="12A566"/>
          </a:solidFill>
          <a:ln/>
        </p:spPr>
        <p:txBody>
          <a:bodyPr/>
          <a:p/>
        </p:txBody>
      </p:sp>
      <p:sp>
        <p:nvSpPr>
          <p:cNvPr id="37" name="Text 35"/>
          <p:cNvSpPr txBox="1"/>
          <p:nvPr/>
        </p:nvSpPr>
        <p:spPr>
          <a:xfrm>
            <a:off x="3401568" y="2446289"/>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+$31K</a:t>
            </a:r>
            <a:endParaRPr lang="en-US" sz="1300" dirty="0"/>
          </a:p>
        </p:txBody>
      </p:sp>
      <p:sp>
        <p:nvSpPr>
          <p:cNvPr id="38" name="Text 36"/>
          <p:cNvSpPr txBox="1"/>
          <p:nvPr/>
        </p:nvSpPr>
        <p:spPr>
          <a:xfrm>
            <a:off x="440740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a:t>
            </a:r>
            <a:endParaRPr lang="en-US" sz="1300" dirty="0"/>
          </a:p>
        </p:txBody>
      </p:sp>
      <p:sp>
        <p:nvSpPr>
          <p:cNvPr id="39" name="Text 37"/>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a:t>
            </a:r>
            <a:endParaRPr lang="en-US" sz="1300" dirty="0"/>
          </a:p>
        </p:txBody>
      </p:sp>
      <p:sp>
        <p:nvSpPr>
          <p:cNvPr id="40" name="Shape 38"/>
          <p:cNvSpPr/>
          <p:nvPr/>
        </p:nvSpPr>
        <p:spPr>
          <a:xfrm>
            <a:off x="5971032" y="2492009"/>
            <a:ext cx="54864" cy="157062"/>
          </a:xfrm>
          <a:prstGeom prst="rect">
            <a:avLst/>
          </a:prstGeom>
          <a:solidFill>
            <a:srgbClr val="12A566"/>
          </a:solidFill>
          <a:ln/>
        </p:spPr>
        <p:txBody>
          <a:bodyPr/>
          <a:p/>
        </p:txBody>
      </p:sp>
      <p:sp>
        <p:nvSpPr>
          <p:cNvPr id="41" name="Text 39"/>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42" name="Text 40"/>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3" name="Shape 41"/>
          <p:cNvSpPr/>
          <p:nvPr/>
        </p:nvSpPr>
        <p:spPr>
          <a:xfrm>
            <a:off x="3107256" y="2750703"/>
            <a:ext cx="28061" cy="136676"/>
          </a:xfrm>
          <a:prstGeom prst="rect">
            <a:avLst/>
          </a:prstGeom>
          <a:solidFill>
            <a:srgbClr val="12A566"/>
          </a:solidFill>
          <a:ln/>
        </p:spPr>
        <p:txBody>
          <a:bodyPr/>
          <a:p/>
        </p:txBody>
      </p:sp>
      <p:sp>
        <p:nvSpPr>
          <p:cNvPr id="44" name="Text 42"/>
          <p:cNvSpPr txBox="1"/>
          <p:nvPr/>
        </p:nvSpPr>
        <p:spPr>
          <a:xfrm>
            <a:off x="3401568" y="2694791"/>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+$20K</a:t>
            </a:r>
            <a:endParaRPr lang="en-US" sz="1300" dirty="0"/>
          </a:p>
        </p:txBody>
      </p:sp>
      <p:sp>
        <p:nvSpPr>
          <p:cNvPr id="45" name="Text 43"/>
          <p:cNvSpPr txBox="1"/>
          <p:nvPr/>
        </p:nvSpPr>
        <p:spPr>
          <a:xfrm>
            <a:off x="440740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a:t>
            </a:r>
            <a:endParaRPr lang="en-US" sz="1300" dirty="0"/>
          </a:p>
        </p:txBody>
      </p:sp>
      <p:sp>
        <p:nvSpPr>
          <p:cNvPr id="46" name="Text 4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a:t>
            </a:r>
            <a:endParaRPr lang="en-US" sz="1300" dirty="0"/>
          </a:p>
        </p:txBody>
      </p:sp>
      <p:sp>
        <p:nvSpPr>
          <p:cNvPr id="47" name="Text 4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8" name="Text 46"/>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49" name="Shape 47"/>
          <p:cNvSpPr/>
          <p:nvPr/>
        </p:nvSpPr>
        <p:spPr>
          <a:xfrm>
            <a:off x="3107256" y="2999205"/>
            <a:ext cx="24562" cy="136676"/>
          </a:xfrm>
          <a:prstGeom prst="rect">
            <a:avLst/>
          </a:prstGeom>
          <a:solidFill>
            <a:srgbClr val="12A566"/>
          </a:solidFill>
          <a:ln/>
        </p:spPr>
        <p:txBody>
          <a:bodyPr/>
          <a:p/>
        </p:txBody>
      </p:sp>
      <p:sp>
        <p:nvSpPr>
          <p:cNvPr id="50" name="Text 48"/>
          <p:cNvSpPr txBox="1"/>
          <p:nvPr/>
        </p:nvSpPr>
        <p:spPr>
          <a:xfrm>
            <a:off x="3401568" y="2943292"/>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+$18K</a:t>
            </a:r>
            <a:endParaRPr lang="en-US" sz="1300" dirty="0"/>
          </a:p>
        </p:txBody>
      </p:sp>
      <p:sp>
        <p:nvSpPr>
          <p:cNvPr id="51" name="Text 49"/>
          <p:cNvSpPr txBox="1"/>
          <p:nvPr/>
        </p:nvSpPr>
        <p:spPr>
          <a:xfrm>
            <a:off x="440740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52" name="Text 50"/>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17.3%</a:t>
            </a:r>
            <a:endParaRPr lang="en-US" sz="1300" dirty="0"/>
          </a:p>
        </p:txBody>
      </p:sp>
      <p:sp>
        <p:nvSpPr>
          <p:cNvPr id="53" name="Text 51"/>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54" name="Text 52"/>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55" name="Shape 53"/>
          <p:cNvSpPr/>
          <p:nvPr/>
        </p:nvSpPr>
        <p:spPr>
          <a:xfrm>
            <a:off x="3107256" y="3247707"/>
            <a:ext cx="18288" cy="136676"/>
          </a:xfrm>
          <a:prstGeom prst="rect">
            <a:avLst/>
          </a:prstGeom>
          <a:solidFill>
            <a:srgbClr val="12A566"/>
          </a:solidFill>
          <a:ln/>
        </p:spPr>
        <p:txBody>
          <a:bodyPr/>
          <a:p/>
        </p:txBody>
      </p:sp>
      <p:sp>
        <p:nvSpPr>
          <p:cNvPr id="56" name="Text 54"/>
          <p:cNvSpPr txBox="1"/>
          <p:nvPr/>
        </p:nvSpPr>
        <p:spPr>
          <a:xfrm>
            <a:off x="3401568" y="3191794"/>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+$13K</a:t>
            </a:r>
            <a:endParaRPr lang="en-US" sz="1300" dirty="0"/>
          </a:p>
        </p:txBody>
      </p:sp>
      <p:sp>
        <p:nvSpPr>
          <p:cNvPr id="57" name="Text 55"/>
          <p:cNvSpPr txBox="1"/>
          <p:nvPr/>
        </p:nvSpPr>
        <p:spPr>
          <a:xfrm>
            <a:off x="440740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58" name="Text 56"/>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16.6%</a:t>
            </a:r>
            <a:endParaRPr lang="en-US" sz="1300" dirty="0"/>
          </a:p>
        </p:txBody>
      </p:sp>
      <p:sp>
        <p:nvSpPr>
          <p:cNvPr id="59" name="Text 57"/>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60" name="Text 58"/>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61" name="Shape 59"/>
          <p:cNvSpPr/>
          <p:nvPr/>
        </p:nvSpPr>
        <p:spPr>
          <a:xfrm>
            <a:off x="3107256" y="3496208"/>
            <a:ext cx="18288" cy="136676"/>
          </a:xfrm>
          <a:prstGeom prst="rect">
            <a:avLst/>
          </a:prstGeom>
          <a:solidFill>
            <a:srgbClr val="12A566"/>
          </a:solidFill>
          <a:ln/>
        </p:spPr>
        <p:txBody>
          <a:bodyPr/>
          <a:p/>
        </p:txBody>
      </p:sp>
      <p:sp>
        <p:nvSpPr>
          <p:cNvPr id="62" name="Text 60"/>
          <p:cNvSpPr txBox="1"/>
          <p:nvPr/>
        </p:nvSpPr>
        <p:spPr>
          <a:xfrm>
            <a:off x="3401568" y="3440296"/>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+$11K</a:t>
            </a:r>
            <a:endParaRPr lang="en-US" sz="1300" dirty="0"/>
          </a:p>
        </p:txBody>
      </p:sp>
      <p:sp>
        <p:nvSpPr>
          <p:cNvPr id="63" name="Text 61"/>
          <p:cNvSpPr txBox="1"/>
          <p:nvPr/>
        </p:nvSpPr>
        <p:spPr>
          <a:xfrm>
            <a:off x="440740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a:t>
            </a:r>
            <a:endParaRPr lang="en-US" sz="1300" dirty="0"/>
          </a:p>
        </p:txBody>
      </p:sp>
      <p:sp>
        <p:nvSpPr>
          <p:cNvPr id="64" name="Text 62"/>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a:t>
            </a:r>
            <a:endParaRPr lang="en-US" sz="1300" dirty="0"/>
          </a:p>
        </p:txBody>
      </p:sp>
      <p:sp>
        <p:nvSpPr>
          <p:cNvPr id="65" name="Text 63"/>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6" name="Text 64"/>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67" name="Shape 65"/>
          <p:cNvSpPr/>
          <p:nvPr/>
        </p:nvSpPr>
        <p:spPr>
          <a:xfrm>
            <a:off x="3106350" y="3744710"/>
            <a:ext cx="18288" cy="136676"/>
          </a:xfrm>
          <a:prstGeom prst="rect">
            <a:avLst/>
          </a:prstGeom>
          <a:solidFill>
            <a:srgbClr val="C2352F"/>
          </a:solidFill>
          <a:ln/>
        </p:spPr>
        <p:txBody>
          <a:bodyPr/>
          <a:p/>
        </p:txBody>
      </p:sp>
      <p:sp>
        <p:nvSpPr>
          <p:cNvPr id="68" name="Text 66"/>
          <p:cNvSpPr txBox="1"/>
          <p:nvPr/>
        </p:nvSpPr>
        <p:spPr>
          <a:xfrm>
            <a:off x="3401568" y="368879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−$649</a:t>
            </a:r>
            <a:endParaRPr lang="en-US" sz="1300" dirty="0"/>
          </a:p>
        </p:txBody>
      </p:sp>
      <p:sp>
        <p:nvSpPr>
          <p:cNvPr id="69" name="Text 67"/>
          <p:cNvSpPr txBox="1"/>
          <p:nvPr/>
        </p:nvSpPr>
        <p:spPr>
          <a:xfrm>
            <a:off x="440740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a:t>
            </a:r>
            <a:endParaRPr lang="en-US" sz="1300" dirty="0"/>
          </a:p>
        </p:txBody>
      </p:sp>
      <p:sp>
        <p:nvSpPr>
          <p:cNvPr id="70" name="Text 68"/>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a:t>
            </a:r>
            <a:endParaRPr lang="en-US" sz="1300" dirty="0"/>
          </a:p>
        </p:txBody>
      </p:sp>
      <p:sp>
        <p:nvSpPr>
          <p:cNvPr id="71" name="Text 69"/>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72" name="Text 70"/>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3" name="Shape 71"/>
          <p:cNvSpPr/>
          <p:nvPr/>
        </p:nvSpPr>
        <p:spPr>
          <a:xfrm>
            <a:off x="3099652" y="3993212"/>
            <a:ext cx="18288" cy="136676"/>
          </a:xfrm>
          <a:prstGeom prst="rect">
            <a:avLst/>
          </a:prstGeom>
          <a:solidFill>
            <a:srgbClr val="C2352F"/>
          </a:solidFill>
          <a:ln/>
        </p:spPr>
        <p:txBody>
          <a:bodyPr/>
          <a:p/>
        </p:txBody>
      </p:sp>
      <p:sp>
        <p:nvSpPr>
          <p:cNvPr id="74" name="Text 72"/>
          <p:cNvSpPr txBox="1"/>
          <p:nvPr/>
        </p:nvSpPr>
        <p:spPr>
          <a:xfrm>
            <a:off x="3401568" y="393729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−$5K</a:t>
            </a:r>
            <a:endParaRPr lang="en-US" sz="1300" dirty="0"/>
          </a:p>
        </p:txBody>
      </p:sp>
      <p:sp>
        <p:nvSpPr>
          <p:cNvPr id="75" name="Text 73"/>
          <p:cNvSpPr txBox="1"/>
          <p:nvPr/>
        </p:nvSpPr>
        <p:spPr>
          <a:xfrm>
            <a:off x="440740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76" name="Text 74"/>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77" name="Text 75"/>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8" name="Text 76"/>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79" name="Shape 77"/>
          <p:cNvSpPr/>
          <p:nvPr/>
        </p:nvSpPr>
        <p:spPr>
          <a:xfrm>
            <a:off x="3097689" y="4241713"/>
            <a:ext cx="18288" cy="136676"/>
          </a:xfrm>
          <a:prstGeom prst="rect">
            <a:avLst/>
          </a:prstGeom>
          <a:solidFill>
            <a:srgbClr val="C2352F"/>
          </a:solidFill>
          <a:ln/>
        </p:spPr>
        <p:txBody>
          <a:bodyPr/>
          <a:p/>
        </p:txBody>
      </p:sp>
      <p:sp>
        <p:nvSpPr>
          <p:cNvPr id="80" name="Text 78"/>
          <p:cNvSpPr txBox="1"/>
          <p:nvPr/>
        </p:nvSpPr>
        <p:spPr>
          <a:xfrm>
            <a:off x="3401568" y="418580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−$7K</a:t>
            </a:r>
            <a:endParaRPr lang="en-US" sz="1300" dirty="0"/>
          </a:p>
        </p:txBody>
      </p:sp>
      <p:sp>
        <p:nvSpPr>
          <p:cNvPr id="81" name="Text 79"/>
          <p:cNvSpPr txBox="1"/>
          <p:nvPr/>
        </p:nvSpPr>
        <p:spPr>
          <a:xfrm>
            <a:off x="440740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82" name="Text 80"/>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83" name="Text 81"/>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84" name="Text 82"/>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85" name="Shape 83"/>
          <p:cNvSpPr/>
          <p:nvPr/>
        </p:nvSpPr>
        <p:spPr>
          <a:xfrm>
            <a:off x="3097021" y="4490215"/>
            <a:ext cx="18288" cy="136676"/>
          </a:xfrm>
          <a:prstGeom prst="rect">
            <a:avLst/>
          </a:prstGeom>
          <a:solidFill>
            <a:srgbClr val="C2352F"/>
          </a:solidFill>
          <a:ln/>
        </p:spPr>
        <p:txBody>
          <a:bodyPr/>
          <a:p/>
        </p:txBody>
      </p:sp>
      <p:sp>
        <p:nvSpPr>
          <p:cNvPr id="86" name="Text 84"/>
          <p:cNvSpPr txBox="1"/>
          <p:nvPr/>
        </p:nvSpPr>
        <p:spPr>
          <a:xfrm>
            <a:off x="3401568" y="443430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−$7K</a:t>
            </a:r>
            <a:endParaRPr lang="en-US" sz="1300" dirty="0"/>
          </a:p>
        </p:txBody>
      </p:sp>
      <p:sp>
        <p:nvSpPr>
          <p:cNvPr id="87" name="Text 85"/>
          <p:cNvSpPr txBox="1"/>
          <p:nvPr/>
        </p:nvSpPr>
        <p:spPr>
          <a:xfrm>
            <a:off x="440740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−63</a:t>
            </a:r>
            <a:endParaRPr lang="en-US" sz="1300" dirty="0"/>
          </a:p>
        </p:txBody>
      </p:sp>
      <p:sp>
        <p:nvSpPr>
          <p:cNvPr id="88" name="Text 86"/>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14.5%</a:t>
            </a:r>
            <a:endParaRPr lang="en-US" sz="1300" dirty="0"/>
          </a:p>
        </p:txBody>
      </p:sp>
      <p:sp>
        <p:nvSpPr>
          <p:cNvPr id="89" name="Text 87"/>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90" name="Text 88"/>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91" name="Shape 89"/>
          <p:cNvSpPr/>
          <p:nvPr/>
        </p:nvSpPr>
        <p:spPr>
          <a:xfrm>
            <a:off x="3096351" y="4738717"/>
            <a:ext cx="18288" cy="136676"/>
          </a:xfrm>
          <a:prstGeom prst="rect">
            <a:avLst/>
          </a:prstGeom>
          <a:solidFill>
            <a:srgbClr val="C2352F"/>
          </a:solidFill>
          <a:ln/>
        </p:spPr>
        <p:txBody>
          <a:bodyPr/>
          <a:p/>
        </p:txBody>
      </p:sp>
      <p:sp>
        <p:nvSpPr>
          <p:cNvPr id="92" name="Text 90"/>
          <p:cNvSpPr txBox="1"/>
          <p:nvPr/>
        </p:nvSpPr>
        <p:spPr>
          <a:xfrm>
            <a:off x="3401568" y="468280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−$8K</a:t>
            </a:r>
            <a:endParaRPr lang="en-US" sz="1300" dirty="0"/>
          </a:p>
        </p:txBody>
      </p:sp>
      <p:sp>
        <p:nvSpPr>
          <p:cNvPr id="93" name="Text 91"/>
          <p:cNvSpPr txBox="1"/>
          <p:nvPr/>
        </p:nvSpPr>
        <p:spPr>
          <a:xfrm>
            <a:off x="440740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94" name="Text 92"/>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a:t>
            </a:r>
            <a:endParaRPr lang="en-US" sz="1300" dirty="0"/>
          </a:p>
        </p:txBody>
      </p:sp>
      <p:sp>
        <p:nvSpPr>
          <p:cNvPr id="95" name="Text 93"/>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6" name="Text 94"/>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7" name="Shape 95"/>
          <p:cNvSpPr/>
          <p:nvPr/>
        </p:nvSpPr>
        <p:spPr>
          <a:xfrm>
            <a:off x="3095214" y="4987218"/>
            <a:ext cx="18288" cy="136676"/>
          </a:xfrm>
          <a:prstGeom prst="rect">
            <a:avLst/>
          </a:prstGeom>
          <a:solidFill>
            <a:srgbClr val="C2352F"/>
          </a:solidFill>
          <a:ln/>
        </p:spPr>
        <p:txBody>
          <a:bodyPr/>
          <a:p/>
        </p:txBody>
      </p:sp>
      <p:sp>
        <p:nvSpPr>
          <p:cNvPr id="98" name="Text 96"/>
          <p:cNvSpPr txBox="1"/>
          <p:nvPr/>
        </p:nvSpPr>
        <p:spPr>
          <a:xfrm>
            <a:off x="3401568" y="4931305"/>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99" name="Text 97"/>
          <p:cNvSpPr txBox="1"/>
          <p:nvPr/>
        </p:nvSpPr>
        <p:spPr>
          <a:xfrm>
            <a:off x="440740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−101</a:t>
            </a:r>
            <a:endParaRPr lang="en-US" sz="1300" dirty="0"/>
          </a:p>
        </p:txBody>
      </p:sp>
      <p:sp>
        <p:nvSpPr>
          <p:cNvPr id="100" name="Text 98"/>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101" name="Text 99"/>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2" name="Text 100"/>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03" name="Shape 101"/>
          <p:cNvSpPr/>
          <p:nvPr/>
        </p:nvSpPr>
        <p:spPr>
          <a:xfrm>
            <a:off x="3094596" y="5235720"/>
            <a:ext cx="18288" cy="136676"/>
          </a:xfrm>
          <a:prstGeom prst="rect">
            <a:avLst/>
          </a:prstGeom>
          <a:solidFill>
            <a:srgbClr val="C2352F"/>
          </a:solidFill>
          <a:ln/>
        </p:spPr>
        <p:txBody>
          <a:bodyPr/>
          <a:p/>
        </p:txBody>
      </p:sp>
      <p:sp>
        <p:nvSpPr>
          <p:cNvPr id="104" name="Text 102"/>
          <p:cNvSpPr txBox="1"/>
          <p:nvPr/>
        </p:nvSpPr>
        <p:spPr>
          <a:xfrm>
            <a:off x="3401568" y="517980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105" name="Text 103"/>
          <p:cNvSpPr txBox="1"/>
          <p:nvPr/>
        </p:nvSpPr>
        <p:spPr>
          <a:xfrm>
            <a:off x="440740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a:t>
            </a:r>
            <a:endParaRPr lang="en-US" sz="1300" dirty="0"/>
          </a:p>
        </p:txBody>
      </p:sp>
      <p:sp>
        <p:nvSpPr>
          <p:cNvPr id="106" name="Text 10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a:t>
            </a:r>
            <a:endParaRPr lang="en-US" sz="1300" dirty="0"/>
          </a:p>
        </p:txBody>
      </p:sp>
      <p:sp>
        <p:nvSpPr>
          <p:cNvPr id="107" name="Text 10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8" name="Text 106"/>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9" name="Shape 107"/>
          <p:cNvSpPr/>
          <p:nvPr/>
        </p:nvSpPr>
        <p:spPr>
          <a:xfrm>
            <a:off x="3088641" y="5484222"/>
            <a:ext cx="18615" cy="136676"/>
          </a:xfrm>
          <a:prstGeom prst="rect">
            <a:avLst/>
          </a:prstGeom>
          <a:solidFill>
            <a:srgbClr val="C2352F"/>
          </a:solidFill>
          <a:ln/>
        </p:spPr>
        <p:txBody>
          <a:bodyPr/>
          <a:p/>
        </p:txBody>
      </p:sp>
      <p:sp>
        <p:nvSpPr>
          <p:cNvPr id="110" name="Text 108"/>
          <p:cNvSpPr txBox="1"/>
          <p:nvPr/>
        </p:nvSpPr>
        <p:spPr>
          <a:xfrm>
            <a:off x="3401568" y="542830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11" name="Text 109"/>
          <p:cNvSpPr txBox="1"/>
          <p:nvPr/>
        </p:nvSpPr>
        <p:spPr>
          <a:xfrm>
            <a:off x="440740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a:t>
            </a:r>
            <a:endParaRPr lang="en-US" sz="1300" dirty="0"/>
          </a:p>
        </p:txBody>
      </p:sp>
      <p:sp>
        <p:nvSpPr>
          <p:cNvPr id="112" name="Text 110"/>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a:t>
            </a:r>
            <a:endParaRPr lang="en-US" sz="1300" dirty="0"/>
          </a:p>
        </p:txBody>
      </p:sp>
      <p:sp>
        <p:nvSpPr>
          <p:cNvPr id="113" name="Shape 111"/>
          <p:cNvSpPr/>
          <p:nvPr/>
        </p:nvSpPr>
        <p:spPr>
          <a:xfrm>
            <a:off x="5971032" y="5474029"/>
            <a:ext cx="54864" cy="157062"/>
          </a:xfrm>
          <a:prstGeom prst="rect">
            <a:avLst/>
          </a:prstGeom>
          <a:solidFill>
            <a:srgbClr val="C2352F"/>
          </a:solidFill>
          <a:ln/>
        </p:spPr>
        <p:txBody>
          <a:bodyPr/>
          <a:p/>
        </p:txBody>
      </p:sp>
      <p:sp>
        <p:nvSpPr>
          <p:cNvPr id="114" name="Text 112"/>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5" name="Text 113"/>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6" name="Shape 114"/>
          <p:cNvSpPr/>
          <p:nvPr/>
        </p:nvSpPr>
        <p:spPr>
          <a:xfrm>
            <a:off x="3085312" y="5732723"/>
            <a:ext cx="21944" cy="136676"/>
          </a:xfrm>
          <a:prstGeom prst="rect">
            <a:avLst/>
          </a:prstGeom>
          <a:solidFill>
            <a:srgbClr val="C2352F"/>
          </a:solidFill>
          <a:ln/>
        </p:spPr>
        <p:txBody>
          <a:bodyPr/>
          <a:p/>
        </p:txBody>
      </p:sp>
      <p:sp>
        <p:nvSpPr>
          <p:cNvPr id="117" name="Text 115"/>
          <p:cNvSpPr txBox="1"/>
          <p:nvPr/>
        </p:nvSpPr>
        <p:spPr>
          <a:xfrm>
            <a:off x="3401568" y="567681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−$16K</a:t>
            </a:r>
            <a:endParaRPr lang="en-US" sz="1300" dirty="0"/>
          </a:p>
        </p:txBody>
      </p:sp>
      <p:sp>
        <p:nvSpPr>
          <p:cNvPr id="118" name="Text 116"/>
          <p:cNvSpPr txBox="1"/>
          <p:nvPr/>
        </p:nvSpPr>
        <p:spPr>
          <a:xfrm>
            <a:off x="440740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−158</a:t>
            </a:r>
            <a:endParaRPr lang="en-US" sz="1300" dirty="0"/>
          </a:p>
        </p:txBody>
      </p:sp>
      <p:sp>
        <p:nvSpPr>
          <p:cNvPr id="119" name="Text 117"/>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a:t>
            </a:r>
            <a:endParaRPr lang="en-US" sz="1300" dirty="0"/>
          </a:p>
        </p:txBody>
      </p:sp>
      <p:sp>
        <p:nvSpPr>
          <p:cNvPr id="120" name="Text 118"/>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1" name="Text 119"/>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22" name="Shape 120"/>
          <p:cNvSpPr/>
          <p:nvPr/>
        </p:nvSpPr>
        <p:spPr>
          <a:xfrm>
            <a:off x="8633950" y="1756697"/>
            <a:ext cx="23714" cy="136676"/>
          </a:xfrm>
          <a:prstGeom prst="rect">
            <a:avLst/>
          </a:prstGeom>
          <a:solidFill>
            <a:srgbClr val="C2352F"/>
          </a:solidFill>
          <a:ln/>
        </p:spPr>
        <p:txBody>
          <a:bodyPr/>
          <a:p/>
        </p:txBody>
      </p:sp>
      <p:sp>
        <p:nvSpPr>
          <p:cNvPr id="123" name="Text 121"/>
          <p:cNvSpPr txBox="1"/>
          <p:nvPr/>
        </p:nvSpPr>
        <p:spPr>
          <a:xfrm>
            <a:off x="8951976" y="170078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−$17K</a:t>
            </a:r>
            <a:endParaRPr lang="en-US" sz="1300" dirty="0"/>
          </a:p>
        </p:txBody>
      </p:sp>
      <p:sp>
        <p:nvSpPr>
          <p:cNvPr id="124" name="Text 122"/>
          <p:cNvSpPr txBox="1"/>
          <p:nvPr/>
        </p:nvSpPr>
        <p:spPr>
          <a:xfrm>
            <a:off x="995781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−218</a:t>
            </a:r>
            <a:endParaRPr lang="en-US" sz="1300" dirty="0"/>
          </a:p>
        </p:txBody>
      </p:sp>
      <p:sp>
        <p:nvSpPr>
          <p:cNvPr id="125" name="Text 123"/>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a:t>
            </a:r>
            <a:endParaRPr lang="en-US" sz="1300" dirty="0"/>
          </a:p>
        </p:txBody>
      </p:sp>
      <p:sp>
        <p:nvSpPr>
          <p:cNvPr id="126" name="Text 124"/>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7" name="Text 125"/>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8" name="Shape 126"/>
          <p:cNvSpPr/>
          <p:nvPr/>
        </p:nvSpPr>
        <p:spPr>
          <a:xfrm>
            <a:off x="8633099" y="2005199"/>
            <a:ext cx="24565" cy="136676"/>
          </a:xfrm>
          <a:prstGeom prst="rect">
            <a:avLst/>
          </a:prstGeom>
          <a:solidFill>
            <a:srgbClr val="C2352F"/>
          </a:solidFill>
          <a:ln/>
        </p:spPr>
        <p:txBody>
          <a:bodyPr/>
          <a:p/>
        </p:txBody>
      </p:sp>
      <p:sp>
        <p:nvSpPr>
          <p:cNvPr id="129" name="Text 127"/>
          <p:cNvSpPr txBox="1"/>
          <p:nvPr/>
        </p:nvSpPr>
        <p:spPr>
          <a:xfrm>
            <a:off x="8951976" y="194928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−$18K</a:t>
            </a:r>
            <a:endParaRPr lang="en-US" sz="1300" dirty="0"/>
          </a:p>
        </p:txBody>
      </p:sp>
      <p:sp>
        <p:nvSpPr>
          <p:cNvPr id="130" name="Text 128"/>
          <p:cNvSpPr txBox="1"/>
          <p:nvPr/>
        </p:nvSpPr>
        <p:spPr>
          <a:xfrm>
            <a:off x="995781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a:t>
            </a:r>
            <a:endParaRPr lang="en-US" sz="1300" dirty="0"/>
          </a:p>
        </p:txBody>
      </p:sp>
      <p:sp>
        <p:nvSpPr>
          <p:cNvPr id="131" name="Text 129"/>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a:t>
            </a:r>
            <a:endParaRPr lang="en-US" sz="1300" dirty="0"/>
          </a:p>
        </p:txBody>
      </p:sp>
      <p:sp>
        <p:nvSpPr>
          <p:cNvPr id="132" name="Text 130"/>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3" name="Text 131"/>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34" name="Shape 132"/>
          <p:cNvSpPr/>
          <p:nvPr/>
        </p:nvSpPr>
        <p:spPr>
          <a:xfrm>
            <a:off x="8631100" y="2253700"/>
            <a:ext cx="26564" cy="136676"/>
          </a:xfrm>
          <a:prstGeom prst="rect">
            <a:avLst/>
          </a:prstGeom>
          <a:solidFill>
            <a:srgbClr val="C2352F"/>
          </a:solidFill>
          <a:ln/>
        </p:spPr>
        <p:txBody>
          <a:bodyPr/>
          <a:p/>
        </p:txBody>
      </p:sp>
      <p:sp>
        <p:nvSpPr>
          <p:cNvPr id="135" name="Text 133"/>
          <p:cNvSpPr txBox="1"/>
          <p:nvPr/>
        </p:nvSpPr>
        <p:spPr>
          <a:xfrm>
            <a:off x="8951976" y="219778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−$19K</a:t>
            </a:r>
            <a:endParaRPr lang="en-US" sz="1300" dirty="0"/>
          </a:p>
        </p:txBody>
      </p:sp>
      <p:sp>
        <p:nvSpPr>
          <p:cNvPr id="136" name="Text 134"/>
          <p:cNvSpPr txBox="1"/>
          <p:nvPr/>
        </p:nvSpPr>
        <p:spPr>
          <a:xfrm>
            <a:off x="995781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−243</a:t>
            </a:r>
            <a:endParaRPr lang="en-US" sz="1300" dirty="0"/>
          </a:p>
        </p:txBody>
      </p:sp>
      <p:sp>
        <p:nvSpPr>
          <p:cNvPr id="137" name="Text 135"/>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11.1%</a:t>
            </a:r>
            <a:endParaRPr lang="en-US" sz="1300" dirty="0"/>
          </a:p>
        </p:txBody>
      </p:sp>
      <p:sp>
        <p:nvSpPr>
          <p:cNvPr id="138" name="Text 136"/>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9" name="Text 137"/>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40" name="Shape 138"/>
          <p:cNvSpPr/>
          <p:nvPr/>
        </p:nvSpPr>
        <p:spPr>
          <a:xfrm>
            <a:off x="8630107" y="2502202"/>
            <a:ext cx="27557" cy="136676"/>
          </a:xfrm>
          <a:prstGeom prst="rect">
            <a:avLst/>
          </a:prstGeom>
          <a:solidFill>
            <a:srgbClr val="C2352F"/>
          </a:solidFill>
          <a:ln/>
        </p:spPr>
        <p:txBody>
          <a:bodyPr/>
          <a:p/>
        </p:txBody>
      </p:sp>
      <p:sp>
        <p:nvSpPr>
          <p:cNvPr id="141" name="Text 139"/>
          <p:cNvSpPr txBox="1"/>
          <p:nvPr/>
        </p:nvSpPr>
        <p:spPr>
          <a:xfrm>
            <a:off x="8951976" y="244628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142" name="Text 140"/>
          <p:cNvSpPr txBox="1"/>
          <p:nvPr/>
        </p:nvSpPr>
        <p:spPr>
          <a:xfrm>
            <a:off x="995781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−173</a:t>
            </a:r>
            <a:endParaRPr lang="en-US" sz="1300" dirty="0"/>
          </a:p>
        </p:txBody>
      </p:sp>
      <p:sp>
        <p:nvSpPr>
          <p:cNvPr id="143" name="Text 141"/>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144" name="Text 142"/>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45" name="Text 143"/>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46" name="Shape 144"/>
          <p:cNvSpPr/>
          <p:nvPr/>
        </p:nvSpPr>
        <p:spPr>
          <a:xfrm>
            <a:off x="8623463" y="2750703"/>
            <a:ext cx="34202" cy="136676"/>
          </a:xfrm>
          <a:prstGeom prst="rect">
            <a:avLst/>
          </a:prstGeom>
          <a:solidFill>
            <a:srgbClr val="C2352F"/>
          </a:solidFill>
          <a:ln/>
        </p:spPr>
        <p:txBody>
          <a:bodyPr/>
          <a:p/>
        </p:txBody>
      </p:sp>
      <p:sp>
        <p:nvSpPr>
          <p:cNvPr id="147" name="Text 145"/>
          <p:cNvSpPr txBox="1"/>
          <p:nvPr/>
        </p:nvSpPr>
        <p:spPr>
          <a:xfrm>
            <a:off x="8951976" y="2694791"/>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48" name="Text 146"/>
          <p:cNvSpPr txBox="1"/>
          <p:nvPr/>
        </p:nvSpPr>
        <p:spPr>
          <a:xfrm>
            <a:off x="995781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−166</a:t>
            </a:r>
            <a:endParaRPr lang="en-US" sz="1300" dirty="0"/>
          </a:p>
        </p:txBody>
      </p:sp>
      <p:sp>
        <p:nvSpPr>
          <p:cNvPr id="149" name="Text 147"/>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11.3%</a:t>
            </a:r>
            <a:endParaRPr lang="en-US" sz="1300" dirty="0"/>
          </a:p>
        </p:txBody>
      </p:sp>
      <p:sp>
        <p:nvSpPr>
          <p:cNvPr id="150" name="Text 148"/>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51" name="Text 149"/>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52" name="Shape 150"/>
          <p:cNvSpPr/>
          <p:nvPr/>
        </p:nvSpPr>
        <p:spPr>
          <a:xfrm>
            <a:off x="8622934" y="2999205"/>
            <a:ext cx="34730" cy="136676"/>
          </a:xfrm>
          <a:prstGeom prst="rect">
            <a:avLst/>
          </a:prstGeom>
          <a:solidFill>
            <a:srgbClr val="C2352F"/>
          </a:solidFill>
          <a:ln/>
        </p:spPr>
        <p:txBody>
          <a:bodyPr/>
          <a:p/>
        </p:txBody>
      </p:sp>
      <p:sp>
        <p:nvSpPr>
          <p:cNvPr id="153" name="Text 151"/>
          <p:cNvSpPr txBox="1"/>
          <p:nvPr/>
        </p:nvSpPr>
        <p:spPr>
          <a:xfrm>
            <a:off x="8951976" y="294329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54" name="Text 152"/>
          <p:cNvSpPr txBox="1"/>
          <p:nvPr/>
        </p:nvSpPr>
        <p:spPr>
          <a:xfrm>
            <a:off x="995781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−245</a:t>
            </a:r>
            <a:endParaRPr lang="en-US" sz="1300" dirty="0"/>
          </a:p>
        </p:txBody>
      </p:sp>
      <p:sp>
        <p:nvSpPr>
          <p:cNvPr id="155" name="Text 153"/>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14.5%</a:t>
            </a:r>
            <a:endParaRPr lang="en-US" sz="1300" dirty="0"/>
          </a:p>
        </p:txBody>
      </p:sp>
      <p:sp>
        <p:nvSpPr>
          <p:cNvPr id="156" name="Text 154"/>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7" name="Text 155"/>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58" name="Shape 156"/>
          <p:cNvSpPr/>
          <p:nvPr/>
        </p:nvSpPr>
        <p:spPr>
          <a:xfrm>
            <a:off x="8621687" y="3247707"/>
            <a:ext cx="35977" cy="136676"/>
          </a:xfrm>
          <a:prstGeom prst="rect">
            <a:avLst/>
          </a:prstGeom>
          <a:solidFill>
            <a:srgbClr val="C2352F"/>
          </a:solidFill>
          <a:ln/>
        </p:spPr>
        <p:txBody>
          <a:bodyPr/>
          <a:p/>
        </p:txBody>
      </p:sp>
      <p:sp>
        <p:nvSpPr>
          <p:cNvPr id="159" name="Text 157"/>
          <p:cNvSpPr txBox="1"/>
          <p:nvPr/>
        </p:nvSpPr>
        <p:spPr>
          <a:xfrm>
            <a:off x="8951976" y="319179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−$26K</a:t>
            </a:r>
            <a:endParaRPr lang="en-US" sz="1300" dirty="0"/>
          </a:p>
        </p:txBody>
      </p:sp>
      <p:sp>
        <p:nvSpPr>
          <p:cNvPr id="160" name="Text 158"/>
          <p:cNvSpPr txBox="1"/>
          <p:nvPr/>
        </p:nvSpPr>
        <p:spPr>
          <a:xfrm>
            <a:off x="995781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a:t>
            </a:r>
            <a:endParaRPr lang="en-US" sz="1300" dirty="0"/>
          </a:p>
        </p:txBody>
      </p:sp>
      <p:sp>
        <p:nvSpPr>
          <p:cNvPr id="161" name="Text 159"/>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a:t>
            </a:r>
            <a:endParaRPr lang="en-US" sz="1300" dirty="0"/>
          </a:p>
        </p:txBody>
      </p:sp>
      <p:sp>
        <p:nvSpPr>
          <p:cNvPr id="162" name="Text 16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63" name="Text 161"/>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64" name="Shape 162"/>
          <p:cNvSpPr/>
          <p:nvPr/>
        </p:nvSpPr>
        <p:spPr>
          <a:xfrm>
            <a:off x="8619605" y="3496208"/>
            <a:ext cx="38059" cy="136676"/>
          </a:xfrm>
          <a:prstGeom prst="rect">
            <a:avLst/>
          </a:prstGeom>
          <a:solidFill>
            <a:srgbClr val="C2352F"/>
          </a:solidFill>
          <a:ln/>
        </p:spPr>
        <p:txBody>
          <a:bodyPr/>
          <a:p/>
        </p:txBody>
      </p:sp>
      <p:sp>
        <p:nvSpPr>
          <p:cNvPr id="165" name="Text 163"/>
          <p:cNvSpPr txBox="1"/>
          <p:nvPr/>
        </p:nvSpPr>
        <p:spPr>
          <a:xfrm>
            <a:off x="8951976" y="344029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−$27K</a:t>
            </a:r>
            <a:endParaRPr lang="en-US" sz="1300" dirty="0"/>
          </a:p>
        </p:txBody>
      </p:sp>
      <p:sp>
        <p:nvSpPr>
          <p:cNvPr id="166" name="Text 164"/>
          <p:cNvSpPr txBox="1"/>
          <p:nvPr/>
        </p:nvSpPr>
        <p:spPr>
          <a:xfrm>
            <a:off x="995781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167" name="Text 165"/>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a:t>
            </a:r>
            <a:endParaRPr lang="en-US" sz="1300" dirty="0"/>
          </a:p>
        </p:txBody>
      </p:sp>
      <p:sp>
        <p:nvSpPr>
          <p:cNvPr id="168" name="Text 166"/>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9" name="Text 167"/>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70" name="Shape 168"/>
          <p:cNvSpPr/>
          <p:nvPr/>
        </p:nvSpPr>
        <p:spPr>
          <a:xfrm>
            <a:off x="8617628" y="3744710"/>
            <a:ext cx="40036" cy="136676"/>
          </a:xfrm>
          <a:prstGeom prst="rect">
            <a:avLst/>
          </a:prstGeom>
          <a:solidFill>
            <a:srgbClr val="C2352F"/>
          </a:solidFill>
          <a:ln/>
        </p:spPr>
        <p:txBody>
          <a:bodyPr/>
          <a:p/>
        </p:txBody>
      </p:sp>
      <p:sp>
        <p:nvSpPr>
          <p:cNvPr id="171" name="Text 169"/>
          <p:cNvSpPr txBox="1"/>
          <p:nvPr/>
        </p:nvSpPr>
        <p:spPr>
          <a:xfrm>
            <a:off x="8951976" y="368879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172" name="Text 170"/>
          <p:cNvSpPr txBox="1"/>
          <p:nvPr/>
        </p:nvSpPr>
        <p:spPr>
          <a:xfrm>
            <a:off x="995781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−274</a:t>
            </a:r>
            <a:endParaRPr lang="en-US" sz="1300" dirty="0"/>
          </a:p>
        </p:txBody>
      </p:sp>
      <p:sp>
        <p:nvSpPr>
          <p:cNvPr id="173" name="Text 171"/>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8.0%</a:t>
            </a:r>
            <a:endParaRPr lang="en-US" sz="1300" dirty="0"/>
          </a:p>
        </p:txBody>
      </p:sp>
      <p:sp>
        <p:nvSpPr>
          <p:cNvPr id="174" name="Text 172"/>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75" name="Text 173"/>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76" name="Shape 174"/>
          <p:cNvSpPr/>
          <p:nvPr/>
        </p:nvSpPr>
        <p:spPr>
          <a:xfrm>
            <a:off x="8605923" y="3993212"/>
            <a:ext cx="51741" cy="136676"/>
          </a:xfrm>
          <a:prstGeom prst="rect">
            <a:avLst/>
          </a:prstGeom>
          <a:solidFill>
            <a:srgbClr val="C2352F"/>
          </a:solidFill>
          <a:ln/>
        </p:spPr>
        <p:txBody>
          <a:bodyPr/>
          <a:p/>
        </p:txBody>
      </p:sp>
      <p:sp>
        <p:nvSpPr>
          <p:cNvPr id="177" name="Text 175"/>
          <p:cNvSpPr txBox="1"/>
          <p:nvPr/>
        </p:nvSpPr>
        <p:spPr>
          <a:xfrm>
            <a:off x="8951976" y="393729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−$37K</a:t>
            </a:r>
            <a:endParaRPr lang="en-US" sz="1300" dirty="0"/>
          </a:p>
        </p:txBody>
      </p:sp>
      <p:sp>
        <p:nvSpPr>
          <p:cNvPr id="178" name="Text 176"/>
          <p:cNvSpPr txBox="1"/>
          <p:nvPr/>
        </p:nvSpPr>
        <p:spPr>
          <a:xfrm>
            <a:off x="995781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−359</a:t>
            </a:r>
            <a:endParaRPr lang="en-US" sz="1300" dirty="0"/>
          </a:p>
        </p:txBody>
      </p:sp>
      <p:sp>
        <p:nvSpPr>
          <p:cNvPr id="179" name="Text 177"/>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a:t>
            </a:r>
            <a:endParaRPr lang="en-US" sz="1300" dirty="0"/>
          </a:p>
        </p:txBody>
      </p:sp>
      <p:sp>
        <p:nvSpPr>
          <p:cNvPr id="180" name="Text 178"/>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81" name="Text 179"/>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82" name="Shape 180"/>
          <p:cNvSpPr/>
          <p:nvPr/>
        </p:nvSpPr>
        <p:spPr>
          <a:xfrm>
            <a:off x="8597779" y="4241713"/>
            <a:ext cx="59885" cy="136676"/>
          </a:xfrm>
          <a:prstGeom prst="rect">
            <a:avLst/>
          </a:prstGeom>
          <a:solidFill>
            <a:srgbClr val="C2352F"/>
          </a:solidFill>
          <a:ln/>
        </p:spPr>
        <p:txBody>
          <a:bodyPr/>
          <a:p/>
        </p:txBody>
      </p:sp>
      <p:sp>
        <p:nvSpPr>
          <p:cNvPr id="183" name="Text 181"/>
          <p:cNvSpPr txBox="1"/>
          <p:nvPr/>
        </p:nvSpPr>
        <p:spPr>
          <a:xfrm>
            <a:off x="8951976" y="418580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−$43K</a:t>
            </a:r>
            <a:endParaRPr lang="en-US" sz="1300" dirty="0"/>
          </a:p>
        </p:txBody>
      </p:sp>
      <p:sp>
        <p:nvSpPr>
          <p:cNvPr id="184" name="Text 182"/>
          <p:cNvSpPr txBox="1"/>
          <p:nvPr/>
        </p:nvSpPr>
        <p:spPr>
          <a:xfrm>
            <a:off x="995781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−578</a:t>
            </a:r>
            <a:endParaRPr lang="en-US" sz="1300" dirty="0"/>
          </a:p>
        </p:txBody>
      </p:sp>
      <p:sp>
        <p:nvSpPr>
          <p:cNvPr id="185" name="Text 183"/>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86" name="Shape 184"/>
          <p:cNvSpPr/>
          <p:nvPr/>
        </p:nvSpPr>
        <p:spPr>
          <a:xfrm>
            <a:off x="11521440" y="4231520"/>
            <a:ext cx="54864" cy="157062"/>
          </a:xfrm>
          <a:prstGeom prst="rect">
            <a:avLst/>
          </a:prstGeom>
          <a:solidFill>
            <a:srgbClr val="C2352F"/>
          </a:solidFill>
          <a:ln/>
        </p:spPr>
        <p:txBody>
          <a:bodyPr/>
          <a:p/>
        </p:txBody>
      </p:sp>
      <p:sp>
        <p:nvSpPr>
          <p:cNvPr id="187" name="Text 185"/>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8" name="Text 186"/>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89" name="Shape 187"/>
          <p:cNvSpPr/>
          <p:nvPr/>
        </p:nvSpPr>
        <p:spPr>
          <a:xfrm>
            <a:off x="8578602" y="4490215"/>
            <a:ext cx="79062" cy="136676"/>
          </a:xfrm>
          <a:prstGeom prst="rect">
            <a:avLst/>
          </a:prstGeom>
          <a:solidFill>
            <a:srgbClr val="C2352F"/>
          </a:solidFill>
          <a:ln/>
        </p:spPr>
        <p:txBody>
          <a:bodyPr/>
          <a:p/>
        </p:txBody>
      </p:sp>
      <p:sp>
        <p:nvSpPr>
          <p:cNvPr id="190" name="Text 188"/>
          <p:cNvSpPr txBox="1"/>
          <p:nvPr/>
        </p:nvSpPr>
        <p:spPr>
          <a:xfrm>
            <a:off x="8951976" y="443430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−$57K</a:t>
            </a:r>
            <a:endParaRPr lang="en-US" sz="1300" dirty="0"/>
          </a:p>
        </p:txBody>
      </p:sp>
      <p:sp>
        <p:nvSpPr>
          <p:cNvPr id="191" name="Text 189"/>
          <p:cNvSpPr txBox="1"/>
          <p:nvPr/>
        </p:nvSpPr>
        <p:spPr>
          <a:xfrm>
            <a:off x="995781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−417</a:t>
            </a:r>
            <a:endParaRPr lang="en-US" sz="1300" dirty="0"/>
          </a:p>
        </p:txBody>
      </p:sp>
      <p:sp>
        <p:nvSpPr>
          <p:cNvPr id="192" name="Text 190"/>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a:t>
            </a:r>
            <a:endParaRPr lang="en-US" sz="1300" dirty="0"/>
          </a:p>
        </p:txBody>
      </p:sp>
      <p:sp>
        <p:nvSpPr>
          <p:cNvPr id="193" name="Text 191"/>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94" name="Text 192"/>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95" name="Shape 193"/>
          <p:cNvSpPr/>
          <p:nvPr/>
        </p:nvSpPr>
        <p:spPr>
          <a:xfrm>
            <a:off x="8577212" y="4738717"/>
            <a:ext cx="80452" cy="136676"/>
          </a:xfrm>
          <a:prstGeom prst="rect">
            <a:avLst/>
          </a:prstGeom>
          <a:solidFill>
            <a:srgbClr val="C2352F"/>
          </a:solidFill>
          <a:ln/>
        </p:spPr>
        <p:txBody>
          <a:bodyPr/>
          <a:p/>
        </p:txBody>
      </p:sp>
      <p:sp>
        <p:nvSpPr>
          <p:cNvPr id="196" name="Text 194"/>
          <p:cNvSpPr txBox="1"/>
          <p:nvPr/>
        </p:nvSpPr>
        <p:spPr>
          <a:xfrm>
            <a:off x="8951976" y="468280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197" name="Text 195"/>
          <p:cNvSpPr txBox="1"/>
          <p:nvPr/>
        </p:nvSpPr>
        <p:spPr>
          <a:xfrm>
            <a:off x="995781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−426</a:t>
            </a:r>
            <a:endParaRPr lang="en-US" sz="1300" dirty="0"/>
          </a:p>
        </p:txBody>
      </p:sp>
      <p:sp>
        <p:nvSpPr>
          <p:cNvPr id="198" name="Text 196"/>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199" name="Text 197"/>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200" name="Text 198"/>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201" name="Shape 199"/>
          <p:cNvSpPr/>
          <p:nvPr/>
        </p:nvSpPr>
        <p:spPr>
          <a:xfrm>
            <a:off x="8570575" y="4987218"/>
            <a:ext cx="87089" cy="136676"/>
          </a:xfrm>
          <a:prstGeom prst="rect">
            <a:avLst/>
          </a:prstGeom>
          <a:solidFill>
            <a:srgbClr val="C2352F"/>
          </a:solidFill>
          <a:ln/>
        </p:spPr>
        <p:txBody>
          <a:bodyPr/>
          <a:p/>
        </p:txBody>
      </p:sp>
      <p:sp>
        <p:nvSpPr>
          <p:cNvPr id="202" name="Text 200"/>
          <p:cNvSpPr txBox="1"/>
          <p:nvPr/>
        </p:nvSpPr>
        <p:spPr>
          <a:xfrm>
            <a:off x="8951976" y="4931305"/>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−$62K</a:t>
            </a:r>
            <a:endParaRPr lang="en-US" sz="1300" dirty="0"/>
          </a:p>
        </p:txBody>
      </p:sp>
      <p:sp>
        <p:nvSpPr>
          <p:cNvPr id="203" name="Text 201"/>
          <p:cNvSpPr txBox="1"/>
          <p:nvPr/>
        </p:nvSpPr>
        <p:spPr>
          <a:xfrm>
            <a:off x="995781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−525</a:t>
            </a:r>
            <a:endParaRPr lang="en-US" sz="1300" dirty="0"/>
          </a:p>
        </p:txBody>
      </p:sp>
      <p:sp>
        <p:nvSpPr>
          <p:cNvPr id="204" name="Text 202"/>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a:t>
            </a:r>
            <a:endParaRPr lang="en-US" sz="1300" dirty="0"/>
          </a:p>
        </p:txBody>
      </p:sp>
      <p:sp>
        <p:nvSpPr>
          <p:cNvPr id="205" name="Text 203"/>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206" name="Text 204"/>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207" name="Shape 205"/>
          <p:cNvSpPr/>
          <p:nvPr/>
        </p:nvSpPr>
        <p:spPr>
          <a:xfrm>
            <a:off x="8563419" y="5235720"/>
            <a:ext cx="94245" cy="136676"/>
          </a:xfrm>
          <a:prstGeom prst="rect">
            <a:avLst/>
          </a:prstGeom>
          <a:solidFill>
            <a:srgbClr val="C2352F"/>
          </a:solidFill>
          <a:ln/>
        </p:spPr>
        <p:txBody>
          <a:bodyPr/>
          <a:p/>
        </p:txBody>
      </p:sp>
      <p:sp>
        <p:nvSpPr>
          <p:cNvPr id="208" name="Text 206"/>
          <p:cNvSpPr txBox="1"/>
          <p:nvPr/>
        </p:nvSpPr>
        <p:spPr>
          <a:xfrm>
            <a:off x="8951976" y="517980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−$67K</a:t>
            </a:r>
            <a:endParaRPr lang="en-US" sz="1300" dirty="0"/>
          </a:p>
        </p:txBody>
      </p:sp>
      <p:sp>
        <p:nvSpPr>
          <p:cNvPr id="209" name="Text 207"/>
          <p:cNvSpPr txBox="1"/>
          <p:nvPr/>
        </p:nvSpPr>
        <p:spPr>
          <a:xfrm>
            <a:off x="995781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−799</a:t>
            </a:r>
            <a:endParaRPr lang="en-US" sz="1300" dirty="0"/>
          </a:p>
        </p:txBody>
      </p:sp>
      <p:sp>
        <p:nvSpPr>
          <p:cNvPr id="210" name="Text 208"/>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211" name="Text 209"/>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12" name="Text 210"/>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213" name="Shape 211"/>
          <p:cNvSpPr/>
          <p:nvPr/>
        </p:nvSpPr>
        <p:spPr>
          <a:xfrm>
            <a:off x="8421624" y="5484222"/>
            <a:ext cx="236040" cy="136676"/>
          </a:xfrm>
          <a:prstGeom prst="rect">
            <a:avLst/>
          </a:prstGeom>
          <a:solidFill>
            <a:srgbClr val="C2352F"/>
          </a:solidFill>
          <a:ln/>
        </p:spPr>
        <p:txBody>
          <a:bodyPr/>
          <a:p/>
        </p:txBody>
      </p:sp>
      <p:sp>
        <p:nvSpPr>
          <p:cNvPr id="214" name="Text 212"/>
          <p:cNvSpPr txBox="1"/>
          <p:nvPr/>
        </p:nvSpPr>
        <p:spPr>
          <a:xfrm>
            <a:off x="8951976" y="542830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−$169K</a:t>
            </a:r>
            <a:endParaRPr lang="en-US" sz="1300" dirty="0"/>
          </a:p>
        </p:txBody>
      </p:sp>
      <p:sp>
        <p:nvSpPr>
          <p:cNvPr id="215" name="Text 213"/>
          <p:cNvSpPr txBox="1"/>
          <p:nvPr/>
        </p:nvSpPr>
        <p:spPr>
          <a:xfrm>
            <a:off x="995781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−1,867</a:t>
            </a:r>
            <a:endParaRPr lang="en-US" sz="1300" dirty="0"/>
          </a:p>
        </p:txBody>
      </p:sp>
      <p:sp>
        <p:nvSpPr>
          <p:cNvPr id="216" name="Text 214"/>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217" name="Shape 215"/>
          <p:cNvSpPr/>
          <p:nvPr/>
        </p:nvSpPr>
        <p:spPr>
          <a:xfrm>
            <a:off x="11521440" y="5474029"/>
            <a:ext cx="54864" cy="157062"/>
          </a:xfrm>
          <a:prstGeom prst="rect">
            <a:avLst/>
          </a:prstGeom>
          <a:solidFill>
            <a:srgbClr val="C2352F"/>
          </a:solidFill>
          <a:ln/>
        </p:spPr>
        <p:txBody>
          <a:bodyPr/>
          <a:p/>
        </p:txBody>
      </p:sp>
      <p:sp>
        <p:nvSpPr>
          <p:cNvPr id="218" name="Shape 216"/>
          <p:cNvSpPr/>
          <p:nvPr/>
        </p:nvSpPr>
        <p:spPr>
          <a:xfrm>
            <a:off x="6085332" y="1700784"/>
            <a:ext cx="10973" cy="4224528"/>
          </a:xfrm>
          <a:prstGeom prst="rect">
            <a:avLst/>
          </a:prstGeom>
          <a:solidFill>
            <a:srgbClr val="D9D9D9"/>
          </a:solidFill>
          <a:ln/>
        </p:spPr>
        <p:txBody>
          <a:bodyPr/>
          <a:p/>
        </p:txBody>
      </p:sp>
      <p:sp>
        <p:nvSpPr>
          <p:cNvPr id="219" name="Shape 217"/>
          <p:cNvSpPr/>
          <p:nvPr/>
        </p:nvSpPr>
        <p:spPr>
          <a:xfrm>
            <a:off x="457200" y="6126480"/>
            <a:ext cx="11274552" cy="615696"/>
          </a:xfrm>
          <a:prstGeom prst="rect">
            <a:avLst/>
          </a:prstGeom>
          <a:solidFill>
            <a:srgbClr val="FBEBEA"/>
          </a:solidFill>
          <a:ln/>
        </p:spPr>
        <p:txBody>
          <a:bodyPr/>
          <a:p/>
        </p:txBody>
      </p:sp>
      <p:sp>
        <p:nvSpPr>
          <p:cNvPr id="220" name="Text 2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25 stores under 15% have left $771,957 so far this year; 8 are at or above it. Toyota Spokane is furthest below at −$169K.</a:t>
            </a:r>
            <a:endParaRPr lang="en-US" sz="1600" dirty="0"/>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Tire Balance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Text 4"/>
          <p:cNvSpPr txBox="1"/>
          <p:nvPr/>
        </p:nvSpPr>
        <p:spPr>
          <a:xfrm>
            <a:off x="3401568" y="1316736"/>
            <a:ext cx="10058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440740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8" name="Text 6"/>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9" name="Shape 7"/>
          <p:cNvSpPr/>
          <p:nvPr/>
        </p:nvSpPr>
        <p:spPr>
          <a:xfrm>
            <a:off x="3208196" y="1700784"/>
            <a:ext cx="10973" cy="4224528"/>
          </a:xfrm>
          <a:prstGeom prst="rect">
            <a:avLst/>
          </a:prstGeom>
          <a:solidFill>
            <a:srgbClr val="9AA3AD"/>
          </a:solidFill>
          <a:ln/>
        </p:spPr>
        <p:txBody>
          <a:bodyPr/>
          <a:p/>
        </p:txBody>
      </p:sp>
      <p:sp>
        <p:nvSpPr>
          <p:cNvPr id="10" name="Text 8"/>
          <p:cNvSpPr txBox="1"/>
          <p:nvPr/>
        </p:nvSpPr>
        <p:spPr>
          <a:xfrm>
            <a:off x="8951976" y="1316736"/>
            <a:ext cx="10058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995781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12" name="Text 10"/>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3" name="Shape 11"/>
          <p:cNvSpPr/>
          <p:nvPr/>
        </p:nvSpPr>
        <p:spPr>
          <a:xfrm>
            <a:off x="8758604" y="1700784"/>
            <a:ext cx="10973" cy="3976026"/>
          </a:xfrm>
          <a:prstGeom prst="rect">
            <a:avLst/>
          </a:prstGeom>
          <a:solidFill>
            <a:srgbClr val="9AA3AD"/>
          </a:solidFill>
          <a:ln/>
        </p:spPr>
        <p:txBody>
          <a:bodyPr/>
          <a:p/>
        </p:txBody>
      </p:sp>
      <p:sp>
        <p:nvSpPr>
          <p:cNvPr id="14" name="Text 12"/>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6" name="Shape 14"/>
          <p:cNvSpPr/>
          <p:nvPr/>
        </p:nvSpPr>
        <p:spPr>
          <a:xfrm>
            <a:off x="3213682" y="1756697"/>
            <a:ext cx="133022" cy="136676"/>
          </a:xfrm>
          <a:prstGeom prst="rect">
            <a:avLst/>
          </a:prstGeom>
          <a:solidFill>
            <a:srgbClr val="12A566"/>
          </a:solidFill>
          <a:ln/>
        </p:spPr>
        <p:txBody>
          <a:bodyPr/>
          <a:p/>
        </p:txBody>
      </p:sp>
      <p:sp>
        <p:nvSpPr>
          <p:cNvPr id="17" name="Text 15"/>
          <p:cNvSpPr txBox="1"/>
          <p:nvPr/>
        </p:nvSpPr>
        <p:spPr>
          <a:xfrm>
            <a:off x="3401568" y="1700784"/>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+$52K</a:t>
            </a:r>
            <a:endParaRPr lang="en-US" sz="1300" dirty="0"/>
          </a:p>
        </p:txBody>
      </p:sp>
      <p:sp>
        <p:nvSpPr>
          <p:cNvPr id="18" name="Text 16"/>
          <p:cNvSpPr txBox="1"/>
          <p:nvPr/>
        </p:nvSpPr>
        <p:spPr>
          <a:xfrm>
            <a:off x="440740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+769</a:t>
            </a:r>
            <a:endParaRPr lang="en-US" sz="1300" dirty="0"/>
          </a:p>
        </p:txBody>
      </p:sp>
      <p:sp>
        <p:nvSpPr>
          <p:cNvPr id="19" name="Text 17"/>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a:t>
            </a:r>
            <a:endParaRPr lang="en-US" sz="1300" dirty="0"/>
          </a:p>
        </p:txBody>
      </p:sp>
      <p:sp>
        <p:nvSpPr>
          <p:cNvPr id="20" name="Shape 18"/>
          <p:cNvSpPr/>
          <p:nvPr/>
        </p:nvSpPr>
        <p:spPr>
          <a:xfrm>
            <a:off x="5971032" y="1746504"/>
            <a:ext cx="54864" cy="157062"/>
          </a:xfrm>
          <a:prstGeom prst="rect">
            <a:avLst/>
          </a:prstGeom>
          <a:solidFill>
            <a:srgbClr val="12A566"/>
          </a:solidFill>
          <a:ln/>
        </p:spPr>
        <p:txBody>
          <a:bodyPr/>
          <a:p/>
        </p:txBody>
      </p:sp>
      <p:sp>
        <p:nvSpPr>
          <p:cNvPr id="21" name="Text 19"/>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2" name="Text 20"/>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23" name="Shape 21"/>
          <p:cNvSpPr/>
          <p:nvPr/>
        </p:nvSpPr>
        <p:spPr>
          <a:xfrm>
            <a:off x="3213682" y="2005199"/>
            <a:ext cx="58221" cy="136676"/>
          </a:xfrm>
          <a:prstGeom prst="rect">
            <a:avLst/>
          </a:prstGeom>
          <a:solidFill>
            <a:srgbClr val="12A566"/>
          </a:solidFill>
          <a:ln/>
        </p:spPr>
        <p:txBody>
          <a:bodyPr/>
          <a:p/>
        </p:txBody>
      </p:sp>
      <p:sp>
        <p:nvSpPr>
          <p:cNvPr id="24" name="Text 22"/>
          <p:cNvSpPr txBox="1"/>
          <p:nvPr/>
        </p:nvSpPr>
        <p:spPr>
          <a:xfrm>
            <a:off x="3401568" y="1949286"/>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+$23K</a:t>
            </a:r>
            <a:endParaRPr lang="en-US" sz="1300" dirty="0"/>
          </a:p>
        </p:txBody>
      </p:sp>
      <p:sp>
        <p:nvSpPr>
          <p:cNvPr id="25" name="Text 23"/>
          <p:cNvSpPr txBox="1"/>
          <p:nvPr/>
        </p:nvSpPr>
        <p:spPr>
          <a:xfrm>
            <a:off x="440740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a:t>
            </a:r>
            <a:endParaRPr lang="en-US" sz="1300" dirty="0"/>
          </a:p>
        </p:txBody>
      </p:sp>
      <p:sp>
        <p:nvSpPr>
          <p:cNvPr id="26" name="Text 24"/>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27.0%</a:t>
            </a:r>
            <a:endParaRPr lang="en-US" sz="1300" dirty="0"/>
          </a:p>
        </p:txBody>
      </p:sp>
      <p:sp>
        <p:nvSpPr>
          <p:cNvPr id="27" name="Shape 25"/>
          <p:cNvSpPr/>
          <p:nvPr/>
        </p:nvSpPr>
        <p:spPr>
          <a:xfrm>
            <a:off x="5971032" y="1995006"/>
            <a:ext cx="54864" cy="157062"/>
          </a:xfrm>
          <a:prstGeom prst="rect">
            <a:avLst/>
          </a:prstGeom>
          <a:solidFill>
            <a:srgbClr val="12A566"/>
          </a:solidFill>
          <a:ln/>
        </p:spPr>
        <p:txBody>
          <a:bodyPr/>
          <a:p/>
        </p:txBody>
      </p:sp>
      <p:sp>
        <p:nvSpPr>
          <p:cNvPr id="28" name="Text 26"/>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9" name="Text 27"/>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0" name="Shape 28"/>
          <p:cNvSpPr/>
          <p:nvPr/>
        </p:nvSpPr>
        <p:spPr>
          <a:xfrm>
            <a:off x="3213682" y="2253700"/>
            <a:ext cx="26369" cy="136676"/>
          </a:xfrm>
          <a:prstGeom prst="rect">
            <a:avLst/>
          </a:prstGeom>
          <a:solidFill>
            <a:srgbClr val="12A566"/>
          </a:solidFill>
          <a:ln/>
        </p:spPr>
        <p:txBody>
          <a:bodyPr/>
          <a:p/>
        </p:txBody>
      </p:sp>
      <p:sp>
        <p:nvSpPr>
          <p:cNvPr id="31" name="Text 29"/>
          <p:cNvSpPr txBox="1"/>
          <p:nvPr/>
        </p:nvSpPr>
        <p:spPr>
          <a:xfrm>
            <a:off x="3401568" y="2197787"/>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+$10K</a:t>
            </a:r>
            <a:endParaRPr lang="en-US" sz="1300" dirty="0"/>
          </a:p>
        </p:txBody>
      </p:sp>
      <p:sp>
        <p:nvSpPr>
          <p:cNvPr id="32" name="Text 30"/>
          <p:cNvSpPr txBox="1"/>
          <p:nvPr/>
        </p:nvSpPr>
        <p:spPr>
          <a:xfrm>
            <a:off x="440740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33" name="Text 31"/>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a:t>
            </a:r>
            <a:endParaRPr lang="en-US" sz="1300" dirty="0"/>
          </a:p>
        </p:txBody>
      </p:sp>
      <p:sp>
        <p:nvSpPr>
          <p:cNvPr id="34" name="Shape 32"/>
          <p:cNvSpPr/>
          <p:nvPr/>
        </p:nvSpPr>
        <p:spPr>
          <a:xfrm>
            <a:off x="5971032" y="2243507"/>
            <a:ext cx="54864" cy="157062"/>
          </a:xfrm>
          <a:prstGeom prst="rect">
            <a:avLst/>
          </a:prstGeom>
          <a:solidFill>
            <a:srgbClr val="12A566"/>
          </a:solidFill>
          <a:ln/>
        </p:spPr>
        <p:txBody>
          <a:bodyPr/>
          <a:p/>
        </p:txBody>
      </p:sp>
      <p:sp>
        <p:nvSpPr>
          <p:cNvPr id="35" name="Text 33"/>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6" name="Text 34"/>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7" name="Shape 35"/>
          <p:cNvSpPr/>
          <p:nvPr/>
        </p:nvSpPr>
        <p:spPr>
          <a:xfrm>
            <a:off x="3213682" y="2502202"/>
            <a:ext cx="18288" cy="136676"/>
          </a:xfrm>
          <a:prstGeom prst="rect">
            <a:avLst/>
          </a:prstGeom>
          <a:solidFill>
            <a:srgbClr val="12A566"/>
          </a:solidFill>
          <a:ln/>
        </p:spPr>
        <p:txBody>
          <a:bodyPr/>
          <a:p/>
        </p:txBody>
      </p:sp>
      <p:sp>
        <p:nvSpPr>
          <p:cNvPr id="38" name="Text 36"/>
          <p:cNvSpPr txBox="1"/>
          <p:nvPr/>
        </p:nvSpPr>
        <p:spPr>
          <a:xfrm>
            <a:off x="3401568" y="2446289"/>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+$4K</a:t>
            </a:r>
            <a:endParaRPr lang="en-US" sz="1300" dirty="0"/>
          </a:p>
        </p:txBody>
      </p:sp>
      <p:sp>
        <p:nvSpPr>
          <p:cNvPr id="39" name="Text 37"/>
          <p:cNvSpPr txBox="1"/>
          <p:nvPr/>
        </p:nvSpPr>
        <p:spPr>
          <a:xfrm>
            <a:off x="440740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40" name="Text 38"/>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a:t>
            </a:r>
            <a:endParaRPr lang="en-US" sz="1300" dirty="0"/>
          </a:p>
        </p:txBody>
      </p:sp>
      <p:sp>
        <p:nvSpPr>
          <p:cNvPr id="41" name="Text 39"/>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42" name="Text 40"/>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3" name="Shape 41"/>
          <p:cNvSpPr/>
          <p:nvPr/>
        </p:nvSpPr>
        <p:spPr>
          <a:xfrm>
            <a:off x="3213617" y="2750703"/>
            <a:ext cx="18288" cy="136676"/>
          </a:xfrm>
          <a:prstGeom prst="rect">
            <a:avLst/>
          </a:prstGeom>
          <a:solidFill>
            <a:srgbClr val="C2352F"/>
          </a:solidFill>
          <a:ln/>
        </p:spPr>
        <p:txBody>
          <a:bodyPr/>
          <a:p/>
        </p:txBody>
      </p:sp>
      <p:sp>
        <p:nvSpPr>
          <p:cNvPr id="44" name="Text 42"/>
          <p:cNvSpPr txBox="1"/>
          <p:nvPr/>
        </p:nvSpPr>
        <p:spPr>
          <a:xfrm>
            <a:off x="3401568" y="2694791"/>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a:t>
            </a:r>
            <a:endParaRPr lang="en-US" sz="1300" dirty="0"/>
          </a:p>
        </p:txBody>
      </p:sp>
      <p:sp>
        <p:nvSpPr>
          <p:cNvPr id="45" name="Text 43"/>
          <p:cNvSpPr txBox="1"/>
          <p:nvPr/>
        </p:nvSpPr>
        <p:spPr>
          <a:xfrm>
            <a:off x="440740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a:t>
            </a:r>
            <a:endParaRPr lang="en-US" sz="1300" dirty="0"/>
          </a:p>
        </p:txBody>
      </p:sp>
      <p:sp>
        <p:nvSpPr>
          <p:cNvPr id="46" name="Text 4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a:t>
            </a:r>
            <a:endParaRPr lang="en-US" sz="1300" dirty="0"/>
          </a:p>
        </p:txBody>
      </p:sp>
      <p:sp>
        <p:nvSpPr>
          <p:cNvPr id="47" name="Text 4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8" name="Text 46"/>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49" name="Shape 47"/>
          <p:cNvSpPr/>
          <p:nvPr/>
        </p:nvSpPr>
        <p:spPr>
          <a:xfrm>
            <a:off x="3208413" y="2999205"/>
            <a:ext cx="18288" cy="136676"/>
          </a:xfrm>
          <a:prstGeom prst="rect">
            <a:avLst/>
          </a:prstGeom>
          <a:solidFill>
            <a:srgbClr val="C2352F"/>
          </a:solidFill>
          <a:ln/>
        </p:spPr>
        <p:txBody>
          <a:bodyPr/>
          <a:p/>
        </p:txBody>
      </p:sp>
      <p:sp>
        <p:nvSpPr>
          <p:cNvPr id="50" name="Text 48"/>
          <p:cNvSpPr txBox="1"/>
          <p:nvPr/>
        </p:nvSpPr>
        <p:spPr>
          <a:xfrm>
            <a:off x="3401568" y="294329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−$2K</a:t>
            </a:r>
            <a:endParaRPr lang="en-US" sz="1300" dirty="0"/>
          </a:p>
        </p:txBody>
      </p:sp>
      <p:sp>
        <p:nvSpPr>
          <p:cNvPr id="51" name="Text 49"/>
          <p:cNvSpPr txBox="1"/>
          <p:nvPr/>
        </p:nvSpPr>
        <p:spPr>
          <a:xfrm>
            <a:off x="440740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a:t>
            </a:r>
            <a:endParaRPr lang="en-US" sz="1300" dirty="0"/>
          </a:p>
        </p:txBody>
      </p:sp>
      <p:sp>
        <p:nvSpPr>
          <p:cNvPr id="52" name="Text 50"/>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a:t>
            </a:r>
            <a:endParaRPr lang="en-US" sz="1300" dirty="0"/>
          </a:p>
        </p:txBody>
      </p:sp>
      <p:sp>
        <p:nvSpPr>
          <p:cNvPr id="53" name="Text 51"/>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54" name="Text 52"/>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55" name="Shape 53"/>
          <p:cNvSpPr/>
          <p:nvPr/>
        </p:nvSpPr>
        <p:spPr>
          <a:xfrm>
            <a:off x="3202500" y="3247707"/>
            <a:ext cx="18288" cy="136676"/>
          </a:xfrm>
          <a:prstGeom prst="rect">
            <a:avLst/>
          </a:prstGeom>
          <a:solidFill>
            <a:srgbClr val="C2352F"/>
          </a:solidFill>
          <a:ln/>
        </p:spPr>
        <p:txBody>
          <a:bodyPr/>
          <a:p/>
        </p:txBody>
      </p:sp>
      <p:sp>
        <p:nvSpPr>
          <p:cNvPr id="56" name="Text 54"/>
          <p:cNvSpPr txBox="1"/>
          <p:nvPr/>
        </p:nvSpPr>
        <p:spPr>
          <a:xfrm>
            <a:off x="3401568" y="319179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−$4K</a:t>
            </a:r>
            <a:endParaRPr lang="en-US" sz="1300" dirty="0"/>
          </a:p>
        </p:txBody>
      </p:sp>
      <p:sp>
        <p:nvSpPr>
          <p:cNvPr id="57" name="Text 55"/>
          <p:cNvSpPr txBox="1"/>
          <p:nvPr/>
        </p:nvSpPr>
        <p:spPr>
          <a:xfrm>
            <a:off x="440740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a:t>
            </a:r>
            <a:endParaRPr lang="en-US" sz="1300" dirty="0"/>
          </a:p>
        </p:txBody>
      </p:sp>
      <p:sp>
        <p:nvSpPr>
          <p:cNvPr id="58" name="Text 56"/>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13.5%</a:t>
            </a:r>
            <a:endParaRPr lang="en-US" sz="1300" dirty="0"/>
          </a:p>
        </p:txBody>
      </p:sp>
      <p:sp>
        <p:nvSpPr>
          <p:cNvPr id="59" name="Text 57"/>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60" name="Text 58"/>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61" name="Shape 59"/>
          <p:cNvSpPr/>
          <p:nvPr/>
        </p:nvSpPr>
        <p:spPr>
          <a:xfrm>
            <a:off x="3199367" y="3496208"/>
            <a:ext cx="18288" cy="136676"/>
          </a:xfrm>
          <a:prstGeom prst="rect">
            <a:avLst/>
          </a:prstGeom>
          <a:solidFill>
            <a:srgbClr val="C2352F"/>
          </a:solidFill>
          <a:ln/>
        </p:spPr>
        <p:txBody>
          <a:bodyPr/>
          <a:p/>
        </p:txBody>
      </p:sp>
      <p:sp>
        <p:nvSpPr>
          <p:cNvPr id="62" name="Text 60"/>
          <p:cNvSpPr txBox="1"/>
          <p:nvPr/>
        </p:nvSpPr>
        <p:spPr>
          <a:xfrm>
            <a:off x="3401568" y="344029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−$6K</a:t>
            </a:r>
            <a:endParaRPr lang="en-US" sz="1300" dirty="0"/>
          </a:p>
        </p:txBody>
      </p:sp>
      <p:sp>
        <p:nvSpPr>
          <p:cNvPr id="63" name="Text 61"/>
          <p:cNvSpPr txBox="1"/>
          <p:nvPr/>
        </p:nvSpPr>
        <p:spPr>
          <a:xfrm>
            <a:off x="440740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−111</a:t>
            </a:r>
            <a:endParaRPr lang="en-US" sz="1300" dirty="0"/>
          </a:p>
        </p:txBody>
      </p:sp>
      <p:sp>
        <p:nvSpPr>
          <p:cNvPr id="64" name="Text 62"/>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65" name="Text 63"/>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6" name="Text 64"/>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7" name="Shape 65"/>
          <p:cNvSpPr/>
          <p:nvPr/>
        </p:nvSpPr>
        <p:spPr>
          <a:xfrm>
            <a:off x="3192966" y="3744710"/>
            <a:ext cx="20716" cy="136676"/>
          </a:xfrm>
          <a:prstGeom prst="rect">
            <a:avLst/>
          </a:prstGeom>
          <a:solidFill>
            <a:srgbClr val="C2352F"/>
          </a:solidFill>
          <a:ln/>
        </p:spPr>
        <p:txBody>
          <a:bodyPr/>
          <a:p/>
        </p:txBody>
      </p:sp>
      <p:sp>
        <p:nvSpPr>
          <p:cNvPr id="68" name="Text 66"/>
          <p:cNvSpPr txBox="1"/>
          <p:nvPr/>
        </p:nvSpPr>
        <p:spPr>
          <a:xfrm>
            <a:off x="3401568" y="368879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−$8K</a:t>
            </a:r>
            <a:endParaRPr lang="en-US" sz="1300" dirty="0"/>
          </a:p>
        </p:txBody>
      </p:sp>
      <p:sp>
        <p:nvSpPr>
          <p:cNvPr id="69" name="Text 67"/>
          <p:cNvSpPr txBox="1"/>
          <p:nvPr/>
        </p:nvSpPr>
        <p:spPr>
          <a:xfrm>
            <a:off x="440740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a:t>
            </a:r>
            <a:endParaRPr lang="en-US" sz="1300" dirty="0"/>
          </a:p>
        </p:txBody>
      </p:sp>
      <p:sp>
        <p:nvSpPr>
          <p:cNvPr id="70" name="Text 68"/>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13.1%</a:t>
            </a:r>
            <a:endParaRPr lang="en-US" sz="1300" dirty="0"/>
          </a:p>
        </p:txBody>
      </p:sp>
      <p:sp>
        <p:nvSpPr>
          <p:cNvPr id="71" name="Text 69"/>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72" name="Text 70"/>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73" name="Shape 71"/>
          <p:cNvSpPr/>
          <p:nvPr/>
        </p:nvSpPr>
        <p:spPr>
          <a:xfrm>
            <a:off x="3186478" y="3993212"/>
            <a:ext cx="27204" cy="136676"/>
          </a:xfrm>
          <a:prstGeom prst="rect">
            <a:avLst/>
          </a:prstGeom>
          <a:solidFill>
            <a:srgbClr val="C2352F"/>
          </a:solidFill>
          <a:ln/>
        </p:spPr>
        <p:txBody>
          <a:bodyPr/>
          <a:p/>
        </p:txBody>
      </p:sp>
      <p:sp>
        <p:nvSpPr>
          <p:cNvPr id="74" name="Text 72"/>
          <p:cNvSpPr txBox="1"/>
          <p:nvPr/>
        </p:nvSpPr>
        <p:spPr>
          <a:xfrm>
            <a:off x="3401568" y="393729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75" name="Text 73"/>
          <p:cNvSpPr txBox="1"/>
          <p:nvPr/>
        </p:nvSpPr>
        <p:spPr>
          <a:xfrm>
            <a:off x="440740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−483</a:t>
            </a:r>
            <a:endParaRPr lang="en-US" sz="1300" dirty="0"/>
          </a:p>
        </p:txBody>
      </p:sp>
      <p:sp>
        <p:nvSpPr>
          <p:cNvPr id="76" name="Text 74"/>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77" name="Text 75"/>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8" name="Text 76"/>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79" name="Shape 77"/>
          <p:cNvSpPr/>
          <p:nvPr/>
        </p:nvSpPr>
        <p:spPr>
          <a:xfrm>
            <a:off x="3178674" y="4241713"/>
            <a:ext cx="35008" cy="136676"/>
          </a:xfrm>
          <a:prstGeom prst="rect">
            <a:avLst/>
          </a:prstGeom>
          <a:solidFill>
            <a:srgbClr val="C2352F"/>
          </a:solidFill>
          <a:ln/>
        </p:spPr>
        <p:txBody>
          <a:bodyPr/>
          <a:p/>
        </p:txBody>
      </p:sp>
      <p:sp>
        <p:nvSpPr>
          <p:cNvPr id="80" name="Text 78"/>
          <p:cNvSpPr txBox="1"/>
          <p:nvPr/>
        </p:nvSpPr>
        <p:spPr>
          <a:xfrm>
            <a:off x="3401568" y="418580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−$14K</a:t>
            </a:r>
            <a:endParaRPr lang="en-US" sz="1300" dirty="0"/>
          </a:p>
        </p:txBody>
      </p:sp>
      <p:sp>
        <p:nvSpPr>
          <p:cNvPr id="81" name="Text 79"/>
          <p:cNvSpPr txBox="1"/>
          <p:nvPr/>
        </p:nvSpPr>
        <p:spPr>
          <a:xfrm>
            <a:off x="440740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a:t>
            </a:r>
            <a:endParaRPr lang="en-US" sz="1300" dirty="0"/>
          </a:p>
        </p:txBody>
      </p:sp>
      <p:sp>
        <p:nvSpPr>
          <p:cNvPr id="82" name="Text 80"/>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a:t>
            </a:r>
            <a:endParaRPr lang="en-US" sz="1300" dirty="0"/>
          </a:p>
        </p:txBody>
      </p:sp>
      <p:sp>
        <p:nvSpPr>
          <p:cNvPr id="83" name="Text 81"/>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84" name="Text 82"/>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85" name="Shape 83"/>
          <p:cNvSpPr/>
          <p:nvPr/>
        </p:nvSpPr>
        <p:spPr>
          <a:xfrm>
            <a:off x="3173922" y="4490215"/>
            <a:ext cx="39760" cy="136676"/>
          </a:xfrm>
          <a:prstGeom prst="rect">
            <a:avLst/>
          </a:prstGeom>
          <a:solidFill>
            <a:srgbClr val="C2352F"/>
          </a:solidFill>
          <a:ln/>
        </p:spPr>
        <p:txBody>
          <a:bodyPr/>
          <a:p/>
        </p:txBody>
      </p:sp>
      <p:sp>
        <p:nvSpPr>
          <p:cNvPr id="86" name="Text 84"/>
          <p:cNvSpPr txBox="1"/>
          <p:nvPr/>
        </p:nvSpPr>
        <p:spPr>
          <a:xfrm>
            <a:off x="3401568" y="443430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−$16K</a:t>
            </a:r>
            <a:endParaRPr lang="en-US" sz="1300" dirty="0"/>
          </a:p>
        </p:txBody>
      </p:sp>
      <p:sp>
        <p:nvSpPr>
          <p:cNvPr id="87" name="Text 85"/>
          <p:cNvSpPr txBox="1"/>
          <p:nvPr/>
        </p:nvSpPr>
        <p:spPr>
          <a:xfrm>
            <a:off x="440740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−372</a:t>
            </a:r>
            <a:endParaRPr lang="en-US" sz="1300" dirty="0"/>
          </a:p>
        </p:txBody>
      </p:sp>
      <p:sp>
        <p:nvSpPr>
          <p:cNvPr id="88" name="Text 86"/>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9.0%</a:t>
            </a:r>
            <a:endParaRPr lang="en-US" sz="1300" dirty="0"/>
          </a:p>
        </p:txBody>
      </p:sp>
      <p:sp>
        <p:nvSpPr>
          <p:cNvPr id="89" name="Text 87"/>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90" name="Text 88"/>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1" name="Shape 89"/>
          <p:cNvSpPr/>
          <p:nvPr/>
        </p:nvSpPr>
        <p:spPr>
          <a:xfrm>
            <a:off x="3162501" y="4738717"/>
            <a:ext cx="51181" cy="136676"/>
          </a:xfrm>
          <a:prstGeom prst="rect">
            <a:avLst/>
          </a:prstGeom>
          <a:solidFill>
            <a:srgbClr val="C2352F"/>
          </a:solidFill>
          <a:ln/>
        </p:spPr>
        <p:txBody>
          <a:bodyPr/>
          <a:p/>
        </p:txBody>
      </p:sp>
      <p:sp>
        <p:nvSpPr>
          <p:cNvPr id="92" name="Text 90"/>
          <p:cNvSpPr txBox="1"/>
          <p:nvPr/>
        </p:nvSpPr>
        <p:spPr>
          <a:xfrm>
            <a:off x="3401568" y="468280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93" name="Text 91"/>
          <p:cNvSpPr txBox="1"/>
          <p:nvPr/>
        </p:nvSpPr>
        <p:spPr>
          <a:xfrm>
            <a:off x="440740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a:t>
            </a:r>
            <a:endParaRPr lang="en-US" sz="1300" dirty="0"/>
          </a:p>
        </p:txBody>
      </p:sp>
      <p:sp>
        <p:nvSpPr>
          <p:cNvPr id="94" name="Text 92"/>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a:t>
            </a:r>
            <a:endParaRPr lang="en-US" sz="1300" dirty="0"/>
          </a:p>
        </p:txBody>
      </p:sp>
      <p:sp>
        <p:nvSpPr>
          <p:cNvPr id="95" name="Text 93"/>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6" name="Text 94"/>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7" name="Shape 95"/>
          <p:cNvSpPr/>
          <p:nvPr/>
        </p:nvSpPr>
        <p:spPr>
          <a:xfrm>
            <a:off x="3161512" y="4987218"/>
            <a:ext cx="52170" cy="136676"/>
          </a:xfrm>
          <a:prstGeom prst="rect">
            <a:avLst/>
          </a:prstGeom>
          <a:solidFill>
            <a:srgbClr val="C2352F"/>
          </a:solidFill>
          <a:ln/>
        </p:spPr>
        <p:txBody>
          <a:bodyPr/>
          <a:p/>
        </p:txBody>
      </p:sp>
      <p:sp>
        <p:nvSpPr>
          <p:cNvPr id="98" name="Text 96"/>
          <p:cNvSpPr txBox="1"/>
          <p:nvPr/>
        </p:nvSpPr>
        <p:spPr>
          <a:xfrm>
            <a:off x="3401568" y="4931305"/>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99" name="Text 97"/>
          <p:cNvSpPr txBox="1"/>
          <p:nvPr/>
        </p:nvSpPr>
        <p:spPr>
          <a:xfrm>
            <a:off x="440740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−345</a:t>
            </a:r>
            <a:endParaRPr lang="en-US" sz="1300" dirty="0"/>
          </a:p>
        </p:txBody>
      </p:sp>
      <p:sp>
        <p:nvSpPr>
          <p:cNvPr id="100" name="Text 98"/>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101" name="Text 99"/>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2" name="Text 100"/>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3" name="Shape 101"/>
          <p:cNvSpPr/>
          <p:nvPr/>
        </p:nvSpPr>
        <p:spPr>
          <a:xfrm>
            <a:off x="3160641" y="5235720"/>
            <a:ext cx="53041" cy="136676"/>
          </a:xfrm>
          <a:prstGeom prst="rect">
            <a:avLst/>
          </a:prstGeom>
          <a:solidFill>
            <a:srgbClr val="C2352F"/>
          </a:solidFill>
          <a:ln/>
        </p:spPr>
        <p:txBody>
          <a:bodyPr/>
          <a:p/>
        </p:txBody>
      </p:sp>
      <p:sp>
        <p:nvSpPr>
          <p:cNvPr id="104" name="Text 102"/>
          <p:cNvSpPr txBox="1"/>
          <p:nvPr/>
        </p:nvSpPr>
        <p:spPr>
          <a:xfrm>
            <a:off x="3401568" y="517980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05" name="Text 103"/>
          <p:cNvSpPr txBox="1"/>
          <p:nvPr/>
        </p:nvSpPr>
        <p:spPr>
          <a:xfrm>
            <a:off x="440740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−280</a:t>
            </a:r>
            <a:endParaRPr lang="en-US" sz="1300" dirty="0"/>
          </a:p>
        </p:txBody>
      </p:sp>
      <p:sp>
        <p:nvSpPr>
          <p:cNvPr id="106" name="Text 10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0.4%</a:t>
            </a:r>
            <a:endParaRPr lang="en-US" sz="1300" dirty="0"/>
          </a:p>
        </p:txBody>
      </p:sp>
      <p:sp>
        <p:nvSpPr>
          <p:cNvPr id="107" name="Shape 105"/>
          <p:cNvSpPr/>
          <p:nvPr/>
        </p:nvSpPr>
        <p:spPr>
          <a:xfrm>
            <a:off x="5971032" y="5225527"/>
            <a:ext cx="54864" cy="157062"/>
          </a:xfrm>
          <a:prstGeom prst="rect">
            <a:avLst/>
          </a:prstGeom>
          <a:solidFill>
            <a:srgbClr val="C2352F"/>
          </a:solidFill>
          <a:ln/>
        </p:spPr>
        <p:txBody>
          <a:bodyPr/>
          <a:p/>
        </p:txBody>
      </p:sp>
      <p:sp>
        <p:nvSpPr>
          <p:cNvPr id="108" name="Text 106"/>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9" name="Text 107"/>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10" name="Shape 108"/>
          <p:cNvSpPr/>
          <p:nvPr/>
        </p:nvSpPr>
        <p:spPr>
          <a:xfrm>
            <a:off x="3154916" y="5484222"/>
            <a:ext cx="58766" cy="136676"/>
          </a:xfrm>
          <a:prstGeom prst="rect">
            <a:avLst/>
          </a:prstGeom>
          <a:solidFill>
            <a:srgbClr val="C2352F"/>
          </a:solidFill>
          <a:ln/>
        </p:spPr>
        <p:txBody>
          <a:bodyPr/>
          <a:p/>
        </p:txBody>
      </p:sp>
      <p:sp>
        <p:nvSpPr>
          <p:cNvPr id="111" name="Text 109"/>
          <p:cNvSpPr txBox="1"/>
          <p:nvPr/>
        </p:nvSpPr>
        <p:spPr>
          <a:xfrm>
            <a:off x="3401568" y="542830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−$23K</a:t>
            </a:r>
            <a:endParaRPr lang="en-US" sz="1300" dirty="0"/>
          </a:p>
        </p:txBody>
      </p:sp>
      <p:sp>
        <p:nvSpPr>
          <p:cNvPr id="112" name="Text 110"/>
          <p:cNvSpPr txBox="1"/>
          <p:nvPr/>
        </p:nvSpPr>
        <p:spPr>
          <a:xfrm>
            <a:off x="440740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−351</a:t>
            </a:r>
            <a:endParaRPr lang="en-US" sz="1300" dirty="0"/>
          </a:p>
        </p:txBody>
      </p:sp>
      <p:sp>
        <p:nvSpPr>
          <p:cNvPr id="113" name="Text 111"/>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114" name="Text 112"/>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5" name="Text 113"/>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6" name="Shape 114"/>
          <p:cNvSpPr/>
          <p:nvPr/>
        </p:nvSpPr>
        <p:spPr>
          <a:xfrm>
            <a:off x="3145678" y="5732723"/>
            <a:ext cx="68004" cy="136676"/>
          </a:xfrm>
          <a:prstGeom prst="rect">
            <a:avLst/>
          </a:prstGeom>
          <a:solidFill>
            <a:srgbClr val="C2352F"/>
          </a:solidFill>
          <a:ln/>
        </p:spPr>
        <p:txBody>
          <a:bodyPr/>
          <a:p/>
        </p:txBody>
      </p:sp>
      <p:sp>
        <p:nvSpPr>
          <p:cNvPr id="117" name="Text 115"/>
          <p:cNvSpPr txBox="1"/>
          <p:nvPr/>
        </p:nvSpPr>
        <p:spPr>
          <a:xfrm>
            <a:off x="3401568" y="567681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−$27K</a:t>
            </a:r>
            <a:endParaRPr lang="en-US" sz="1300" dirty="0"/>
          </a:p>
        </p:txBody>
      </p:sp>
      <p:sp>
        <p:nvSpPr>
          <p:cNvPr id="118" name="Text 116"/>
          <p:cNvSpPr txBox="1"/>
          <p:nvPr/>
        </p:nvSpPr>
        <p:spPr>
          <a:xfrm>
            <a:off x="440740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−461</a:t>
            </a:r>
            <a:endParaRPr lang="en-US" sz="1300" dirty="0"/>
          </a:p>
        </p:txBody>
      </p:sp>
      <p:sp>
        <p:nvSpPr>
          <p:cNvPr id="119" name="Text 117"/>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20" name="Text 118"/>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1" name="Text 119"/>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22" name="Shape 120"/>
          <p:cNvSpPr/>
          <p:nvPr/>
        </p:nvSpPr>
        <p:spPr>
          <a:xfrm>
            <a:off x="8691164" y="1756697"/>
            <a:ext cx="72926" cy="136676"/>
          </a:xfrm>
          <a:prstGeom prst="rect">
            <a:avLst/>
          </a:prstGeom>
          <a:solidFill>
            <a:srgbClr val="C2352F"/>
          </a:solidFill>
          <a:ln/>
        </p:spPr>
        <p:txBody>
          <a:bodyPr/>
          <a:p/>
        </p:txBody>
      </p:sp>
      <p:sp>
        <p:nvSpPr>
          <p:cNvPr id="123" name="Text 121"/>
          <p:cNvSpPr txBox="1"/>
          <p:nvPr/>
        </p:nvSpPr>
        <p:spPr>
          <a:xfrm>
            <a:off x="8951976" y="170078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124" name="Text 122"/>
          <p:cNvSpPr txBox="1"/>
          <p:nvPr/>
        </p:nvSpPr>
        <p:spPr>
          <a:xfrm>
            <a:off x="995781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−450</a:t>
            </a:r>
            <a:endParaRPr lang="en-US" sz="1300" dirty="0"/>
          </a:p>
        </p:txBody>
      </p:sp>
      <p:sp>
        <p:nvSpPr>
          <p:cNvPr id="125" name="Text 123"/>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126" name="Text 124"/>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7" name="Text 125"/>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8" name="Shape 126"/>
          <p:cNvSpPr/>
          <p:nvPr/>
        </p:nvSpPr>
        <p:spPr>
          <a:xfrm>
            <a:off x="8665461" y="2005199"/>
            <a:ext cx="98629" cy="136676"/>
          </a:xfrm>
          <a:prstGeom prst="rect">
            <a:avLst/>
          </a:prstGeom>
          <a:solidFill>
            <a:srgbClr val="C2352F"/>
          </a:solidFill>
          <a:ln/>
        </p:spPr>
        <p:txBody>
          <a:bodyPr/>
          <a:p/>
        </p:txBody>
      </p:sp>
      <p:sp>
        <p:nvSpPr>
          <p:cNvPr id="129" name="Text 127"/>
          <p:cNvSpPr txBox="1"/>
          <p:nvPr/>
        </p:nvSpPr>
        <p:spPr>
          <a:xfrm>
            <a:off x="8951976" y="194928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30" name="Text 128"/>
          <p:cNvSpPr txBox="1"/>
          <p:nvPr/>
        </p:nvSpPr>
        <p:spPr>
          <a:xfrm>
            <a:off x="995781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−552</a:t>
            </a:r>
            <a:endParaRPr lang="en-US" sz="1300" dirty="0"/>
          </a:p>
        </p:txBody>
      </p:sp>
      <p:sp>
        <p:nvSpPr>
          <p:cNvPr id="131" name="Text 129"/>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132" name="Text 130"/>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3" name="Text 131"/>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4" name="Shape 132"/>
          <p:cNvSpPr/>
          <p:nvPr/>
        </p:nvSpPr>
        <p:spPr>
          <a:xfrm>
            <a:off x="8665163" y="2253700"/>
            <a:ext cx="98927" cy="136676"/>
          </a:xfrm>
          <a:prstGeom prst="rect">
            <a:avLst/>
          </a:prstGeom>
          <a:solidFill>
            <a:srgbClr val="C2352F"/>
          </a:solidFill>
          <a:ln/>
        </p:spPr>
        <p:txBody>
          <a:bodyPr/>
          <a:p/>
        </p:txBody>
      </p:sp>
      <p:sp>
        <p:nvSpPr>
          <p:cNvPr id="135" name="Text 133"/>
          <p:cNvSpPr txBox="1"/>
          <p:nvPr/>
        </p:nvSpPr>
        <p:spPr>
          <a:xfrm>
            <a:off x="8951976" y="219778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36" name="Text 134"/>
          <p:cNvSpPr txBox="1"/>
          <p:nvPr/>
        </p:nvSpPr>
        <p:spPr>
          <a:xfrm>
            <a:off x="995781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−522</a:t>
            </a:r>
            <a:endParaRPr lang="en-US" sz="1300" dirty="0"/>
          </a:p>
        </p:txBody>
      </p:sp>
      <p:sp>
        <p:nvSpPr>
          <p:cNvPr id="137" name="Text 135"/>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0.1%</a:t>
            </a:r>
            <a:endParaRPr lang="en-US" sz="1300" dirty="0"/>
          </a:p>
        </p:txBody>
      </p:sp>
      <p:sp>
        <p:nvSpPr>
          <p:cNvPr id="138" name="Shape 136"/>
          <p:cNvSpPr/>
          <p:nvPr/>
        </p:nvSpPr>
        <p:spPr>
          <a:xfrm>
            <a:off x="11521440" y="2243507"/>
            <a:ext cx="54864" cy="157062"/>
          </a:xfrm>
          <a:prstGeom prst="rect">
            <a:avLst/>
          </a:prstGeom>
          <a:solidFill>
            <a:srgbClr val="9AA3AD"/>
          </a:solidFill>
          <a:ln/>
        </p:spPr>
        <p:txBody>
          <a:bodyPr/>
          <a:p/>
        </p:txBody>
      </p:sp>
      <p:sp>
        <p:nvSpPr>
          <p:cNvPr id="139" name="Text 137"/>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40" name="Text 138"/>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41" name="Shape 139"/>
          <p:cNvSpPr/>
          <p:nvPr/>
        </p:nvSpPr>
        <p:spPr>
          <a:xfrm>
            <a:off x="8656843" y="2502202"/>
            <a:ext cx="107247" cy="136676"/>
          </a:xfrm>
          <a:prstGeom prst="rect">
            <a:avLst/>
          </a:prstGeom>
          <a:solidFill>
            <a:srgbClr val="C2352F"/>
          </a:solidFill>
          <a:ln/>
        </p:spPr>
        <p:txBody>
          <a:bodyPr/>
          <a:p/>
        </p:txBody>
      </p:sp>
      <p:sp>
        <p:nvSpPr>
          <p:cNvPr id="142" name="Text 140"/>
          <p:cNvSpPr txBox="1"/>
          <p:nvPr/>
        </p:nvSpPr>
        <p:spPr>
          <a:xfrm>
            <a:off x="8951976" y="244628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143" name="Text 141"/>
          <p:cNvSpPr txBox="1"/>
          <p:nvPr/>
        </p:nvSpPr>
        <p:spPr>
          <a:xfrm>
            <a:off x="995781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−566</a:t>
            </a:r>
            <a:endParaRPr lang="en-US" sz="1300" dirty="0"/>
          </a:p>
        </p:txBody>
      </p:sp>
      <p:sp>
        <p:nvSpPr>
          <p:cNvPr id="144" name="Text 142"/>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45" name="Shape 143"/>
          <p:cNvSpPr/>
          <p:nvPr/>
        </p:nvSpPr>
        <p:spPr>
          <a:xfrm>
            <a:off x="11521440" y="2492009"/>
            <a:ext cx="54864" cy="157062"/>
          </a:xfrm>
          <a:prstGeom prst="rect">
            <a:avLst/>
          </a:prstGeom>
          <a:solidFill>
            <a:srgbClr val="9AA3AD"/>
          </a:solidFill>
          <a:ln/>
        </p:spPr>
        <p:txBody>
          <a:bodyPr/>
          <a:p/>
        </p:txBody>
      </p:sp>
      <p:sp>
        <p:nvSpPr>
          <p:cNvPr id="146" name="Text 144"/>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47" name="Text 145"/>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48" name="Shape 146"/>
          <p:cNvSpPr/>
          <p:nvPr/>
        </p:nvSpPr>
        <p:spPr>
          <a:xfrm>
            <a:off x="8634865" y="2750703"/>
            <a:ext cx="129225" cy="136676"/>
          </a:xfrm>
          <a:prstGeom prst="rect">
            <a:avLst/>
          </a:prstGeom>
          <a:solidFill>
            <a:srgbClr val="C2352F"/>
          </a:solidFill>
          <a:ln/>
        </p:spPr>
        <p:txBody>
          <a:bodyPr/>
          <a:p/>
        </p:txBody>
      </p:sp>
      <p:sp>
        <p:nvSpPr>
          <p:cNvPr id="149" name="Text 147"/>
          <p:cNvSpPr txBox="1"/>
          <p:nvPr/>
        </p:nvSpPr>
        <p:spPr>
          <a:xfrm>
            <a:off x="8951976" y="2694791"/>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−$51K</a:t>
            </a:r>
            <a:endParaRPr lang="en-US" sz="1300" dirty="0"/>
          </a:p>
        </p:txBody>
      </p:sp>
      <p:sp>
        <p:nvSpPr>
          <p:cNvPr id="150" name="Text 148"/>
          <p:cNvSpPr txBox="1"/>
          <p:nvPr/>
        </p:nvSpPr>
        <p:spPr>
          <a:xfrm>
            <a:off x="995781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−682</a:t>
            </a:r>
            <a:endParaRPr lang="en-US" sz="1300" dirty="0"/>
          </a:p>
        </p:txBody>
      </p:sp>
      <p:sp>
        <p:nvSpPr>
          <p:cNvPr id="151" name="Text 14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a:t>
            </a:r>
            <a:endParaRPr lang="en-US" sz="1300" dirty="0"/>
          </a:p>
        </p:txBody>
      </p:sp>
      <p:sp>
        <p:nvSpPr>
          <p:cNvPr id="152" name="Text 15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53" name="Text 151"/>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54" name="Shape 152"/>
          <p:cNvSpPr/>
          <p:nvPr/>
        </p:nvSpPr>
        <p:spPr>
          <a:xfrm>
            <a:off x="8634819" y="2999205"/>
            <a:ext cx="129271" cy="136676"/>
          </a:xfrm>
          <a:prstGeom prst="rect">
            <a:avLst/>
          </a:prstGeom>
          <a:solidFill>
            <a:srgbClr val="C2352F"/>
          </a:solidFill>
          <a:ln/>
        </p:spPr>
        <p:txBody>
          <a:bodyPr/>
          <a:p/>
        </p:txBody>
      </p:sp>
      <p:sp>
        <p:nvSpPr>
          <p:cNvPr id="155" name="Text 153"/>
          <p:cNvSpPr txBox="1"/>
          <p:nvPr/>
        </p:nvSpPr>
        <p:spPr>
          <a:xfrm>
            <a:off x="8951976" y="294329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−$51K</a:t>
            </a:r>
            <a:endParaRPr lang="en-US" sz="1300" dirty="0"/>
          </a:p>
        </p:txBody>
      </p:sp>
      <p:sp>
        <p:nvSpPr>
          <p:cNvPr id="156" name="Text 154"/>
          <p:cNvSpPr txBox="1"/>
          <p:nvPr/>
        </p:nvSpPr>
        <p:spPr>
          <a:xfrm>
            <a:off x="995781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−682</a:t>
            </a:r>
            <a:endParaRPr lang="en-US" sz="1300" dirty="0"/>
          </a:p>
        </p:txBody>
      </p:sp>
      <p:sp>
        <p:nvSpPr>
          <p:cNvPr id="157" name="Text 155"/>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58" name="Shape 156"/>
          <p:cNvSpPr/>
          <p:nvPr/>
        </p:nvSpPr>
        <p:spPr>
          <a:xfrm>
            <a:off x="11521440" y="2989012"/>
            <a:ext cx="54864" cy="157062"/>
          </a:xfrm>
          <a:prstGeom prst="rect">
            <a:avLst/>
          </a:prstGeom>
          <a:solidFill>
            <a:srgbClr val="C2352F"/>
          </a:solidFill>
          <a:ln/>
        </p:spPr>
        <p:txBody>
          <a:bodyPr/>
          <a:p/>
        </p:txBody>
      </p:sp>
      <p:sp>
        <p:nvSpPr>
          <p:cNvPr id="159" name="Text 157"/>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60" name="Text 158"/>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61" name="Shape 159"/>
          <p:cNvSpPr/>
          <p:nvPr/>
        </p:nvSpPr>
        <p:spPr>
          <a:xfrm>
            <a:off x="8627320" y="3247707"/>
            <a:ext cx="136770" cy="136676"/>
          </a:xfrm>
          <a:prstGeom prst="rect">
            <a:avLst/>
          </a:prstGeom>
          <a:solidFill>
            <a:srgbClr val="C2352F"/>
          </a:solidFill>
          <a:ln/>
        </p:spPr>
        <p:txBody>
          <a:bodyPr/>
          <a:p/>
        </p:txBody>
      </p:sp>
      <p:sp>
        <p:nvSpPr>
          <p:cNvPr id="162" name="Text 160"/>
          <p:cNvSpPr txBox="1"/>
          <p:nvPr/>
        </p:nvSpPr>
        <p:spPr>
          <a:xfrm>
            <a:off x="8951976" y="319179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−$54K</a:t>
            </a:r>
            <a:endParaRPr lang="en-US" sz="1300" dirty="0"/>
          </a:p>
        </p:txBody>
      </p:sp>
      <p:sp>
        <p:nvSpPr>
          <p:cNvPr id="163" name="Text 161"/>
          <p:cNvSpPr txBox="1"/>
          <p:nvPr/>
        </p:nvSpPr>
        <p:spPr>
          <a:xfrm>
            <a:off x="995781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−794</a:t>
            </a:r>
            <a:endParaRPr lang="en-US" sz="1300" dirty="0"/>
          </a:p>
        </p:txBody>
      </p:sp>
      <p:sp>
        <p:nvSpPr>
          <p:cNvPr id="164" name="Text 162"/>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165" name="Text 163"/>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66" name="Text 164"/>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67" name="Shape 165"/>
          <p:cNvSpPr/>
          <p:nvPr/>
        </p:nvSpPr>
        <p:spPr>
          <a:xfrm>
            <a:off x="8624415" y="3496208"/>
            <a:ext cx="139675" cy="136676"/>
          </a:xfrm>
          <a:prstGeom prst="rect">
            <a:avLst/>
          </a:prstGeom>
          <a:solidFill>
            <a:srgbClr val="C2352F"/>
          </a:solidFill>
          <a:ln/>
        </p:spPr>
        <p:txBody>
          <a:bodyPr/>
          <a:p/>
        </p:txBody>
      </p:sp>
      <p:sp>
        <p:nvSpPr>
          <p:cNvPr id="168" name="Text 166"/>
          <p:cNvSpPr txBox="1"/>
          <p:nvPr/>
        </p:nvSpPr>
        <p:spPr>
          <a:xfrm>
            <a:off x="8951976" y="344029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−$55K</a:t>
            </a:r>
            <a:endParaRPr lang="en-US" sz="1300" dirty="0"/>
          </a:p>
        </p:txBody>
      </p:sp>
      <p:sp>
        <p:nvSpPr>
          <p:cNvPr id="169" name="Text 167"/>
          <p:cNvSpPr txBox="1"/>
          <p:nvPr/>
        </p:nvSpPr>
        <p:spPr>
          <a:xfrm>
            <a:off x="995781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−736</a:t>
            </a:r>
            <a:endParaRPr lang="en-US" sz="1300" dirty="0"/>
          </a:p>
        </p:txBody>
      </p:sp>
      <p:sp>
        <p:nvSpPr>
          <p:cNvPr id="170" name="Text 168"/>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71" name="Text 169"/>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72" name="Text 170"/>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73" name="Shape 171"/>
          <p:cNvSpPr/>
          <p:nvPr/>
        </p:nvSpPr>
        <p:spPr>
          <a:xfrm>
            <a:off x="8617980" y="3744710"/>
            <a:ext cx="146110" cy="136676"/>
          </a:xfrm>
          <a:prstGeom prst="rect">
            <a:avLst/>
          </a:prstGeom>
          <a:solidFill>
            <a:srgbClr val="C2352F"/>
          </a:solidFill>
          <a:ln/>
        </p:spPr>
        <p:txBody>
          <a:bodyPr/>
          <a:p/>
        </p:txBody>
      </p:sp>
      <p:sp>
        <p:nvSpPr>
          <p:cNvPr id="174" name="Text 172"/>
          <p:cNvSpPr txBox="1"/>
          <p:nvPr/>
        </p:nvSpPr>
        <p:spPr>
          <a:xfrm>
            <a:off x="8951976" y="368879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175" name="Text 173"/>
          <p:cNvSpPr txBox="1"/>
          <p:nvPr/>
        </p:nvSpPr>
        <p:spPr>
          <a:xfrm>
            <a:off x="995781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−972</a:t>
            </a:r>
            <a:endParaRPr lang="en-US" sz="1300" dirty="0"/>
          </a:p>
        </p:txBody>
      </p:sp>
      <p:sp>
        <p:nvSpPr>
          <p:cNvPr id="176" name="Text 174"/>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177" name="Text 175"/>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78" name="Text 176"/>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79" name="Shape 177"/>
          <p:cNvSpPr/>
          <p:nvPr/>
        </p:nvSpPr>
        <p:spPr>
          <a:xfrm>
            <a:off x="8611516" y="3993212"/>
            <a:ext cx="152574" cy="136676"/>
          </a:xfrm>
          <a:prstGeom prst="rect">
            <a:avLst/>
          </a:prstGeom>
          <a:solidFill>
            <a:srgbClr val="C2352F"/>
          </a:solidFill>
          <a:ln/>
        </p:spPr>
        <p:txBody>
          <a:bodyPr/>
          <a:p/>
        </p:txBody>
      </p:sp>
      <p:sp>
        <p:nvSpPr>
          <p:cNvPr id="180" name="Text 178"/>
          <p:cNvSpPr txBox="1"/>
          <p:nvPr/>
        </p:nvSpPr>
        <p:spPr>
          <a:xfrm>
            <a:off x="8951976" y="393729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181" name="Text 179"/>
          <p:cNvSpPr txBox="1"/>
          <p:nvPr/>
        </p:nvSpPr>
        <p:spPr>
          <a:xfrm>
            <a:off x="995781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−1,145</a:t>
            </a:r>
            <a:endParaRPr lang="en-US" sz="1300" dirty="0"/>
          </a:p>
        </p:txBody>
      </p:sp>
      <p:sp>
        <p:nvSpPr>
          <p:cNvPr id="182" name="Text 180"/>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183" name="Text 181"/>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84" name="Text 182"/>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85" name="Shape 183"/>
          <p:cNvSpPr/>
          <p:nvPr/>
        </p:nvSpPr>
        <p:spPr>
          <a:xfrm>
            <a:off x="8561522" y="4241713"/>
            <a:ext cx="202569" cy="136676"/>
          </a:xfrm>
          <a:prstGeom prst="rect">
            <a:avLst/>
          </a:prstGeom>
          <a:solidFill>
            <a:srgbClr val="C2352F"/>
          </a:solidFill>
          <a:ln/>
        </p:spPr>
        <p:txBody>
          <a:bodyPr/>
          <a:p/>
        </p:txBody>
      </p:sp>
      <p:sp>
        <p:nvSpPr>
          <p:cNvPr id="186" name="Text 184"/>
          <p:cNvSpPr txBox="1"/>
          <p:nvPr/>
        </p:nvSpPr>
        <p:spPr>
          <a:xfrm>
            <a:off x="8951976" y="418580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−$80K</a:t>
            </a:r>
            <a:endParaRPr lang="en-US" sz="1300" dirty="0"/>
          </a:p>
        </p:txBody>
      </p:sp>
      <p:sp>
        <p:nvSpPr>
          <p:cNvPr id="187" name="Text 185"/>
          <p:cNvSpPr txBox="1"/>
          <p:nvPr/>
        </p:nvSpPr>
        <p:spPr>
          <a:xfrm>
            <a:off x="995781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−1,501</a:t>
            </a:r>
            <a:endParaRPr lang="en-US" sz="1300" dirty="0"/>
          </a:p>
        </p:txBody>
      </p:sp>
      <p:sp>
        <p:nvSpPr>
          <p:cNvPr id="188" name="Text 186"/>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189" name="Text 187"/>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90" name="Text 188"/>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91" name="Shape 189"/>
          <p:cNvSpPr/>
          <p:nvPr/>
        </p:nvSpPr>
        <p:spPr>
          <a:xfrm>
            <a:off x="8556261" y="4490215"/>
            <a:ext cx="207830" cy="136676"/>
          </a:xfrm>
          <a:prstGeom prst="rect">
            <a:avLst/>
          </a:prstGeom>
          <a:solidFill>
            <a:srgbClr val="C2352F"/>
          </a:solidFill>
          <a:ln/>
        </p:spPr>
        <p:txBody>
          <a:bodyPr/>
          <a:p/>
        </p:txBody>
      </p:sp>
      <p:sp>
        <p:nvSpPr>
          <p:cNvPr id="192" name="Text 190"/>
          <p:cNvSpPr txBox="1"/>
          <p:nvPr/>
        </p:nvSpPr>
        <p:spPr>
          <a:xfrm>
            <a:off x="8951976" y="443430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−$82K</a:t>
            </a:r>
            <a:endParaRPr lang="en-US" sz="1300" dirty="0"/>
          </a:p>
        </p:txBody>
      </p:sp>
      <p:sp>
        <p:nvSpPr>
          <p:cNvPr id="193" name="Text 191"/>
          <p:cNvSpPr txBox="1"/>
          <p:nvPr/>
        </p:nvSpPr>
        <p:spPr>
          <a:xfrm>
            <a:off x="995781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−1,523</a:t>
            </a:r>
            <a:endParaRPr lang="en-US" sz="1300" dirty="0"/>
          </a:p>
        </p:txBody>
      </p:sp>
      <p:sp>
        <p:nvSpPr>
          <p:cNvPr id="194" name="Text 192"/>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195" name="Text 193"/>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96" name="Text 194"/>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97" name="Shape 195"/>
          <p:cNvSpPr/>
          <p:nvPr/>
        </p:nvSpPr>
        <p:spPr>
          <a:xfrm>
            <a:off x="8526056" y="4738717"/>
            <a:ext cx="238034" cy="136676"/>
          </a:xfrm>
          <a:prstGeom prst="rect">
            <a:avLst/>
          </a:prstGeom>
          <a:solidFill>
            <a:srgbClr val="C2352F"/>
          </a:solidFill>
          <a:ln/>
        </p:spPr>
        <p:txBody>
          <a:bodyPr/>
          <a:p/>
        </p:txBody>
      </p:sp>
      <p:sp>
        <p:nvSpPr>
          <p:cNvPr id="198" name="Text 196"/>
          <p:cNvSpPr txBox="1"/>
          <p:nvPr/>
        </p:nvSpPr>
        <p:spPr>
          <a:xfrm>
            <a:off x="8951976" y="468280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−$94K</a:t>
            </a:r>
            <a:endParaRPr lang="en-US" sz="1300" dirty="0"/>
          </a:p>
        </p:txBody>
      </p:sp>
      <p:sp>
        <p:nvSpPr>
          <p:cNvPr id="199" name="Text 197"/>
          <p:cNvSpPr txBox="1"/>
          <p:nvPr/>
        </p:nvSpPr>
        <p:spPr>
          <a:xfrm>
            <a:off x="995781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−628</a:t>
            </a:r>
            <a:endParaRPr lang="en-US" sz="1300" dirty="0"/>
          </a:p>
        </p:txBody>
      </p:sp>
      <p:sp>
        <p:nvSpPr>
          <p:cNvPr id="200" name="Text 198"/>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201" name="Text 199"/>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202" name="Text 200"/>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203" name="Shape 201"/>
          <p:cNvSpPr/>
          <p:nvPr/>
        </p:nvSpPr>
        <p:spPr>
          <a:xfrm>
            <a:off x="8511929" y="4987218"/>
            <a:ext cx="252161" cy="136676"/>
          </a:xfrm>
          <a:prstGeom prst="rect">
            <a:avLst/>
          </a:prstGeom>
          <a:solidFill>
            <a:srgbClr val="C2352F"/>
          </a:solidFill>
          <a:ln/>
        </p:spPr>
        <p:txBody>
          <a:bodyPr/>
          <a:p/>
        </p:txBody>
      </p:sp>
      <p:sp>
        <p:nvSpPr>
          <p:cNvPr id="204" name="Text 202"/>
          <p:cNvSpPr txBox="1"/>
          <p:nvPr/>
        </p:nvSpPr>
        <p:spPr>
          <a:xfrm>
            <a:off x="8951976" y="4931305"/>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−$99K</a:t>
            </a:r>
            <a:endParaRPr lang="en-US" sz="1300" dirty="0"/>
          </a:p>
        </p:txBody>
      </p:sp>
      <p:sp>
        <p:nvSpPr>
          <p:cNvPr id="205" name="Text 203"/>
          <p:cNvSpPr txBox="1"/>
          <p:nvPr/>
        </p:nvSpPr>
        <p:spPr>
          <a:xfrm>
            <a:off x="995781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−1,193</a:t>
            </a:r>
            <a:endParaRPr lang="en-US" sz="1300" dirty="0"/>
          </a:p>
        </p:txBody>
      </p:sp>
      <p:sp>
        <p:nvSpPr>
          <p:cNvPr id="206" name="Text 204"/>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6.1%</a:t>
            </a:r>
            <a:endParaRPr lang="en-US" sz="1300" dirty="0"/>
          </a:p>
        </p:txBody>
      </p:sp>
      <p:sp>
        <p:nvSpPr>
          <p:cNvPr id="207" name="Text 20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208" name="Text 206"/>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209" name="Shape 207"/>
          <p:cNvSpPr/>
          <p:nvPr/>
        </p:nvSpPr>
        <p:spPr>
          <a:xfrm>
            <a:off x="8483276" y="5235720"/>
            <a:ext cx="280814" cy="136676"/>
          </a:xfrm>
          <a:prstGeom prst="rect">
            <a:avLst/>
          </a:prstGeom>
          <a:solidFill>
            <a:srgbClr val="C2352F"/>
          </a:solidFill>
          <a:ln/>
        </p:spPr>
        <p:txBody>
          <a:bodyPr/>
          <a:p/>
        </p:txBody>
      </p:sp>
      <p:sp>
        <p:nvSpPr>
          <p:cNvPr id="210" name="Text 208"/>
          <p:cNvSpPr txBox="1"/>
          <p:nvPr/>
        </p:nvSpPr>
        <p:spPr>
          <a:xfrm>
            <a:off x="8951976" y="517980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−$111K</a:t>
            </a:r>
            <a:endParaRPr lang="en-US" sz="1300" dirty="0"/>
          </a:p>
        </p:txBody>
      </p:sp>
      <p:sp>
        <p:nvSpPr>
          <p:cNvPr id="211" name="Text 209"/>
          <p:cNvSpPr txBox="1"/>
          <p:nvPr/>
        </p:nvSpPr>
        <p:spPr>
          <a:xfrm>
            <a:off x="995781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−2,004</a:t>
            </a:r>
            <a:endParaRPr lang="en-US" sz="1300" dirty="0"/>
          </a:p>
        </p:txBody>
      </p:sp>
      <p:sp>
        <p:nvSpPr>
          <p:cNvPr id="212" name="Text 210"/>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a:t>
            </a:r>
            <a:endParaRPr lang="en-US" sz="1300" dirty="0"/>
          </a:p>
        </p:txBody>
      </p:sp>
      <p:sp>
        <p:nvSpPr>
          <p:cNvPr id="213" name="Text 211"/>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14" name="Text 212"/>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215" name="Shape 213"/>
          <p:cNvSpPr/>
          <p:nvPr/>
        </p:nvSpPr>
        <p:spPr>
          <a:xfrm>
            <a:off x="8421624" y="5484222"/>
            <a:ext cx="342466" cy="136676"/>
          </a:xfrm>
          <a:prstGeom prst="rect">
            <a:avLst/>
          </a:prstGeom>
          <a:solidFill>
            <a:srgbClr val="C2352F"/>
          </a:solidFill>
          <a:ln/>
        </p:spPr>
        <p:txBody>
          <a:bodyPr/>
          <a:p/>
        </p:txBody>
      </p:sp>
      <p:sp>
        <p:nvSpPr>
          <p:cNvPr id="216" name="Text 214"/>
          <p:cNvSpPr txBox="1"/>
          <p:nvPr/>
        </p:nvSpPr>
        <p:spPr>
          <a:xfrm>
            <a:off x="8951976" y="542830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−$135K</a:t>
            </a:r>
            <a:endParaRPr lang="en-US" sz="1300" dirty="0"/>
          </a:p>
        </p:txBody>
      </p:sp>
      <p:sp>
        <p:nvSpPr>
          <p:cNvPr id="217" name="Text 215"/>
          <p:cNvSpPr txBox="1"/>
          <p:nvPr/>
        </p:nvSpPr>
        <p:spPr>
          <a:xfrm>
            <a:off x="995781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−2,520</a:t>
            </a:r>
            <a:endParaRPr lang="en-US" sz="1300" dirty="0"/>
          </a:p>
        </p:txBody>
      </p:sp>
      <p:sp>
        <p:nvSpPr>
          <p:cNvPr id="218" name="Text 216"/>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0.4%</a:t>
            </a:r>
            <a:endParaRPr lang="en-US" sz="1300" dirty="0"/>
          </a:p>
        </p:txBody>
      </p:sp>
      <p:sp>
        <p:nvSpPr>
          <p:cNvPr id="219" name="Shape 217"/>
          <p:cNvSpPr/>
          <p:nvPr/>
        </p:nvSpPr>
        <p:spPr>
          <a:xfrm>
            <a:off x="11521440" y="5474029"/>
            <a:ext cx="54864" cy="157062"/>
          </a:xfrm>
          <a:prstGeom prst="rect">
            <a:avLst/>
          </a:prstGeom>
          <a:solidFill>
            <a:srgbClr val="C2352F"/>
          </a:solidFill>
          <a:ln/>
        </p:spPr>
        <p:txBody>
          <a:bodyPr/>
          <a:p/>
        </p:txBody>
      </p:sp>
      <p:sp>
        <p:nvSpPr>
          <p:cNvPr id="220" name="Shape 218"/>
          <p:cNvSpPr/>
          <p:nvPr/>
        </p:nvSpPr>
        <p:spPr>
          <a:xfrm>
            <a:off x="6085332" y="1700784"/>
            <a:ext cx="10973" cy="4224528"/>
          </a:xfrm>
          <a:prstGeom prst="rect">
            <a:avLst/>
          </a:prstGeom>
          <a:solidFill>
            <a:srgbClr val="D9D9D9"/>
          </a:solidFill>
          <a:ln/>
        </p:spPr>
        <p:txBody>
          <a:bodyPr/>
          <a:p/>
        </p:txBody>
      </p:sp>
      <p:sp>
        <p:nvSpPr>
          <p:cNvPr id="221" name="Shape 219"/>
          <p:cNvSpPr/>
          <p:nvPr/>
        </p:nvSpPr>
        <p:spPr>
          <a:xfrm>
            <a:off x="457200" y="6126480"/>
            <a:ext cx="11274552" cy="615696"/>
          </a:xfrm>
          <a:prstGeom prst="rect">
            <a:avLst/>
          </a:prstGeom>
          <a:solidFill>
            <a:srgbClr val="FBEBEA"/>
          </a:solidFill>
          <a:ln/>
        </p:spPr>
        <p:txBody>
          <a:bodyPr/>
          <a:p/>
        </p:txBody>
      </p:sp>
      <p:sp>
        <p:nvSpPr>
          <p:cNvPr id="222" name="Text 22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29 stores under 15% have left $1,248,289 so far this year; 4 are at or above it. Toyota Spokane is furthest below at −$135K.</a:t>
            </a:r>
            <a:endParaRPr lang="en-US" sz="160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Text 4"/>
          <p:cNvSpPr txBox="1"/>
          <p:nvPr/>
        </p:nvSpPr>
        <p:spPr>
          <a:xfrm>
            <a:off x="3401568" y="1316736"/>
            <a:ext cx="10058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440740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8" name="Text 6"/>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9" name="Shape 7"/>
          <p:cNvSpPr/>
          <p:nvPr/>
        </p:nvSpPr>
        <p:spPr>
          <a:xfrm>
            <a:off x="3040259" y="1700784"/>
            <a:ext cx="10973" cy="4224528"/>
          </a:xfrm>
          <a:prstGeom prst="rect">
            <a:avLst/>
          </a:prstGeom>
          <a:solidFill>
            <a:srgbClr val="9AA3AD"/>
          </a:solidFill>
          <a:ln/>
        </p:spPr>
        <p:txBody>
          <a:bodyPr/>
          <a:p/>
        </p:txBody>
      </p:sp>
      <p:sp>
        <p:nvSpPr>
          <p:cNvPr id="10" name="Text 8"/>
          <p:cNvSpPr txBox="1"/>
          <p:nvPr/>
        </p:nvSpPr>
        <p:spPr>
          <a:xfrm>
            <a:off x="8951976" y="1316736"/>
            <a:ext cx="10058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995781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12" name="Text 10"/>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3" name="Shape 11"/>
          <p:cNvSpPr/>
          <p:nvPr/>
        </p:nvSpPr>
        <p:spPr>
          <a:xfrm>
            <a:off x="8590667" y="1700784"/>
            <a:ext cx="10973" cy="3976026"/>
          </a:xfrm>
          <a:prstGeom prst="rect">
            <a:avLst/>
          </a:prstGeom>
          <a:solidFill>
            <a:srgbClr val="9AA3AD"/>
          </a:solidFill>
          <a:ln/>
        </p:spPr>
        <p:txBody>
          <a:bodyPr/>
          <a:p/>
        </p:txBody>
      </p:sp>
      <p:sp>
        <p:nvSpPr>
          <p:cNvPr id="14" name="Text 12"/>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6" name="Shape 14"/>
          <p:cNvSpPr/>
          <p:nvPr/>
        </p:nvSpPr>
        <p:spPr>
          <a:xfrm>
            <a:off x="3045746" y="1756697"/>
            <a:ext cx="300958" cy="136676"/>
          </a:xfrm>
          <a:prstGeom prst="rect">
            <a:avLst/>
          </a:prstGeom>
          <a:solidFill>
            <a:srgbClr val="12A566"/>
          </a:solidFill>
          <a:ln/>
        </p:spPr>
        <p:txBody>
          <a:bodyPr/>
          <a:p/>
        </p:txBody>
      </p:sp>
      <p:sp>
        <p:nvSpPr>
          <p:cNvPr id="17" name="Text 15"/>
          <p:cNvSpPr txBox="1"/>
          <p:nvPr/>
        </p:nvSpPr>
        <p:spPr>
          <a:xfrm>
            <a:off x="3401568" y="1700784"/>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+$195K</a:t>
            </a:r>
            <a:endParaRPr lang="en-US" sz="1300" dirty="0"/>
          </a:p>
        </p:txBody>
      </p:sp>
      <p:sp>
        <p:nvSpPr>
          <p:cNvPr id="18" name="Text 16"/>
          <p:cNvSpPr txBox="1"/>
          <p:nvPr/>
        </p:nvSpPr>
        <p:spPr>
          <a:xfrm>
            <a:off x="440740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+1,260</a:t>
            </a:r>
            <a:endParaRPr lang="en-US" sz="1300" dirty="0"/>
          </a:p>
        </p:txBody>
      </p:sp>
      <p:sp>
        <p:nvSpPr>
          <p:cNvPr id="19" name="Text 17"/>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a:t>
            </a:r>
            <a:endParaRPr lang="en-US" sz="1300" dirty="0"/>
          </a:p>
        </p:txBody>
      </p:sp>
      <p:sp>
        <p:nvSpPr>
          <p:cNvPr id="20" name="Shape 18"/>
          <p:cNvSpPr/>
          <p:nvPr/>
        </p:nvSpPr>
        <p:spPr>
          <a:xfrm>
            <a:off x="5971032" y="1746504"/>
            <a:ext cx="54864" cy="157062"/>
          </a:xfrm>
          <a:prstGeom prst="rect">
            <a:avLst/>
          </a:prstGeom>
          <a:solidFill>
            <a:srgbClr val="12A566"/>
          </a:solidFill>
          <a:ln/>
        </p:spPr>
        <p:txBody>
          <a:bodyPr/>
          <a:p/>
        </p:txBody>
      </p:sp>
      <p:sp>
        <p:nvSpPr>
          <p:cNvPr id="21" name="Text 19"/>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2" name="Text 20"/>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3" name="Shape 21"/>
          <p:cNvSpPr/>
          <p:nvPr/>
        </p:nvSpPr>
        <p:spPr>
          <a:xfrm>
            <a:off x="3045746" y="2005199"/>
            <a:ext cx="216846" cy="136676"/>
          </a:xfrm>
          <a:prstGeom prst="rect">
            <a:avLst/>
          </a:prstGeom>
          <a:solidFill>
            <a:srgbClr val="12A566"/>
          </a:solidFill>
          <a:ln/>
        </p:spPr>
        <p:txBody>
          <a:bodyPr/>
          <a:p/>
        </p:txBody>
      </p:sp>
      <p:sp>
        <p:nvSpPr>
          <p:cNvPr id="24" name="Text 22"/>
          <p:cNvSpPr txBox="1"/>
          <p:nvPr/>
        </p:nvSpPr>
        <p:spPr>
          <a:xfrm>
            <a:off x="3401568" y="1949286"/>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+$141K</a:t>
            </a:r>
            <a:endParaRPr lang="en-US" sz="1300" dirty="0"/>
          </a:p>
        </p:txBody>
      </p:sp>
      <p:sp>
        <p:nvSpPr>
          <p:cNvPr id="25" name="Text 23"/>
          <p:cNvSpPr txBox="1"/>
          <p:nvPr/>
        </p:nvSpPr>
        <p:spPr>
          <a:xfrm>
            <a:off x="440740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+372</a:t>
            </a:r>
            <a:endParaRPr lang="en-US" sz="1300" dirty="0"/>
          </a:p>
        </p:txBody>
      </p:sp>
      <p:sp>
        <p:nvSpPr>
          <p:cNvPr id="26" name="Text 24"/>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20.6%</a:t>
            </a:r>
            <a:endParaRPr lang="en-US" sz="1300" dirty="0"/>
          </a:p>
        </p:txBody>
      </p:sp>
      <p:sp>
        <p:nvSpPr>
          <p:cNvPr id="27" name="Shape 25"/>
          <p:cNvSpPr/>
          <p:nvPr/>
        </p:nvSpPr>
        <p:spPr>
          <a:xfrm>
            <a:off x="5971032" y="1995006"/>
            <a:ext cx="54864" cy="157062"/>
          </a:xfrm>
          <a:prstGeom prst="rect">
            <a:avLst/>
          </a:prstGeom>
          <a:solidFill>
            <a:srgbClr val="12A566"/>
          </a:solidFill>
          <a:ln/>
        </p:spPr>
        <p:txBody>
          <a:bodyPr/>
          <a:p/>
        </p:txBody>
      </p:sp>
      <p:sp>
        <p:nvSpPr>
          <p:cNvPr id="28" name="Text 26"/>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9" name="Text 27"/>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30" name="Shape 28"/>
          <p:cNvSpPr/>
          <p:nvPr/>
        </p:nvSpPr>
        <p:spPr>
          <a:xfrm>
            <a:off x="3045746" y="2253700"/>
            <a:ext cx="78044" cy="136676"/>
          </a:xfrm>
          <a:prstGeom prst="rect">
            <a:avLst/>
          </a:prstGeom>
          <a:solidFill>
            <a:srgbClr val="12A566"/>
          </a:solidFill>
          <a:ln/>
        </p:spPr>
        <p:txBody>
          <a:bodyPr/>
          <a:p/>
        </p:txBody>
      </p:sp>
      <p:sp>
        <p:nvSpPr>
          <p:cNvPr id="31" name="Text 29"/>
          <p:cNvSpPr txBox="1"/>
          <p:nvPr/>
        </p:nvSpPr>
        <p:spPr>
          <a:xfrm>
            <a:off x="3401568" y="2197787"/>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+$51K</a:t>
            </a:r>
            <a:endParaRPr lang="en-US" sz="1300" dirty="0"/>
          </a:p>
        </p:txBody>
      </p:sp>
      <p:sp>
        <p:nvSpPr>
          <p:cNvPr id="32" name="Text 30"/>
          <p:cNvSpPr txBox="1"/>
          <p:nvPr/>
        </p:nvSpPr>
        <p:spPr>
          <a:xfrm>
            <a:off x="440740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+316</a:t>
            </a:r>
            <a:endParaRPr lang="en-US" sz="1300" dirty="0"/>
          </a:p>
        </p:txBody>
      </p:sp>
      <p:sp>
        <p:nvSpPr>
          <p:cNvPr id="33" name="Text 31"/>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12.1%</a:t>
            </a:r>
            <a:endParaRPr lang="en-US" sz="1300" dirty="0"/>
          </a:p>
        </p:txBody>
      </p:sp>
      <p:sp>
        <p:nvSpPr>
          <p:cNvPr id="34" name="Text 32"/>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5" name="Text 33"/>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6" name="Shape 34"/>
          <p:cNvSpPr/>
          <p:nvPr/>
        </p:nvSpPr>
        <p:spPr>
          <a:xfrm>
            <a:off x="3045746" y="2502202"/>
            <a:ext cx="39072" cy="136676"/>
          </a:xfrm>
          <a:prstGeom prst="rect">
            <a:avLst/>
          </a:prstGeom>
          <a:solidFill>
            <a:srgbClr val="12A566"/>
          </a:solidFill>
          <a:ln/>
        </p:spPr>
        <p:txBody>
          <a:bodyPr/>
          <a:p/>
        </p:txBody>
      </p:sp>
      <p:sp>
        <p:nvSpPr>
          <p:cNvPr id="37" name="Text 35"/>
          <p:cNvSpPr txBox="1"/>
          <p:nvPr/>
        </p:nvSpPr>
        <p:spPr>
          <a:xfrm>
            <a:off x="3401568" y="2446289"/>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+$25K</a:t>
            </a:r>
            <a:endParaRPr lang="en-US" sz="1300" dirty="0"/>
          </a:p>
        </p:txBody>
      </p:sp>
      <p:sp>
        <p:nvSpPr>
          <p:cNvPr id="38" name="Text 36"/>
          <p:cNvSpPr txBox="1"/>
          <p:nvPr/>
        </p:nvSpPr>
        <p:spPr>
          <a:xfrm>
            <a:off x="440740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a:t>
            </a:r>
            <a:endParaRPr lang="en-US" sz="1300" dirty="0"/>
          </a:p>
        </p:txBody>
      </p:sp>
      <p:sp>
        <p:nvSpPr>
          <p:cNvPr id="39" name="Text 37"/>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14.3%</a:t>
            </a:r>
            <a:endParaRPr lang="en-US" sz="1300" dirty="0"/>
          </a:p>
        </p:txBody>
      </p:sp>
      <p:sp>
        <p:nvSpPr>
          <p:cNvPr id="40" name="Shape 38"/>
          <p:cNvSpPr/>
          <p:nvPr/>
        </p:nvSpPr>
        <p:spPr>
          <a:xfrm>
            <a:off x="5971032" y="2492009"/>
            <a:ext cx="54864" cy="157062"/>
          </a:xfrm>
          <a:prstGeom prst="rect">
            <a:avLst/>
          </a:prstGeom>
          <a:solidFill>
            <a:srgbClr val="12A566"/>
          </a:solidFill>
          <a:ln/>
        </p:spPr>
        <p:txBody>
          <a:bodyPr/>
          <a:p/>
        </p:txBody>
      </p:sp>
      <p:sp>
        <p:nvSpPr>
          <p:cNvPr id="41" name="Text 39"/>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42" name="Text 40"/>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3" name="Shape 41"/>
          <p:cNvSpPr/>
          <p:nvPr/>
        </p:nvSpPr>
        <p:spPr>
          <a:xfrm>
            <a:off x="3045746" y="2750703"/>
            <a:ext cx="37733" cy="136676"/>
          </a:xfrm>
          <a:prstGeom prst="rect">
            <a:avLst/>
          </a:prstGeom>
          <a:solidFill>
            <a:srgbClr val="12A566"/>
          </a:solidFill>
          <a:ln/>
        </p:spPr>
        <p:txBody>
          <a:bodyPr/>
          <a:p/>
        </p:txBody>
      </p:sp>
      <p:sp>
        <p:nvSpPr>
          <p:cNvPr id="44" name="Text 42"/>
          <p:cNvSpPr txBox="1"/>
          <p:nvPr/>
        </p:nvSpPr>
        <p:spPr>
          <a:xfrm>
            <a:off x="3401568" y="2694791"/>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+$24K</a:t>
            </a:r>
            <a:endParaRPr lang="en-US" sz="1300" dirty="0"/>
          </a:p>
        </p:txBody>
      </p:sp>
      <p:sp>
        <p:nvSpPr>
          <p:cNvPr id="45" name="Text 43"/>
          <p:cNvSpPr txBox="1"/>
          <p:nvPr/>
        </p:nvSpPr>
        <p:spPr>
          <a:xfrm>
            <a:off x="440740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+65</a:t>
            </a:r>
            <a:endParaRPr lang="en-US" sz="1300" dirty="0"/>
          </a:p>
        </p:txBody>
      </p:sp>
      <p:sp>
        <p:nvSpPr>
          <p:cNvPr id="46" name="Text 4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11.9%</a:t>
            </a:r>
            <a:endParaRPr lang="en-US" sz="1300" dirty="0"/>
          </a:p>
        </p:txBody>
      </p:sp>
      <p:sp>
        <p:nvSpPr>
          <p:cNvPr id="47" name="Text 4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8" name="Text 46"/>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49" name="Shape 47"/>
          <p:cNvSpPr/>
          <p:nvPr/>
        </p:nvSpPr>
        <p:spPr>
          <a:xfrm>
            <a:off x="3045746" y="2999205"/>
            <a:ext cx="27359" cy="136676"/>
          </a:xfrm>
          <a:prstGeom prst="rect">
            <a:avLst/>
          </a:prstGeom>
          <a:solidFill>
            <a:srgbClr val="12A566"/>
          </a:solidFill>
          <a:ln/>
        </p:spPr>
        <p:txBody>
          <a:bodyPr/>
          <a:p/>
        </p:txBody>
      </p:sp>
      <p:sp>
        <p:nvSpPr>
          <p:cNvPr id="50" name="Text 48"/>
          <p:cNvSpPr txBox="1"/>
          <p:nvPr/>
        </p:nvSpPr>
        <p:spPr>
          <a:xfrm>
            <a:off x="3401568" y="2943292"/>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+$18K</a:t>
            </a:r>
            <a:endParaRPr lang="en-US" sz="1300" dirty="0"/>
          </a:p>
        </p:txBody>
      </p:sp>
      <p:sp>
        <p:nvSpPr>
          <p:cNvPr id="51" name="Text 49"/>
          <p:cNvSpPr txBox="1"/>
          <p:nvPr/>
        </p:nvSpPr>
        <p:spPr>
          <a:xfrm>
            <a:off x="440740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a:t>
            </a:r>
            <a:endParaRPr lang="en-US" sz="1300" dirty="0"/>
          </a:p>
        </p:txBody>
      </p:sp>
      <p:sp>
        <p:nvSpPr>
          <p:cNvPr id="52" name="Text 50"/>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a:t>
            </a:r>
            <a:endParaRPr lang="en-US" sz="1300" dirty="0"/>
          </a:p>
        </p:txBody>
      </p:sp>
      <p:sp>
        <p:nvSpPr>
          <p:cNvPr id="53" name="Text 51"/>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54" name="Text 52"/>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55" name="Shape 53"/>
          <p:cNvSpPr/>
          <p:nvPr/>
        </p:nvSpPr>
        <p:spPr>
          <a:xfrm>
            <a:off x="3045746" y="3247707"/>
            <a:ext cx="24282" cy="136676"/>
          </a:xfrm>
          <a:prstGeom prst="rect">
            <a:avLst/>
          </a:prstGeom>
          <a:solidFill>
            <a:srgbClr val="12A566"/>
          </a:solidFill>
          <a:ln/>
        </p:spPr>
        <p:txBody>
          <a:bodyPr/>
          <a:p/>
        </p:txBody>
      </p:sp>
      <p:sp>
        <p:nvSpPr>
          <p:cNvPr id="56" name="Text 54"/>
          <p:cNvSpPr txBox="1"/>
          <p:nvPr/>
        </p:nvSpPr>
        <p:spPr>
          <a:xfrm>
            <a:off x="3401568" y="3191794"/>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+$16K</a:t>
            </a:r>
            <a:endParaRPr lang="en-US" sz="1300" dirty="0"/>
          </a:p>
        </p:txBody>
      </p:sp>
      <p:sp>
        <p:nvSpPr>
          <p:cNvPr id="57" name="Text 55"/>
          <p:cNvSpPr txBox="1"/>
          <p:nvPr/>
        </p:nvSpPr>
        <p:spPr>
          <a:xfrm>
            <a:off x="440740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58" name="Text 56"/>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a:t>
            </a:r>
            <a:endParaRPr lang="en-US" sz="1300" dirty="0"/>
          </a:p>
        </p:txBody>
      </p:sp>
      <p:sp>
        <p:nvSpPr>
          <p:cNvPr id="59" name="Text 57"/>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60" name="Text 58"/>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61" name="Shape 59"/>
          <p:cNvSpPr/>
          <p:nvPr/>
        </p:nvSpPr>
        <p:spPr>
          <a:xfrm>
            <a:off x="3045746" y="3496208"/>
            <a:ext cx="22695" cy="136676"/>
          </a:xfrm>
          <a:prstGeom prst="rect">
            <a:avLst/>
          </a:prstGeom>
          <a:solidFill>
            <a:srgbClr val="12A566"/>
          </a:solidFill>
          <a:ln/>
        </p:spPr>
        <p:txBody>
          <a:bodyPr/>
          <a:p/>
        </p:txBody>
      </p:sp>
      <p:sp>
        <p:nvSpPr>
          <p:cNvPr id="62" name="Text 60"/>
          <p:cNvSpPr txBox="1"/>
          <p:nvPr/>
        </p:nvSpPr>
        <p:spPr>
          <a:xfrm>
            <a:off x="3401568" y="3440296"/>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+$15K</a:t>
            </a:r>
            <a:endParaRPr lang="en-US" sz="1300" dirty="0"/>
          </a:p>
        </p:txBody>
      </p:sp>
      <p:sp>
        <p:nvSpPr>
          <p:cNvPr id="63" name="Text 61"/>
          <p:cNvSpPr txBox="1"/>
          <p:nvPr/>
        </p:nvSpPr>
        <p:spPr>
          <a:xfrm>
            <a:off x="440740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a:t>
            </a:r>
            <a:endParaRPr lang="en-US" sz="1300" dirty="0"/>
          </a:p>
        </p:txBody>
      </p:sp>
      <p:sp>
        <p:nvSpPr>
          <p:cNvPr id="64" name="Text 62"/>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a:t>
            </a:r>
            <a:endParaRPr lang="en-US" sz="1300" dirty="0"/>
          </a:p>
        </p:txBody>
      </p:sp>
      <p:sp>
        <p:nvSpPr>
          <p:cNvPr id="65" name="Text 63"/>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6" name="Text 64"/>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67" name="Shape 65"/>
          <p:cNvSpPr/>
          <p:nvPr/>
        </p:nvSpPr>
        <p:spPr>
          <a:xfrm>
            <a:off x="3045746" y="3744710"/>
            <a:ext cx="18342" cy="136676"/>
          </a:xfrm>
          <a:prstGeom prst="rect">
            <a:avLst/>
          </a:prstGeom>
          <a:solidFill>
            <a:srgbClr val="12A566"/>
          </a:solidFill>
          <a:ln/>
        </p:spPr>
        <p:txBody>
          <a:bodyPr/>
          <a:p/>
        </p:txBody>
      </p:sp>
      <p:sp>
        <p:nvSpPr>
          <p:cNvPr id="68" name="Text 66"/>
          <p:cNvSpPr txBox="1"/>
          <p:nvPr/>
        </p:nvSpPr>
        <p:spPr>
          <a:xfrm>
            <a:off x="3401568" y="3688797"/>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+$12K</a:t>
            </a:r>
            <a:endParaRPr lang="en-US" sz="1300" dirty="0"/>
          </a:p>
        </p:txBody>
      </p:sp>
      <p:sp>
        <p:nvSpPr>
          <p:cNvPr id="69" name="Text 67"/>
          <p:cNvSpPr txBox="1"/>
          <p:nvPr/>
        </p:nvSpPr>
        <p:spPr>
          <a:xfrm>
            <a:off x="440740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a:t>
            </a:r>
            <a:endParaRPr lang="en-US" sz="1300" dirty="0"/>
          </a:p>
        </p:txBody>
      </p:sp>
      <p:sp>
        <p:nvSpPr>
          <p:cNvPr id="70" name="Text 68"/>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a:t>
            </a:r>
            <a:endParaRPr lang="en-US" sz="1300" dirty="0"/>
          </a:p>
        </p:txBody>
      </p:sp>
      <p:sp>
        <p:nvSpPr>
          <p:cNvPr id="71" name="Text 69"/>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72" name="Text 70"/>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73" name="Shape 71"/>
          <p:cNvSpPr/>
          <p:nvPr/>
        </p:nvSpPr>
        <p:spPr>
          <a:xfrm>
            <a:off x="3045746" y="3993212"/>
            <a:ext cx="18288" cy="136676"/>
          </a:xfrm>
          <a:prstGeom prst="rect">
            <a:avLst/>
          </a:prstGeom>
          <a:solidFill>
            <a:srgbClr val="12A566"/>
          </a:solidFill>
          <a:ln/>
        </p:spPr>
        <p:txBody>
          <a:bodyPr/>
          <a:p/>
        </p:txBody>
      </p:sp>
      <p:sp>
        <p:nvSpPr>
          <p:cNvPr id="74" name="Text 72"/>
          <p:cNvSpPr txBox="1"/>
          <p:nvPr/>
        </p:nvSpPr>
        <p:spPr>
          <a:xfrm>
            <a:off x="3401568" y="3937299"/>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+$7K</a:t>
            </a:r>
            <a:endParaRPr lang="en-US" sz="1300" dirty="0"/>
          </a:p>
        </p:txBody>
      </p:sp>
      <p:sp>
        <p:nvSpPr>
          <p:cNvPr id="75" name="Text 73"/>
          <p:cNvSpPr txBox="1"/>
          <p:nvPr/>
        </p:nvSpPr>
        <p:spPr>
          <a:xfrm>
            <a:off x="440740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a:t>
            </a:r>
            <a:endParaRPr lang="en-US" sz="1300" dirty="0"/>
          </a:p>
        </p:txBody>
      </p:sp>
      <p:sp>
        <p:nvSpPr>
          <p:cNvPr id="76" name="Text 74"/>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10.1%</a:t>
            </a:r>
            <a:endParaRPr lang="en-US" sz="1300" dirty="0"/>
          </a:p>
        </p:txBody>
      </p:sp>
      <p:sp>
        <p:nvSpPr>
          <p:cNvPr id="77" name="Text 75"/>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8" name="Text 76"/>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9" name="Shape 77"/>
          <p:cNvSpPr/>
          <p:nvPr/>
        </p:nvSpPr>
        <p:spPr>
          <a:xfrm>
            <a:off x="3045746" y="4241713"/>
            <a:ext cx="18288" cy="136676"/>
          </a:xfrm>
          <a:prstGeom prst="rect">
            <a:avLst/>
          </a:prstGeom>
          <a:solidFill>
            <a:srgbClr val="12A566"/>
          </a:solidFill>
          <a:ln/>
        </p:spPr>
        <p:txBody>
          <a:bodyPr/>
          <a:p/>
        </p:txBody>
      </p:sp>
      <p:sp>
        <p:nvSpPr>
          <p:cNvPr id="80" name="Text 78"/>
          <p:cNvSpPr txBox="1"/>
          <p:nvPr/>
        </p:nvSpPr>
        <p:spPr>
          <a:xfrm>
            <a:off x="3401568" y="4185800"/>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+$5K</a:t>
            </a:r>
            <a:endParaRPr lang="en-US" sz="1300" dirty="0"/>
          </a:p>
        </p:txBody>
      </p:sp>
      <p:sp>
        <p:nvSpPr>
          <p:cNvPr id="81" name="Text 79"/>
          <p:cNvSpPr txBox="1"/>
          <p:nvPr/>
        </p:nvSpPr>
        <p:spPr>
          <a:xfrm>
            <a:off x="440740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82" name="Text 80"/>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a:t>
            </a:r>
            <a:endParaRPr lang="en-US" sz="1300" dirty="0"/>
          </a:p>
        </p:txBody>
      </p:sp>
      <p:sp>
        <p:nvSpPr>
          <p:cNvPr id="83" name="Text 81"/>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84" name="Text 82"/>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85" name="Shape 83"/>
          <p:cNvSpPr/>
          <p:nvPr/>
        </p:nvSpPr>
        <p:spPr>
          <a:xfrm>
            <a:off x="3045746" y="4490215"/>
            <a:ext cx="18288" cy="136676"/>
          </a:xfrm>
          <a:prstGeom prst="rect">
            <a:avLst/>
          </a:prstGeom>
          <a:solidFill>
            <a:srgbClr val="12A566"/>
          </a:solidFill>
          <a:ln/>
        </p:spPr>
        <p:txBody>
          <a:bodyPr/>
          <a:p/>
        </p:txBody>
      </p:sp>
      <p:sp>
        <p:nvSpPr>
          <p:cNvPr id="86" name="Text 84"/>
          <p:cNvSpPr txBox="1"/>
          <p:nvPr/>
        </p:nvSpPr>
        <p:spPr>
          <a:xfrm>
            <a:off x="3401568" y="4434302"/>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+$4K</a:t>
            </a:r>
            <a:endParaRPr lang="en-US" sz="1300" dirty="0"/>
          </a:p>
        </p:txBody>
      </p:sp>
      <p:sp>
        <p:nvSpPr>
          <p:cNvPr id="87" name="Text 85"/>
          <p:cNvSpPr txBox="1"/>
          <p:nvPr/>
        </p:nvSpPr>
        <p:spPr>
          <a:xfrm>
            <a:off x="440740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88" name="Text 86"/>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a:t>
            </a:r>
            <a:endParaRPr lang="en-US" sz="1300" dirty="0"/>
          </a:p>
        </p:txBody>
      </p:sp>
      <p:sp>
        <p:nvSpPr>
          <p:cNvPr id="89" name="Text 87"/>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90" name="Text 88"/>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91" name="Shape 89"/>
          <p:cNvSpPr/>
          <p:nvPr/>
        </p:nvSpPr>
        <p:spPr>
          <a:xfrm>
            <a:off x="3041920" y="4738717"/>
            <a:ext cx="18288" cy="136676"/>
          </a:xfrm>
          <a:prstGeom prst="rect">
            <a:avLst/>
          </a:prstGeom>
          <a:solidFill>
            <a:srgbClr val="C2352F"/>
          </a:solidFill>
          <a:ln/>
        </p:spPr>
        <p:txBody>
          <a:bodyPr/>
          <a:p/>
        </p:txBody>
      </p:sp>
      <p:sp>
        <p:nvSpPr>
          <p:cNvPr id="92" name="Text 90"/>
          <p:cNvSpPr txBox="1"/>
          <p:nvPr/>
        </p:nvSpPr>
        <p:spPr>
          <a:xfrm>
            <a:off x="3401568" y="468280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−$2K</a:t>
            </a:r>
            <a:endParaRPr lang="en-US" sz="1300" dirty="0"/>
          </a:p>
        </p:txBody>
      </p:sp>
      <p:sp>
        <p:nvSpPr>
          <p:cNvPr id="93" name="Text 91"/>
          <p:cNvSpPr txBox="1"/>
          <p:nvPr/>
        </p:nvSpPr>
        <p:spPr>
          <a:xfrm>
            <a:off x="440740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
        <p:nvSpPr>
          <p:cNvPr id="94" name="Text 92"/>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a:t>
            </a:r>
            <a:endParaRPr lang="en-US" sz="1300" dirty="0"/>
          </a:p>
        </p:txBody>
      </p:sp>
      <p:sp>
        <p:nvSpPr>
          <p:cNvPr id="95" name="Text 93"/>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6" name="Text 94"/>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7" name="Shape 95"/>
          <p:cNvSpPr/>
          <p:nvPr/>
        </p:nvSpPr>
        <p:spPr>
          <a:xfrm>
            <a:off x="3040676" y="4987218"/>
            <a:ext cx="18288" cy="136676"/>
          </a:xfrm>
          <a:prstGeom prst="rect">
            <a:avLst/>
          </a:prstGeom>
          <a:solidFill>
            <a:srgbClr val="C2352F"/>
          </a:solidFill>
          <a:ln/>
        </p:spPr>
        <p:txBody>
          <a:bodyPr/>
          <a:p/>
        </p:txBody>
      </p:sp>
      <p:sp>
        <p:nvSpPr>
          <p:cNvPr id="98" name="Text 96"/>
          <p:cNvSpPr txBox="1"/>
          <p:nvPr/>
        </p:nvSpPr>
        <p:spPr>
          <a:xfrm>
            <a:off x="3401568" y="4931305"/>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−$3K</a:t>
            </a:r>
            <a:endParaRPr lang="en-US" sz="1300" dirty="0"/>
          </a:p>
        </p:txBody>
      </p:sp>
      <p:sp>
        <p:nvSpPr>
          <p:cNvPr id="99" name="Text 97"/>
          <p:cNvSpPr txBox="1"/>
          <p:nvPr/>
        </p:nvSpPr>
        <p:spPr>
          <a:xfrm>
            <a:off x="440740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a:t>
            </a:r>
            <a:endParaRPr lang="en-US" sz="1300" dirty="0"/>
          </a:p>
        </p:txBody>
      </p:sp>
      <p:sp>
        <p:nvSpPr>
          <p:cNvPr id="100" name="Text 98"/>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a:t>
            </a:r>
            <a:endParaRPr lang="en-US" sz="1300" dirty="0"/>
          </a:p>
        </p:txBody>
      </p:sp>
      <p:sp>
        <p:nvSpPr>
          <p:cNvPr id="101" name="Text 99"/>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2" name="Text 100"/>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03" name="Shape 101"/>
          <p:cNvSpPr/>
          <p:nvPr/>
        </p:nvSpPr>
        <p:spPr>
          <a:xfrm>
            <a:off x="3033120" y="5235720"/>
            <a:ext cx="18288" cy="136676"/>
          </a:xfrm>
          <a:prstGeom prst="rect">
            <a:avLst/>
          </a:prstGeom>
          <a:solidFill>
            <a:srgbClr val="C2352F"/>
          </a:solidFill>
          <a:ln/>
        </p:spPr>
        <p:txBody>
          <a:bodyPr/>
          <a:p/>
        </p:txBody>
      </p:sp>
      <p:sp>
        <p:nvSpPr>
          <p:cNvPr id="104" name="Text 102"/>
          <p:cNvSpPr txBox="1"/>
          <p:nvPr/>
        </p:nvSpPr>
        <p:spPr>
          <a:xfrm>
            <a:off x="3401568" y="517980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−$8K</a:t>
            </a:r>
            <a:endParaRPr lang="en-US" sz="1300" dirty="0"/>
          </a:p>
        </p:txBody>
      </p:sp>
      <p:sp>
        <p:nvSpPr>
          <p:cNvPr id="105" name="Text 103"/>
          <p:cNvSpPr txBox="1"/>
          <p:nvPr/>
        </p:nvSpPr>
        <p:spPr>
          <a:xfrm>
            <a:off x="440740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−65</a:t>
            </a:r>
            <a:endParaRPr lang="en-US" sz="1300" dirty="0"/>
          </a:p>
        </p:txBody>
      </p:sp>
      <p:sp>
        <p:nvSpPr>
          <p:cNvPr id="106" name="Text 10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7.5%</a:t>
            </a:r>
            <a:endParaRPr lang="en-US" sz="1300" dirty="0"/>
          </a:p>
        </p:txBody>
      </p:sp>
      <p:sp>
        <p:nvSpPr>
          <p:cNvPr id="107" name="Text 10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8" name="Text 106"/>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9" name="Shape 107"/>
          <p:cNvSpPr/>
          <p:nvPr/>
        </p:nvSpPr>
        <p:spPr>
          <a:xfrm>
            <a:off x="3030647" y="5484222"/>
            <a:ext cx="18288" cy="136676"/>
          </a:xfrm>
          <a:prstGeom prst="rect">
            <a:avLst/>
          </a:prstGeom>
          <a:solidFill>
            <a:srgbClr val="C2352F"/>
          </a:solidFill>
          <a:ln/>
        </p:spPr>
        <p:txBody>
          <a:bodyPr/>
          <a:p/>
        </p:txBody>
      </p:sp>
      <p:sp>
        <p:nvSpPr>
          <p:cNvPr id="110" name="Text 108"/>
          <p:cNvSpPr txBox="1"/>
          <p:nvPr/>
        </p:nvSpPr>
        <p:spPr>
          <a:xfrm>
            <a:off x="3401568" y="542830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111" name="Text 109"/>
          <p:cNvSpPr txBox="1"/>
          <p:nvPr/>
        </p:nvSpPr>
        <p:spPr>
          <a:xfrm>
            <a:off x="440740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−88</a:t>
            </a:r>
            <a:endParaRPr lang="en-US" sz="1300" dirty="0"/>
          </a:p>
        </p:txBody>
      </p:sp>
      <p:sp>
        <p:nvSpPr>
          <p:cNvPr id="112" name="Text 110"/>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a:t>
            </a:r>
            <a:endParaRPr lang="en-US" sz="1300" dirty="0"/>
          </a:p>
        </p:txBody>
      </p:sp>
      <p:sp>
        <p:nvSpPr>
          <p:cNvPr id="113" name="Text 111"/>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4" name="Text 112"/>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15" name="Shape 113"/>
          <p:cNvSpPr/>
          <p:nvPr/>
        </p:nvSpPr>
        <p:spPr>
          <a:xfrm>
            <a:off x="3028256" y="5732723"/>
            <a:ext cx="18288" cy="136676"/>
          </a:xfrm>
          <a:prstGeom prst="rect">
            <a:avLst/>
          </a:prstGeom>
          <a:solidFill>
            <a:srgbClr val="C2352F"/>
          </a:solidFill>
          <a:ln/>
        </p:spPr>
        <p:txBody>
          <a:bodyPr/>
          <a:p/>
        </p:txBody>
      </p:sp>
      <p:sp>
        <p:nvSpPr>
          <p:cNvPr id="116" name="Text 114"/>
          <p:cNvSpPr txBox="1"/>
          <p:nvPr/>
        </p:nvSpPr>
        <p:spPr>
          <a:xfrm>
            <a:off x="3401568" y="567681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117" name="Text 115"/>
          <p:cNvSpPr txBox="1"/>
          <p:nvPr/>
        </p:nvSpPr>
        <p:spPr>
          <a:xfrm>
            <a:off x="440740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a:t>
            </a:r>
            <a:endParaRPr lang="en-US" sz="1300" dirty="0"/>
          </a:p>
        </p:txBody>
      </p:sp>
      <p:sp>
        <p:nvSpPr>
          <p:cNvPr id="118" name="Text 116"/>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119" name="Text 117"/>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0" name="Text 118"/>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21" name="Shape 119"/>
          <p:cNvSpPr/>
          <p:nvPr/>
        </p:nvSpPr>
        <p:spPr>
          <a:xfrm>
            <a:off x="8575690" y="1756697"/>
            <a:ext cx="20464" cy="136676"/>
          </a:xfrm>
          <a:prstGeom prst="rect">
            <a:avLst/>
          </a:prstGeom>
          <a:solidFill>
            <a:srgbClr val="C2352F"/>
          </a:solidFill>
          <a:ln/>
        </p:spPr>
        <p:txBody>
          <a:bodyPr/>
          <a:p/>
        </p:txBody>
      </p:sp>
      <p:sp>
        <p:nvSpPr>
          <p:cNvPr id="122" name="Text 120"/>
          <p:cNvSpPr txBox="1"/>
          <p:nvPr/>
        </p:nvSpPr>
        <p:spPr>
          <a:xfrm>
            <a:off x="8951976" y="170078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23" name="Text 121"/>
          <p:cNvSpPr txBox="1"/>
          <p:nvPr/>
        </p:nvSpPr>
        <p:spPr>
          <a:xfrm>
            <a:off x="995781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−86</a:t>
            </a:r>
            <a:endParaRPr lang="en-US" sz="1300" dirty="0"/>
          </a:p>
        </p:txBody>
      </p:sp>
      <p:sp>
        <p:nvSpPr>
          <p:cNvPr id="124" name="Text 122"/>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125" name="Text 123"/>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6" name="Text 124"/>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27" name="Shape 125"/>
          <p:cNvSpPr/>
          <p:nvPr/>
        </p:nvSpPr>
        <p:spPr>
          <a:xfrm>
            <a:off x="8573386" y="2005199"/>
            <a:ext cx="22768" cy="136676"/>
          </a:xfrm>
          <a:prstGeom prst="rect">
            <a:avLst/>
          </a:prstGeom>
          <a:solidFill>
            <a:srgbClr val="C2352F"/>
          </a:solidFill>
          <a:ln/>
        </p:spPr>
        <p:txBody>
          <a:bodyPr/>
          <a:p/>
        </p:txBody>
      </p:sp>
      <p:sp>
        <p:nvSpPr>
          <p:cNvPr id="128" name="Text 126"/>
          <p:cNvSpPr txBox="1"/>
          <p:nvPr/>
        </p:nvSpPr>
        <p:spPr>
          <a:xfrm>
            <a:off x="8951976" y="194928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129" name="Text 127"/>
          <p:cNvSpPr txBox="1"/>
          <p:nvPr/>
        </p:nvSpPr>
        <p:spPr>
          <a:xfrm>
            <a:off x="995781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a:t>
            </a:r>
            <a:endParaRPr lang="en-US" sz="1300" dirty="0"/>
          </a:p>
        </p:txBody>
      </p:sp>
      <p:sp>
        <p:nvSpPr>
          <p:cNvPr id="130" name="Text 128"/>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a:t>
            </a:r>
            <a:endParaRPr lang="en-US" sz="1300" dirty="0"/>
          </a:p>
        </p:txBody>
      </p:sp>
      <p:sp>
        <p:nvSpPr>
          <p:cNvPr id="131" name="Text 129"/>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2" name="Text 130"/>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3" name="Shape 131"/>
          <p:cNvSpPr/>
          <p:nvPr/>
        </p:nvSpPr>
        <p:spPr>
          <a:xfrm>
            <a:off x="8572297" y="2253700"/>
            <a:ext cx="23856" cy="136676"/>
          </a:xfrm>
          <a:prstGeom prst="rect">
            <a:avLst/>
          </a:prstGeom>
          <a:solidFill>
            <a:srgbClr val="C2352F"/>
          </a:solidFill>
          <a:ln/>
        </p:spPr>
        <p:txBody>
          <a:bodyPr/>
          <a:p/>
        </p:txBody>
      </p:sp>
      <p:sp>
        <p:nvSpPr>
          <p:cNvPr id="134" name="Text 132"/>
          <p:cNvSpPr txBox="1"/>
          <p:nvPr/>
        </p:nvSpPr>
        <p:spPr>
          <a:xfrm>
            <a:off x="8951976" y="219778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135" name="Text 133"/>
          <p:cNvSpPr txBox="1"/>
          <p:nvPr/>
        </p:nvSpPr>
        <p:spPr>
          <a:xfrm>
            <a:off x="995781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−122</a:t>
            </a:r>
            <a:endParaRPr lang="en-US" sz="1300" dirty="0"/>
          </a:p>
        </p:txBody>
      </p:sp>
      <p:sp>
        <p:nvSpPr>
          <p:cNvPr id="136" name="Text 134"/>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137" name="Text 135"/>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8" name="Text 136"/>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39" name="Shape 137"/>
          <p:cNvSpPr/>
          <p:nvPr/>
        </p:nvSpPr>
        <p:spPr>
          <a:xfrm>
            <a:off x="8571491" y="2502202"/>
            <a:ext cx="24663" cy="136676"/>
          </a:xfrm>
          <a:prstGeom prst="rect">
            <a:avLst/>
          </a:prstGeom>
          <a:solidFill>
            <a:srgbClr val="C2352F"/>
          </a:solidFill>
          <a:ln/>
        </p:spPr>
        <p:txBody>
          <a:bodyPr/>
          <a:p/>
        </p:txBody>
      </p:sp>
      <p:sp>
        <p:nvSpPr>
          <p:cNvPr id="140" name="Text 138"/>
          <p:cNvSpPr txBox="1"/>
          <p:nvPr/>
        </p:nvSpPr>
        <p:spPr>
          <a:xfrm>
            <a:off x="8951976" y="244628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−$16K</a:t>
            </a:r>
            <a:endParaRPr lang="en-US" sz="1300" dirty="0"/>
          </a:p>
        </p:txBody>
      </p:sp>
      <p:sp>
        <p:nvSpPr>
          <p:cNvPr id="141" name="Text 139"/>
          <p:cNvSpPr txBox="1"/>
          <p:nvPr/>
        </p:nvSpPr>
        <p:spPr>
          <a:xfrm>
            <a:off x="995781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a:t>
            </a:r>
            <a:endParaRPr lang="en-US" sz="1300" dirty="0"/>
          </a:p>
        </p:txBody>
      </p:sp>
      <p:sp>
        <p:nvSpPr>
          <p:cNvPr id="142" name="Text 140"/>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143" name="Text 141"/>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44" name="Text 142"/>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45" name="Shape 143"/>
          <p:cNvSpPr/>
          <p:nvPr/>
        </p:nvSpPr>
        <p:spPr>
          <a:xfrm>
            <a:off x="8570224" y="2750703"/>
            <a:ext cx="25930" cy="136676"/>
          </a:xfrm>
          <a:prstGeom prst="rect">
            <a:avLst/>
          </a:prstGeom>
          <a:solidFill>
            <a:srgbClr val="C2352F"/>
          </a:solidFill>
          <a:ln/>
        </p:spPr>
        <p:txBody>
          <a:bodyPr/>
          <a:p/>
        </p:txBody>
      </p:sp>
      <p:sp>
        <p:nvSpPr>
          <p:cNvPr id="146" name="Text 144"/>
          <p:cNvSpPr txBox="1"/>
          <p:nvPr/>
        </p:nvSpPr>
        <p:spPr>
          <a:xfrm>
            <a:off x="8951976" y="2694791"/>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−$17K</a:t>
            </a:r>
            <a:endParaRPr lang="en-US" sz="1300" dirty="0"/>
          </a:p>
        </p:txBody>
      </p:sp>
      <p:sp>
        <p:nvSpPr>
          <p:cNvPr id="147" name="Text 145"/>
          <p:cNvSpPr txBox="1"/>
          <p:nvPr/>
        </p:nvSpPr>
        <p:spPr>
          <a:xfrm>
            <a:off x="995781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−140</a:t>
            </a:r>
            <a:endParaRPr lang="en-US" sz="1300" dirty="0"/>
          </a:p>
        </p:txBody>
      </p:sp>
      <p:sp>
        <p:nvSpPr>
          <p:cNvPr id="148" name="Text 146"/>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149" name="Text 147"/>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50" name="Text 148"/>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51" name="Shape 149"/>
          <p:cNvSpPr/>
          <p:nvPr/>
        </p:nvSpPr>
        <p:spPr>
          <a:xfrm>
            <a:off x="8567184" y="2999205"/>
            <a:ext cx="28970" cy="136676"/>
          </a:xfrm>
          <a:prstGeom prst="rect">
            <a:avLst/>
          </a:prstGeom>
          <a:solidFill>
            <a:srgbClr val="C2352F"/>
          </a:solidFill>
          <a:ln/>
        </p:spPr>
        <p:txBody>
          <a:bodyPr/>
          <a:p/>
        </p:txBody>
      </p:sp>
      <p:sp>
        <p:nvSpPr>
          <p:cNvPr id="152" name="Text 150"/>
          <p:cNvSpPr txBox="1"/>
          <p:nvPr/>
        </p:nvSpPr>
        <p:spPr>
          <a:xfrm>
            <a:off x="8951976" y="294329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−$19K</a:t>
            </a:r>
            <a:endParaRPr lang="en-US" sz="1300" dirty="0"/>
          </a:p>
        </p:txBody>
      </p:sp>
      <p:sp>
        <p:nvSpPr>
          <p:cNvPr id="153" name="Text 151"/>
          <p:cNvSpPr txBox="1"/>
          <p:nvPr/>
        </p:nvSpPr>
        <p:spPr>
          <a:xfrm>
            <a:off x="995781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−158</a:t>
            </a:r>
            <a:endParaRPr lang="en-US" sz="1300" dirty="0"/>
          </a:p>
        </p:txBody>
      </p:sp>
      <p:sp>
        <p:nvSpPr>
          <p:cNvPr id="154" name="Text 152"/>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155" name="Text 153"/>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6" name="Text 154"/>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57" name="Shape 155"/>
          <p:cNvSpPr/>
          <p:nvPr/>
        </p:nvSpPr>
        <p:spPr>
          <a:xfrm>
            <a:off x="8559684" y="3247707"/>
            <a:ext cx="36470" cy="136676"/>
          </a:xfrm>
          <a:prstGeom prst="rect">
            <a:avLst/>
          </a:prstGeom>
          <a:solidFill>
            <a:srgbClr val="C2352F"/>
          </a:solidFill>
          <a:ln/>
        </p:spPr>
        <p:txBody>
          <a:bodyPr/>
          <a:p/>
        </p:txBody>
      </p:sp>
      <p:sp>
        <p:nvSpPr>
          <p:cNvPr id="158" name="Text 156"/>
          <p:cNvSpPr txBox="1"/>
          <p:nvPr/>
        </p:nvSpPr>
        <p:spPr>
          <a:xfrm>
            <a:off x="8951976" y="319179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59" name="Text 157"/>
          <p:cNvSpPr txBox="1"/>
          <p:nvPr/>
        </p:nvSpPr>
        <p:spPr>
          <a:xfrm>
            <a:off x="995781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−176</a:t>
            </a:r>
            <a:endParaRPr lang="en-US" sz="1300" dirty="0"/>
          </a:p>
        </p:txBody>
      </p:sp>
      <p:sp>
        <p:nvSpPr>
          <p:cNvPr id="160" name="Text 158"/>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4.7%</a:t>
            </a:r>
            <a:endParaRPr lang="en-US" sz="1300" dirty="0"/>
          </a:p>
        </p:txBody>
      </p:sp>
      <p:sp>
        <p:nvSpPr>
          <p:cNvPr id="161" name="Text 159"/>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62" name="Text 160"/>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63" name="Shape 161"/>
          <p:cNvSpPr/>
          <p:nvPr/>
        </p:nvSpPr>
        <p:spPr>
          <a:xfrm>
            <a:off x="8558971" y="3496208"/>
            <a:ext cx="37183" cy="136676"/>
          </a:xfrm>
          <a:prstGeom prst="rect">
            <a:avLst/>
          </a:prstGeom>
          <a:solidFill>
            <a:srgbClr val="C2352F"/>
          </a:solidFill>
          <a:ln/>
        </p:spPr>
        <p:txBody>
          <a:bodyPr/>
          <a:p/>
        </p:txBody>
      </p:sp>
      <p:sp>
        <p:nvSpPr>
          <p:cNvPr id="164" name="Text 162"/>
          <p:cNvSpPr txBox="1"/>
          <p:nvPr/>
        </p:nvSpPr>
        <p:spPr>
          <a:xfrm>
            <a:off x="8951976" y="344029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65" name="Text 163"/>
          <p:cNvSpPr txBox="1"/>
          <p:nvPr/>
        </p:nvSpPr>
        <p:spPr>
          <a:xfrm>
            <a:off x="995781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a:t>
            </a:r>
            <a:endParaRPr lang="en-US" sz="1300" dirty="0"/>
          </a:p>
        </p:txBody>
      </p:sp>
      <p:sp>
        <p:nvSpPr>
          <p:cNvPr id="166" name="Text 164"/>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167" name="Text 16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8" name="Text 166"/>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69" name="Shape 167"/>
          <p:cNvSpPr/>
          <p:nvPr/>
        </p:nvSpPr>
        <p:spPr>
          <a:xfrm>
            <a:off x="8540881" y="3744710"/>
            <a:ext cx="55273" cy="136676"/>
          </a:xfrm>
          <a:prstGeom prst="rect">
            <a:avLst/>
          </a:prstGeom>
          <a:solidFill>
            <a:srgbClr val="C2352F"/>
          </a:solidFill>
          <a:ln/>
        </p:spPr>
        <p:txBody>
          <a:bodyPr/>
          <a:p/>
        </p:txBody>
      </p:sp>
      <p:sp>
        <p:nvSpPr>
          <p:cNvPr id="170" name="Text 168"/>
          <p:cNvSpPr txBox="1"/>
          <p:nvPr/>
        </p:nvSpPr>
        <p:spPr>
          <a:xfrm>
            <a:off x="8951976" y="368879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−$36K</a:t>
            </a:r>
            <a:endParaRPr lang="en-US" sz="1300" dirty="0"/>
          </a:p>
        </p:txBody>
      </p:sp>
      <p:sp>
        <p:nvSpPr>
          <p:cNvPr id="171" name="Text 169"/>
          <p:cNvSpPr txBox="1"/>
          <p:nvPr/>
        </p:nvSpPr>
        <p:spPr>
          <a:xfrm>
            <a:off x="995781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−292</a:t>
            </a:r>
            <a:endParaRPr lang="en-US" sz="1300" dirty="0"/>
          </a:p>
        </p:txBody>
      </p:sp>
      <p:sp>
        <p:nvSpPr>
          <p:cNvPr id="172" name="Text 170"/>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8.0%</a:t>
            </a:r>
            <a:endParaRPr lang="en-US" sz="1300" dirty="0"/>
          </a:p>
        </p:txBody>
      </p:sp>
      <p:sp>
        <p:nvSpPr>
          <p:cNvPr id="173" name="Text 171"/>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74" name="Text 172"/>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75" name="Shape 173"/>
          <p:cNvSpPr/>
          <p:nvPr/>
        </p:nvSpPr>
        <p:spPr>
          <a:xfrm>
            <a:off x="8535378" y="3993212"/>
            <a:ext cx="60776" cy="136676"/>
          </a:xfrm>
          <a:prstGeom prst="rect">
            <a:avLst/>
          </a:prstGeom>
          <a:solidFill>
            <a:srgbClr val="C2352F"/>
          </a:solidFill>
          <a:ln/>
        </p:spPr>
        <p:txBody>
          <a:bodyPr/>
          <a:p/>
        </p:txBody>
      </p:sp>
      <p:sp>
        <p:nvSpPr>
          <p:cNvPr id="176" name="Text 174"/>
          <p:cNvSpPr txBox="1"/>
          <p:nvPr/>
        </p:nvSpPr>
        <p:spPr>
          <a:xfrm>
            <a:off x="8951976" y="393729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77" name="Text 175"/>
          <p:cNvSpPr txBox="1"/>
          <p:nvPr/>
        </p:nvSpPr>
        <p:spPr>
          <a:xfrm>
            <a:off x="995781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−309</a:t>
            </a:r>
            <a:endParaRPr lang="en-US" sz="1300" dirty="0"/>
          </a:p>
        </p:txBody>
      </p:sp>
      <p:sp>
        <p:nvSpPr>
          <p:cNvPr id="178" name="Text 176"/>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79" name="Text 177"/>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80" name="Text 178"/>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81" name="Shape 179"/>
          <p:cNvSpPr/>
          <p:nvPr/>
        </p:nvSpPr>
        <p:spPr>
          <a:xfrm>
            <a:off x="8530529" y="4241713"/>
            <a:ext cx="65625" cy="136676"/>
          </a:xfrm>
          <a:prstGeom prst="rect">
            <a:avLst/>
          </a:prstGeom>
          <a:solidFill>
            <a:srgbClr val="C2352F"/>
          </a:solidFill>
          <a:ln/>
        </p:spPr>
        <p:txBody>
          <a:bodyPr/>
          <a:p/>
        </p:txBody>
      </p:sp>
      <p:sp>
        <p:nvSpPr>
          <p:cNvPr id="182" name="Text 180"/>
          <p:cNvSpPr txBox="1"/>
          <p:nvPr/>
        </p:nvSpPr>
        <p:spPr>
          <a:xfrm>
            <a:off x="8951976" y="418580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−$43K</a:t>
            </a:r>
            <a:endParaRPr lang="en-US" sz="1300" dirty="0"/>
          </a:p>
        </p:txBody>
      </p:sp>
      <p:sp>
        <p:nvSpPr>
          <p:cNvPr id="183" name="Text 181"/>
          <p:cNvSpPr txBox="1"/>
          <p:nvPr/>
        </p:nvSpPr>
        <p:spPr>
          <a:xfrm>
            <a:off x="995781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−284</a:t>
            </a:r>
            <a:endParaRPr lang="en-US" sz="1300" dirty="0"/>
          </a:p>
        </p:txBody>
      </p:sp>
      <p:sp>
        <p:nvSpPr>
          <p:cNvPr id="184" name="Text 182"/>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a:t>
            </a:r>
            <a:endParaRPr lang="en-US" sz="1300" dirty="0"/>
          </a:p>
        </p:txBody>
      </p:sp>
      <p:sp>
        <p:nvSpPr>
          <p:cNvPr id="185" name="Text 183"/>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6" name="Text 184"/>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87" name="Shape 185"/>
          <p:cNvSpPr/>
          <p:nvPr/>
        </p:nvSpPr>
        <p:spPr>
          <a:xfrm>
            <a:off x="8518235" y="4490215"/>
            <a:ext cx="77919" cy="136676"/>
          </a:xfrm>
          <a:prstGeom prst="rect">
            <a:avLst/>
          </a:prstGeom>
          <a:solidFill>
            <a:srgbClr val="C2352F"/>
          </a:solidFill>
          <a:ln/>
        </p:spPr>
        <p:txBody>
          <a:bodyPr/>
          <a:p/>
        </p:txBody>
      </p:sp>
      <p:sp>
        <p:nvSpPr>
          <p:cNvPr id="188" name="Text 186"/>
          <p:cNvSpPr txBox="1"/>
          <p:nvPr/>
        </p:nvSpPr>
        <p:spPr>
          <a:xfrm>
            <a:off x="8951976" y="443430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−$51K</a:t>
            </a:r>
            <a:endParaRPr lang="en-US" sz="1300" dirty="0"/>
          </a:p>
        </p:txBody>
      </p:sp>
      <p:sp>
        <p:nvSpPr>
          <p:cNvPr id="189" name="Text 187"/>
          <p:cNvSpPr txBox="1"/>
          <p:nvPr/>
        </p:nvSpPr>
        <p:spPr>
          <a:xfrm>
            <a:off x="995781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a:t>
            </a:r>
            <a:endParaRPr lang="en-US" sz="1300" dirty="0"/>
          </a:p>
        </p:txBody>
      </p:sp>
      <p:sp>
        <p:nvSpPr>
          <p:cNvPr id="190" name="Text 188"/>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a:t>
            </a:r>
            <a:endParaRPr lang="en-US" sz="1300" dirty="0"/>
          </a:p>
        </p:txBody>
      </p:sp>
      <p:sp>
        <p:nvSpPr>
          <p:cNvPr id="191" name="Shape 189"/>
          <p:cNvSpPr/>
          <p:nvPr/>
        </p:nvSpPr>
        <p:spPr>
          <a:xfrm>
            <a:off x="11521440" y="4480022"/>
            <a:ext cx="54864" cy="157062"/>
          </a:xfrm>
          <a:prstGeom prst="rect">
            <a:avLst/>
          </a:prstGeom>
          <a:solidFill>
            <a:srgbClr val="C2352F"/>
          </a:solidFill>
          <a:ln/>
        </p:spPr>
        <p:txBody>
          <a:bodyPr/>
          <a:p/>
        </p:txBody>
      </p:sp>
      <p:sp>
        <p:nvSpPr>
          <p:cNvPr id="192" name="Text 190"/>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93" name="Text 191"/>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94" name="Shape 192"/>
          <p:cNvSpPr/>
          <p:nvPr/>
        </p:nvSpPr>
        <p:spPr>
          <a:xfrm>
            <a:off x="8510027" y="4738717"/>
            <a:ext cx="86127" cy="136676"/>
          </a:xfrm>
          <a:prstGeom prst="rect">
            <a:avLst/>
          </a:prstGeom>
          <a:solidFill>
            <a:srgbClr val="C2352F"/>
          </a:solidFill>
          <a:ln/>
        </p:spPr>
        <p:txBody>
          <a:bodyPr/>
          <a:p/>
        </p:txBody>
      </p:sp>
      <p:sp>
        <p:nvSpPr>
          <p:cNvPr id="195" name="Text 193"/>
          <p:cNvSpPr txBox="1"/>
          <p:nvPr/>
        </p:nvSpPr>
        <p:spPr>
          <a:xfrm>
            <a:off x="8951976" y="468280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−$56K</a:t>
            </a:r>
            <a:endParaRPr lang="en-US" sz="1300" dirty="0"/>
          </a:p>
        </p:txBody>
      </p:sp>
      <p:sp>
        <p:nvSpPr>
          <p:cNvPr id="196" name="Text 194"/>
          <p:cNvSpPr txBox="1"/>
          <p:nvPr/>
        </p:nvSpPr>
        <p:spPr>
          <a:xfrm>
            <a:off x="995781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a:t>
            </a:r>
            <a:endParaRPr lang="en-US" sz="1300" dirty="0"/>
          </a:p>
        </p:txBody>
      </p:sp>
      <p:sp>
        <p:nvSpPr>
          <p:cNvPr id="197" name="Text 195"/>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198" name="Shape 196"/>
          <p:cNvSpPr/>
          <p:nvPr/>
        </p:nvSpPr>
        <p:spPr>
          <a:xfrm>
            <a:off x="11521440" y="4728524"/>
            <a:ext cx="54864" cy="157062"/>
          </a:xfrm>
          <a:prstGeom prst="rect">
            <a:avLst/>
          </a:prstGeom>
          <a:solidFill>
            <a:srgbClr val="C2352F"/>
          </a:solidFill>
          <a:ln/>
        </p:spPr>
        <p:txBody>
          <a:bodyPr/>
          <a:p/>
        </p:txBody>
      </p:sp>
      <p:sp>
        <p:nvSpPr>
          <p:cNvPr id="199" name="Text 197"/>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200" name="Text 198"/>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201" name="Shape 199"/>
          <p:cNvSpPr/>
          <p:nvPr/>
        </p:nvSpPr>
        <p:spPr>
          <a:xfrm>
            <a:off x="8506004" y="4987218"/>
            <a:ext cx="90150" cy="136676"/>
          </a:xfrm>
          <a:prstGeom prst="rect">
            <a:avLst/>
          </a:prstGeom>
          <a:solidFill>
            <a:srgbClr val="C2352F"/>
          </a:solidFill>
          <a:ln/>
        </p:spPr>
        <p:txBody>
          <a:bodyPr/>
          <a:p/>
        </p:txBody>
      </p:sp>
      <p:sp>
        <p:nvSpPr>
          <p:cNvPr id="202" name="Text 200"/>
          <p:cNvSpPr txBox="1"/>
          <p:nvPr/>
        </p:nvSpPr>
        <p:spPr>
          <a:xfrm>
            <a:off x="8951976" y="4931305"/>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203" name="Text 201"/>
          <p:cNvSpPr txBox="1"/>
          <p:nvPr/>
        </p:nvSpPr>
        <p:spPr>
          <a:xfrm>
            <a:off x="995781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−283</a:t>
            </a:r>
            <a:endParaRPr lang="en-US" sz="1300" dirty="0"/>
          </a:p>
        </p:txBody>
      </p:sp>
      <p:sp>
        <p:nvSpPr>
          <p:cNvPr id="204" name="Text 202"/>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a:t>
            </a:r>
            <a:endParaRPr lang="en-US" sz="1300" dirty="0"/>
          </a:p>
        </p:txBody>
      </p:sp>
      <p:sp>
        <p:nvSpPr>
          <p:cNvPr id="205" name="Shape 203"/>
          <p:cNvSpPr/>
          <p:nvPr/>
        </p:nvSpPr>
        <p:spPr>
          <a:xfrm>
            <a:off x="11521440" y="4977025"/>
            <a:ext cx="54864" cy="157062"/>
          </a:xfrm>
          <a:prstGeom prst="rect">
            <a:avLst/>
          </a:prstGeom>
          <a:solidFill>
            <a:srgbClr val="C2352F"/>
          </a:solidFill>
          <a:ln/>
        </p:spPr>
        <p:txBody>
          <a:bodyPr/>
          <a:p/>
        </p:txBody>
      </p:sp>
      <p:sp>
        <p:nvSpPr>
          <p:cNvPr id="206" name="Text 204"/>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207" name="Text 205"/>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208" name="Shape 206"/>
          <p:cNvSpPr/>
          <p:nvPr/>
        </p:nvSpPr>
        <p:spPr>
          <a:xfrm>
            <a:off x="8503628" y="5235720"/>
            <a:ext cx="92525" cy="136676"/>
          </a:xfrm>
          <a:prstGeom prst="rect">
            <a:avLst/>
          </a:prstGeom>
          <a:solidFill>
            <a:srgbClr val="C2352F"/>
          </a:solidFill>
          <a:ln/>
        </p:spPr>
        <p:txBody>
          <a:bodyPr/>
          <a:p/>
        </p:txBody>
      </p:sp>
      <p:sp>
        <p:nvSpPr>
          <p:cNvPr id="209" name="Text 207"/>
          <p:cNvSpPr txBox="1"/>
          <p:nvPr/>
        </p:nvSpPr>
        <p:spPr>
          <a:xfrm>
            <a:off x="8951976" y="517980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210" name="Text 208"/>
          <p:cNvSpPr txBox="1"/>
          <p:nvPr/>
        </p:nvSpPr>
        <p:spPr>
          <a:xfrm>
            <a:off x="995781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−513</a:t>
            </a:r>
            <a:endParaRPr lang="en-US" sz="1300" dirty="0"/>
          </a:p>
        </p:txBody>
      </p:sp>
      <p:sp>
        <p:nvSpPr>
          <p:cNvPr id="211" name="Text 209"/>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212" name="Text 21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13" name="Text 211"/>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14" name="Shape 212"/>
          <p:cNvSpPr/>
          <p:nvPr/>
        </p:nvSpPr>
        <p:spPr>
          <a:xfrm>
            <a:off x="8421624" y="5484222"/>
            <a:ext cx="174530" cy="136676"/>
          </a:xfrm>
          <a:prstGeom prst="rect">
            <a:avLst/>
          </a:prstGeom>
          <a:solidFill>
            <a:srgbClr val="C2352F"/>
          </a:solidFill>
          <a:ln/>
        </p:spPr>
        <p:txBody>
          <a:bodyPr/>
          <a:p/>
        </p:txBody>
      </p:sp>
      <p:sp>
        <p:nvSpPr>
          <p:cNvPr id="215" name="Text 213"/>
          <p:cNvSpPr txBox="1"/>
          <p:nvPr/>
        </p:nvSpPr>
        <p:spPr>
          <a:xfrm>
            <a:off x="8951976" y="542830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−$113K</a:t>
            </a:r>
            <a:endParaRPr lang="en-US" sz="1300" dirty="0"/>
          </a:p>
        </p:txBody>
      </p:sp>
      <p:sp>
        <p:nvSpPr>
          <p:cNvPr id="216" name="Text 214"/>
          <p:cNvSpPr txBox="1"/>
          <p:nvPr/>
        </p:nvSpPr>
        <p:spPr>
          <a:xfrm>
            <a:off x="995781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−820</a:t>
            </a:r>
            <a:endParaRPr lang="en-US" sz="1300" dirty="0"/>
          </a:p>
        </p:txBody>
      </p:sp>
      <p:sp>
        <p:nvSpPr>
          <p:cNvPr id="217" name="Text 215"/>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a:t>
            </a:r>
            <a:endParaRPr lang="en-US" sz="1300" dirty="0"/>
          </a:p>
        </p:txBody>
      </p:sp>
      <p:sp>
        <p:nvSpPr>
          <p:cNvPr id="218" name="Shape 216"/>
          <p:cNvSpPr/>
          <p:nvPr/>
        </p:nvSpPr>
        <p:spPr>
          <a:xfrm>
            <a:off x="6085332" y="1700784"/>
            <a:ext cx="10973" cy="4224528"/>
          </a:xfrm>
          <a:prstGeom prst="rect">
            <a:avLst/>
          </a:prstGeom>
          <a:solidFill>
            <a:srgbClr val="D9D9D9"/>
          </a:solidFill>
          <a:ln/>
        </p:spPr>
        <p:txBody>
          <a:bodyPr/>
          <a:p/>
        </p:txBody>
      </p:sp>
      <p:sp>
        <p:nvSpPr>
          <p:cNvPr id="219" name="Shape 217"/>
          <p:cNvSpPr/>
          <p:nvPr/>
        </p:nvSpPr>
        <p:spPr>
          <a:xfrm>
            <a:off x="457200" y="6126480"/>
            <a:ext cx="11274552" cy="615696"/>
          </a:xfrm>
          <a:prstGeom prst="rect">
            <a:avLst/>
          </a:prstGeom>
          <a:solidFill>
            <a:srgbClr val="FBEBEA"/>
          </a:solidFill>
          <a:ln/>
        </p:spPr>
        <p:txBody>
          <a:bodyPr/>
          <a:p/>
        </p:txBody>
      </p:sp>
      <p:sp>
        <p:nvSpPr>
          <p:cNvPr id="220" name="Text 2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21 stores under 10% have left $633,493 so far this year; 12 are at or above it. Chevy LV is furthest below at −$113K.</a:t>
            </a:r>
            <a:endParaRPr lang="en-US" sz="160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System Service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Text 4"/>
          <p:cNvSpPr txBox="1"/>
          <p:nvPr/>
        </p:nvSpPr>
        <p:spPr>
          <a:xfrm>
            <a:off x="3401568" y="1316736"/>
            <a:ext cx="10058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440740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8" name="Text 6"/>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9" name="Shape 7"/>
          <p:cNvSpPr/>
          <p:nvPr/>
        </p:nvSpPr>
        <p:spPr>
          <a:xfrm>
            <a:off x="3072677" y="1700784"/>
            <a:ext cx="10973" cy="4224528"/>
          </a:xfrm>
          <a:prstGeom prst="rect">
            <a:avLst/>
          </a:prstGeom>
          <a:solidFill>
            <a:srgbClr val="9AA3AD"/>
          </a:solidFill>
          <a:ln/>
        </p:spPr>
        <p:txBody>
          <a:bodyPr/>
          <a:p/>
        </p:txBody>
      </p:sp>
      <p:sp>
        <p:nvSpPr>
          <p:cNvPr id="10" name="Text 8"/>
          <p:cNvSpPr txBox="1"/>
          <p:nvPr/>
        </p:nvSpPr>
        <p:spPr>
          <a:xfrm>
            <a:off x="8951976" y="1316736"/>
            <a:ext cx="10058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995781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12" name="Text 10"/>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3" name="Shape 11"/>
          <p:cNvSpPr/>
          <p:nvPr/>
        </p:nvSpPr>
        <p:spPr>
          <a:xfrm>
            <a:off x="8623085" y="1700784"/>
            <a:ext cx="10973" cy="3976026"/>
          </a:xfrm>
          <a:prstGeom prst="rect">
            <a:avLst/>
          </a:prstGeom>
          <a:solidFill>
            <a:srgbClr val="9AA3AD"/>
          </a:solidFill>
          <a:ln/>
        </p:spPr>
        <p:txBody>
          <a:bodyPr/>
          <a:p/>
        </p:txBody>
      </p:sp>
      <p:sp>
        <p:nvSpPr>
          <p:cNvPr id="14" name="Text 12"/>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6" name="Shape 14"/>
          <p:cNvSpPr/>
          <p:nvPr/>
        </p:nvSpPr>
        <p:spPr>
          <a:xfrm>
            <a:off x="3078163" y="1756697"/>
            <a:ext cx="268541" cy="136676"/>
          </a:xfrm>
          <a:prstGeom prst="rect">
            <a:avLst/>
          </a:prstGeom>
          <a:solidFill>
            <a:srgbClr val="12A566"/>
          </a:solidFill>
          <a:ln/>
        </p:spPr>
        <p:txBody>
          <a:bodyPr/>
          <a:p/>
        </p:txBody>
      </p:sp>
      <p:sp>
        <p:nvSpPr>
          <p:cNvPr id="17" name="Text 15"/>
          <p:cNvSpPr txBox="1"/>
          <p:nvPr/>
        </p:nvSpPr>
        <p:spPr>
          <a:xfrm>
            <a:off x="3401568" y="1700784"/>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+$138K</a:t>
            </a:r>
            <a:endParaRPr lang="en-US" sz="1300" dirty="0"/>
          </a:p>
        </p:txBody>
      </p:sp>
      <p:sp>
        <p:nvSpPr>
          <p:cNvPr id="18" name="Text 16"/>
          <p:cNvSpPr txBox="1"/>
          <p:nvPr/>
        </p:nvSpPr>
        <p:spPr>
          <a:xfrm>
            <a:off x="440740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+1,024</a:t>
            </a:r>
            <a:endParaRPr lang="en-US" sz="1300" dirty="0"/>
          </a:p>
        </p:txBody>
      </p:sp>
      <p:sp>
        <p:nvSpPr>
          <p:cNvPr id="19" name="Text 17"/>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20" name="Shape 18"/>
          <p:cNvSpPr/>
          <p:nvPr/>
        </p:nvSpPr>
        <p:spPr>
          <a:xfrm>
            <a:off x="5971032" y="1746504"/>
            <a:ext cx="54864" cy="157062"/>
          </a:xfrm>
          <a:prstGeom prst="rect">
            <a:avLst/>
          </a:prstGeom>
          <a:solidFill>
            <a:srgbClr val="12A566"/>
          </a:solidFill>
          <a:ln/>
        </p:spPr>
        <p:txBody>
          <a:bodyPr/>
          <a:p/>
        </p:txBody>
      </p:sp>
      <p:sp>
        <p:nvSpPr>
          <p:cNvPr id="21" name="Text 19"/>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2" name="Text 20"/>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23" name="Shape 21"/>
          <p:cNvSpPr/>
          <p:nvPr/>
        </p:nvSpPr>
        <p:spPr>
          <a:xfrm>
            <a:off x="3078163" y="2005199"/>
            <a:ext cx="104320" cy="136676"/>
          </a:xfrm>
          <a:prstGeom prst="rect">
            <a:avLst/>
          </a:prstGeom>
          <a:solidFill>
            <a:srgbClr val="12A566"/>
          </a:solidFill>
          <a:ln/>
        </p:spPr>
        <p:txBody>
          <a:bodyPr/>
          <a:p/>
        </p:txBody>
      </p:sp>
      <p:sp>
        <p:nvSpPr>
          <p:cNvPr id="24" name="Text 22"/>
          <p:cNvSpPr txBox="1"/>
          <p:nvPr/>
        </p:nvSpPr>
        <p:spPr>
          <a:xfrm>
            <a:off x="3401568" y="1949286"/>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+$54K</a:t>
            </a:r>
            <a:endParaRPr lang="en-US" sz="1300" dirty="0"/>
          </a:p>
        </p:txBody>
      </p:sp>
      <p:sp>
        <p:nvSpPr>
          <p:cNvPr id="25" name="Text 23"/>
          <p:cNvSpPr txBox="1"/>
          <p:nvPr/>
        </p:nvSpPr>
        <p:spPr>
          <a:xfrm>
            <a:off x="440740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+353</a:t>
            </a:r>
            <a:endParaRPr lang="en-US" sz="1300" dirty="0"/>
          </a:p>
        </p:txBody>
      </p:sp>
      <p:sp>
        <p:nvSpPr>
          <p:cNvPr id="26" name="Text 24"/>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27" name="Shape 25"/>
          <p:cNvSpPr/>
          <p:nvPr/>
        </p:nvSpPr>
        <p:spPr>
          <a:xfrm>
            <a:off x="5971032" y="1995006"/>
            <a:ext cx="54864" cy="157062"/>
          </a:xfrm>
          <a:prstGeom prst="rect">
            <a:avLst/>
          </a:prstGeom>
          <a:solidFill>
            <a:srgbClr val="12A566"/>
          </a:solidFill>
          <a:ln/>
        </p:spPr>
        <p:txBody>
          <a:bodyPr/>
          <a:p/>
        </p:txBody>
      </p:sp>
      <p:sp>
        <p:nvSpPr>
          <p:cNvPr id="28" name="Text 26"/>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9" name="Text 27"/>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30" name="Shape 28"/>
          <p:cNvSpPr/>
          <p:nvPr/>
        </p:nvSpPr>
        <p:spPr>
          <a:xfrm>
            <a:off x="3078163" y="2253700"/>
            <a:ext cx="74727" cy="136676"/>
          </a:xfrm>
          <a:prstGeom prst="rect">
            <a:avLst/>
          </a:prstGeom>
          <a:solidFill>
            <a:srgbClr val="12A566"/>
          </a:solidFill>
          <a:ln/>
        </p:spPr>
        <p:txBody>
          <a:bodyPr/>
          <a:p/>
        </p:txBody>
      </p:sp>
      <p:sp>
        <p:nvSpPr>
          <p:cNvPr id="31" name="Text 29"/>
          <p:cNvSpPr txBox="1"/>
          <p:nvPr/>
        </p:nvSpPr>
        <p:spPr>
          <a:xfrm>
            <a:off x="3401568" y="2197787"/>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+$39K</a:t>
            </a:r>
            <a:endParaRPr lang="en-US" sz="1300" dirty="0"/>
          </a:p>
        </p:txBody>
      </p:sp>
      <p:sp>
        <p:nvSpPr>
          <p:cNvPr id="32" name="Text 30"/>
          <p:cNvSpPr txBox="1"/>
          <p:nvPr/>
        </p:nvSpPr>
        <p:spPr>
          <a:xfrm>
            <a:off x="440740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33" name="Text 31"/>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34" name="Shape 32"/>
          <p:cNvSpPr/>
          <p:nvPr/>
        </p:nvSpPr>
        <p:spPr>
          <a:xfrm>
            <a:off x="5971032" y="2243507"/>
            <a:ext cx="54864" cy="157062"/>
          </a:xfrm>
          <a:prstGeom prst="rect">
            <a:avLst/>
          </a:prstGeom>
          <a:solidFill>
            <a:srgbClr val="12A566"/>
          </a:solidFill>
          <a:ln/>
        </p:spPr>
        <p:txBody>
          <a:bodyPr/>
          <a:p/>
        </p:txBody>
      </p:sp>
      <p:sp>
        <p:nvSpPr>
          <p:cNvPr id="35" name="Text 33"/>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6" name="Text 34"/>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37" name="Shape 35"/>
          <p:cNvSpPr/>
          <p:nvPr/>
        </p:nvSpPr>
        <p:spPr>
          <a:xfrm>
            <a:off x="3078163" y="2502202"/>
            <a:ext cx="19359" cy="136676"/>
          </a:xfrm>
          <a:prstGeom prst="rect">
            <a:avLst/>
          </a:prstGeom>
          <a:solidFill>
            <a:srgbClr val="12A566"/>
          </a:solidFill>
          <a:ln/>
        </p:spPr>
        <p:txBody>
          <a:bodyPr/>
          <a:p/>
        </p:txBody>
      </p:sp>
      <p:sp>
        <p:nvSpPr>
          <p:cNvPr id="38" name="Text 36"/>
          <p:cNvSpPr txBox="1"/>
          <p:nvPr/>
        </p:nvSpPr>
        <p:spPr>
          <a:xfrm>
            <a:off x="3401568" y="2446289"/>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+$10K</a:t>
            </a:r>
            <a:endParaRPr lang="en-US" sz="1300" dirty="0"/>
          </a:p>
        </p:txBody>
      </p:sp>
      <p:sp>
        <p:nvSpPr>
          <p:cNvPr id="39" name="Text 37"/>
          <p:cNvSpPr txBox="1"/>
          <p:nvPr/>
        </p:nvSpPr>
        <p:spPr>
          <a:xfrm>
            <a:off x="440740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a:t>
            </a:r>
            <a:endParaRPr lang="en-US" sz="1300" dirty="0"/>
          </a:p>
        </p:txBody>
      </p:sp>
      <p:sp>
        <p:nvSpPr>
          <p:cNvPr id="40" name="Text 38"/>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9.3%</a:t>
            </a:r>
            <a:endParaRPr lang="en-US" sz="1300" dirty="0"/>
          </a:p>
        </p:txBody>
      </p:sp>
      <p:sp>
        <p:nvSpPr>
          <p:cNvPr id="41" name="Text 39"/>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42" name="Text 40"/>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43" name="Shape 41"/>
          <p:cNvSpPr/>
          <p:nvPr/>
        </p:nvSpPr>
        <p:spPr>
          <a:xfrm>
            <a:off x="3078163" y="2750703"/>
            <a:ext cx="18288" cy="136676"/>
          </a:xfrm>
          <a:prstGeom prst="rect">
            <a:avLst/>
          </a:prstGeom>
          <a:solidFill>
            <a:srgbClr val="12A566"/>
          </a:solidFill>
          <a:ln/>
        </p:spPr>
        <p:txBody>
          <a:bodyPr/>
          <a:p/>
        </p:txBody>
      </p:sp>
      <p:sp>
        <p:nvSpPr>
          <p:cNvPr id="44" name="Text 42"/>
          <p:cNvSpPr txBox="1"/>
          <p:nvPr/>
        </p:nvSpPr>
        <p:spPr>
          <a:xfrm>
            <a:off x="3401568" y="2694791"/>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+$9K</a:t>
            </a:r>
            <a:endParaRPr lang="en-US" sz="1300" dirty="0"/>
          </a:p>
        </p:txBody>
      </p:sp>
      <p:sp>
        <p:nvSpPr>
          <p:cNvPr id="45" name="Text 43"/>
          <p:cNvSpPr txBox="1"/>
          <p:nvPr/>
        </p:nvSpPr>
        <p:spPr>
          <a:xfrm>
            <a:off x="440740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a:t>
            </a:r>
            <a:endParaRPr lang="en-US" sz="1300" dirty="0"/>
          </a:p>
        </p:txBody>
      </p:sp>
      <p:sp>
        <p:nvSpPr>
          <p:cNvPr id="46" name="Text 4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8.9%</a:t>
            </a:r>
            <a:endParaRPr lang="en-US" sz="1300" dirty="0"/>
          </a:p>
        </p:txBody>
      </p:sp>
      <p:sp>
        <p:nvSpPr>
          <p:cNvPr id="47" name="Text 4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8" name="Text 46"/>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9" name="Shape 47"/>
          <p:cNvSpPr/>
          <p:nvPr/>
        </p:nvSpPr>
        <p:spPr>
          <a:xfrm>
            <a:off x="3078163" y="2999205"/>
            <a:ext cx="18288" cy="136676"/>
          </a:xfrm>
          <a:prstGeom prst="rect">
            <a:avLst/>
          </a:prstGeom>
          <a:solidFill>
            <a:srgbClr val="12A566"/>
          </a:solidFill>
          <a:ln/>
        </p:spPr>
        <p:txBody>
          <a:bodyPr/>
          <a:p/>
        </p:txBody>
      </p:sp>
      <p:sp>
        <p:nvSpPr>
          <p:cNvPr id="50" name="Text 48"/>
          <p:cNvSpPr txBox="1"/>
          <p:nvPr/>
        </p:nvSpPr>
        <p:spPr>
          <a:xfrm>
            <a:off x="3401568" y="2943292"/>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+$3K</a:t>
            </a:r>
            <a:endParaRPr lang="en-US" sz="1300" dirty="0"/>
          </a:p>
        </p:txBody>
      </p:sp>
      <p:sp>
        <p:nvSpPr>
          <p:cNvPr id="51" name="Text 49"/>
          <p:cNvSpPr txBox="1"/>
          <p:nvPr/>
        </p:nvSpPr>
        <p:spPr>
          <a:xfrm>
            <a:off x="440740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a:t>
            </a:r>
            <a:endParaRPr lang="en-US" sz="1300" dirty="0"/>
          </a:p>
        </p:txBody>
      </p:sp>
      <p:sp>
        <p:nvSpPr>
          <p:cNvPr id="52" name="Text 50"/>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53" name="Text 51"/>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54" name="Text 52"/>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5" name="Shape 53"/>
          <p:cNvSpPr/>
          <p:nvPr/>
        </p:nvSpPr>
        <p:spPr>
          <a:xfrm>
            <a:off x="3078163" y="3247707"/>
            <a:ext cx="18288" cy="136676"/>
          </a:xfrm>
          <a:prstGeom prst="rect">
            <a:avLst/>
          </a:prstGeom>
          <a:solidFill>
            <a:srgbClr val="12A566"/>
          </a:solidFill>
          <a:ln/>
        </p:spPr>
        <p:txBody>
          <a:bodyPr/>
          <a:p/>
        </p:txBody>
      </p:sp>
      <p:sp>
        <p:nvSpPr>
          <p:cNvPr id="56" name="Text 54"/>
          <p:cNvSpPr txBox="1"/>
          <p:nvPr/>
        </p:nvSpPr>
        <p:spPr>
          <a:xfrm>
            <a:off x="3401568" y="3191794"/>
            <a:ext cx="100584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+$3K</a:t>
            </a:r>
            <a:endParaRPr lang="en-US" sz="1300" dirty="0"/>
          </a:p>
        </p:txBody>
      </p:sp>
      <p:sp>
        <p:nvSpPr>
          <p:cNvPr id="57" name="Text 55"/>
          <p:cNvSpPr txBox="1"/>
          <p:nvPr/>
        </p:nvSpPr>
        <p:spPr>
          <a:xfrm>
            <a:off x="440740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a:t>
            </a:r>
            <a:endParaRPr lang="en-US" sz="1300" dirty="0"/>
          </a:p>
        </p:txBody>
      </p:sp>
      <p:sp>
        <p:nvSpPr>
          <p:cNvPr id="58" name="Text 56"/>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a:t>
            </a:r>
            <a:endParaRPr lang="en-US" sz="1300" dirty="0"/>
          </a:p>
        </p:txBody>
      </p:sp>
      <p:sp>
        <p:nvSpPr>
          <p:cNvPr id="59" name="Text 57"/>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60" name="Text 58"/>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61" name="Shape 59"/>
          <p:cNvSpPr/>
          <p:nvPr/>
        </p:nvSpPr>
        <p:spPr>
          <a:xfrm>
            <a:off x="3076409" y="3496208"/>
            <a:ext cx="18288" cy="136676"/>
          </a:xfrm>
          <a:prstGeom prst="rect">
            <a:avLst/>
          </a:prstGeom>
          <a:solidFill>
            <a:srgbClr val="C2352F"/>
          </a:solidFill>
          <a:ln/>
        </p:spPr>
        <p:txBody>
          <a:bodyPr/>
          <a:p/>
        </p:txBody>
      </p:sp>
      <p:sp>
        <p:nvSpPr>
          <p:cNvPr id="62" name="Text 60"/>
          <p:cNvSpPr txBox="1"/>
          <p:nvPr/>
        </p:nvSpPr>
        <p:spPr>
          <a:xfrm>
            <a:off x="3401568" y="344029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−$905</a:t>
            </a:r>
            <a:endParaRPr lang="en-US" sz="1300" dirty="0"/>
          </a:p>
        </p:txBody>
      </p:sp>
      <p:sp>
        <p:nvSpPr>
          <p:cNvPr id="63" name="Text 61"/>
          <p:cNvSpPr txBox="1"/>
          <p:nvPr/>
        </p:nvSpPr>
        <p:spPr>
          <a:xfrm>
            <a:off x="440740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a:t>
            </a:r>
            <a:endParaRPr lang="en-US" sz="1300" dirty="0"/>
          </a:p>
        </p:txBody>
      </p:sp>
      <p:sp>
        <p:nvSpPr>
          <p:cNvPr id="64" name="Text 62"/>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65" name="Text 63"/>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6" name="Text 64"/>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7" name="Shape 65"/>
          <p:cNvSpPr/>
          <p:nvPr/>
        </p:nvSpPr>
        <p:spPr>
          <a:xfrm>
            <a:off x="3063321" y="3744710"/>
            <a:ext cx="18288" cy="136676"/>
          </a:xfrm>
          <a:prstGeom prst="rect">
            <a:avLst/>
          </a:prstGeom>
          <a:solidFill>
            <a:srgbClr val="C2352F"/>
          </a:solidFill>
          <a:ln/>
        </p:spPr>
        <p:txBody>
          <a:bodyPr/>
          <a:p/>
        </p:txBody>
      </p:sp>
      <p:sp>
        <p:nvSpPr>
          <p:cNvPr id="68" name="Text 66"/>
          <p:cNvSpPr txBox="1"/>
          <p:nvPr/>
        </p:nvSpPr>
        <p:spPr>
          <a:xfrm>
            <a:off x="3401568" y="368879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−$8K</a:t>
            </a:r>
            <a:endParaRPr lang="en-US" sz="1300" dirty="0"/>
          </a:p>
        </p:txBody>
      </p:sp>
      <p:sp>
        <p:nvSpPr>
          <p:cNvPr id="69" name="Text 67"/>
          <p:cNvSpPr txBox="1"/>
          <p:nvPr/>
        </p:nvSpPr>
        <p:spPr>
          <a:xfrm>
            <a:off x="440740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70" name="Text 68"/>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71" name="Text 69"/>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72" name="Text 70"/>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73" name="Shape 71"/>
          <p:cNvSpPr/>
          <p:nvPr/>
        </p:nvSpPr>
        <p:spPr>
          <a:xfrm>
            <a:off x="3059655" y="3993212"/>
            <a:ext cx="18509" cy="136676"/>
          </a:xfrm>
          <a:prstGeom prst="rect">
            <a:avLst/>
          </a:prstGeom>
          <a:solidFill>
            <a:srgbClr val="C2352F"/>
          </a:solidFill>
          <a:ln/>
        </p:spPr>
        <p:txBody>
          <a:bodyPr/>
          <a:p/>
        </p:txBody>
      </p:sp>
      <p:sp>
        <p:nvSpPr>
          <p:cNvPr id="74" name="Text 72"/>
          <p:cNvSpPr txBox="1"/>
          <p:nvPr/>
        </p:nvSpPr>
        <p:spPr>
          <a:xfrm>
            <a:off x="3401568" y="393729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75" name="Text 73"/>
          <p:cNvSpPr txBox="1"/>
          <p:nvPr/>
        </p:nvSpPr>
        <p:spPr>
          <a:xfrm>
            <a:off x="440740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a:t>
            </a:r>
            <a:endParaRPr lang="en-US" sz="1300" dirty="0"/>
          </a:p>
        </p:txBody>
      </p:sp>
      <p:sp>
        <p:nvSpPr>
          <p:cNvPr id="76" name="Text 74"/>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a:t>
            </a:r>
            <a:endParaRPr lang="en-US" sz="1300" dirty="0"/>
          </a:p>
        </p:txBody>
      </p:sp>
      <p:sp>
        <p:nvSpPr>
          <p:cNvPr id="77" name="Text 75"/>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8" name="Text 76"/>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79" name="Shape 77"/>
          <p:cNvSpPr/>
          <p:nvPr/>
        </p:nvSpPr>
        <p:spPr>
          <a:xfrm>
            <a:off x="3051638" y="4241713"/>
            <a:ext cx="26525" cy="136676"/>
          </a:xfrm>
          <a:prstGeom prst="rect">
            <a:avLst/>
          </a:prstGeom>
          <a:solidFill>
            <a:srgbClr val="C2352F"/>
          </a:solidFill>
          <a:ln/>
        </p:spPr>
        <p:txBody>
          <a:bodyPr/>
          <a:p/>
        </p:txBody>
      </p:sp>
      <p:sp>
        <p:nvSpPr>
          <p:cNvPr id="80" name="Text 78"/>
          <p:cNvSpPr txBox="1"/>
          <p:nvPr/>
        </p:nvSpPr>
        <p:spPr>
          <a:xfrm>
            <a:off x="3401568" y="418580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−$14K</a:t>
            </a:r>
            <a:endParaRPr lang="en-US" sz="1300" dirty="0"/>
          </a:p>
        </p:txBody>
      </p:sp>
      <p:sp>
        <p:nvSpPr>
          <p:cNvPr id="81" name="Text 79"/>
          <p:cNvSpPr txBox="1"/>
          <p:nvPr/>
        </p:nvSpPr>
        <p:spPr>
          <a:xfrm>
            <a:off x="440740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82" name="Text 80"/>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a:t>
            </a:r>
            <a:endParaRPr lang="en-US" sz="1300" dirty="0"/>
          </a:p>
        </p:txBody>
      </p:sp>
      <p:sp>
        <p:nvSpPr>
          <p:cNvPr id="83" name="Text 81"/>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84" name="Text 82"/>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5" name="Shape 83"/>
          <p:cNvSpPr/>
          <p:nvPr/>
        </p:nvSpPr>
        <p:spPr>
          <a:xfrm>
            <a:off x="3050701" y="4490215"/>
            <a:ext cx="27462" cy="136676"/>
          </a:xfrm>
          <a:prstGeom prst="rect">
            <a:avLst/>
          </a:prstGeom>
          <a:solidFill>
            <a:srgbClr val="C2352F"/>
          </a:solidFill>
          <a:ln/>
        </p:spPr>
        <p:txBody>
          <a:bodyPr/>
          <a:p/>
        </p:txBody>
      </p:sp>
      <p:sp>
        <p:nvSpPr>
          <p:cNvPr id="86" name="Text 84"/>
          <p:cNvSpPr txBox="1"/>
          <p:nvPr/>
        </p:nvSpPr>
        <p:spPr>
          <a:xfrm>
            <a:off x="3401568" y="443430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−$14K</a:t>
            </a:r>
            <a:endParaRPr lang="en-US" sz="1300" dirty="0"/>
          </a:p>
        </p:txBody>
      </p:sp>
      <p:sp>
        <p:nvSpPr>
          <p:cNvPr id="87" name="Text 85"/>
          <p:cNvSpPr txBox="1"/>
          <p:nvPr/>
        </p:nvSpPr>
        <p:spPr>
          <a:xfrm>
            <a:off x="440740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−140</a:t>
            </a:r>
            <a:endParaRPr lang="en-US" sz="1300" dirty="0"/>
          </a:p>
        </p:txBody>
      </p:sp>
      <p:sp>
        <p:nvSpPr>
          <p:cNvPr id="88" name="Text 86"/>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a:t>
            </a:r>
            <a:endParaRPr lang="en-US" sz="1300" dirty="0"/>
          </a:p>
        </p:txBody>
      </p:sp>
      <p:sp>
        <p:nvSpPr>
          <p:cNvPr id="89" name="Text 87"/>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90" name="Text 88"/>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1" name="Shape 89"/>
          <p:cNvSpPr/>
          <p:nvPr/>
        </p:nvSpPr>
        <p:spPr>
          <a:xfrm>
            <a:off x="3047298" y="4738717"/>
            <a:ext cx="30866" cy="136676"/>
          </a:xfrm>
          <a:prstGeom prst="rect">
            <a:avLst/>
          </a:prstGeom>
          <a:solidFill>
            <a:srgbClr val="C2352F"/>
          </a:solidFill>
          <a:ln/>
        </p:spPr>
        <p:txBody>
          <a:bodyPr/>
          <a:p/>
        </p:txBody>
      </p:sp>
      <p:sp>
        <p:nvSpPr>
          <p:cNvPr id="92" name="Text 90"/>
          <p:cNvSpPr txBox="1"/>
          <p:nvPr/>
        </p:nvSpPr>
        <p:spPr>
          <a:xfrm>
            <a:off x="3401568" y="468280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−$16K</a:t>
            </a:r>
            <a:endParaRPr lang="en-US" sz="1300" dirty="0"/>
          </a:p>
        </p:txBody>
      </p:sp>
      <p:sp>
        <p:nvSpPr>
          <p:cNvPr id="93" name="Text 91"/>
          <p:cNvSpPr txBox="1"/>
          <p:nvPr/>
        </p:nvSpPr>
        <p:spPr>
          <a:xfrm>
            <a:off x="440740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94" name="Text 92"/>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95" name="Text 93"/>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6" name="Text 94"/>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7" name="Shape 95"/>
          <p:cNvSpPr/>
          <p:nvPr/>
        </p:nvSpPr>
        <p:spPr>
          <a:xfrm>
            <a:off x="3043502" y="4987218"/>
            <a:ext cx="34662" cy="136676"/>
          </a:xfrm>
          <a:prstGeom prst="rect">
            <a:avLst/>
          </a:prstGeom>
          <a:solidFill>
            <a:srgbClr val="C2352F"/>
          </a:solidFill>
          <a:ln/>
        </p:spPr>
        <p:txBody>
          <a:bodyPr/>
          <a:p/>
        </p:txBody>
      </p:sp>
      <p:sp>
        <p:nvSpPr>
          <p:cNvPr id="98" name="Text 96"/>
          <p:cNvSpPr txBox="1"/>
          <p:nvPr/>
        </p:nvSpPr>
        <p:spPr>
          <a:xfrm>
            <a:off x="3401568" y="4931305"/>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−$18K</a:t>
            </a:r>
            <a:endParaRPr lang="en-US" sz="1300" dirty="0"/>
          </a:p>
        </p:txBody>
      </p:sp>
      <p:sp>
        <p:nvSpPr>
          <p:cNvPr id="99" name="Text 97"/>
          <p:cNvSpPr txBox="1"/>
          <p:nvPr/>
        </p:nvSpPr>
        <p:spPr>
          <a:xfrm>
            <a:off x="440740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a:t>
            </a:r>
            <a:endParaRPr lang="en-US" sz="1300" dirty="0"/>
          </a:p>
        </p:txBody>
      </p:sp>
      <p:sp>
        <p:nvSpPr>
          <p:cNvPr id="100" name="Text 98"/>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5.5%</a:t>
            </a:r>
            <a:endParaRPr lang="en-US" sz="1300" dirty="0"/>
          </a:p>
        </p:txBody>
      </p:sp>
      <p:sp>
        <p:nvSpPr>
          <p:cNvPr id="101" name="Text 99"/>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2" name="Text 100"/>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03" name="Shape 101"/>
          <p:cNvSpPr/>
          <p:nvPr/>
        </p:nvSpPr>
        <p:spPr>
          <a:xfrm>
            <a:off x="3041920" y="5235720"/>
            <a:ext cx="36243" cy="136676"/>
          </a:xfrm>
          <a:prstGeom prst="rect">
            <a:avLst/>
          </a:prstGeom>
          <a:solidFill>
            <a:srgbClr val="C2352F"/>
          </a:solidFill>
          <a:ln/>
        </p:spPr>
        <p:txBody>
          <a:bodyPr/>
          <a:p/>
        </p:txBody>
      </p:sp>
      <p:sp>
        <p:nvSpPr>
          <p:cNvPr id="104" name="Text 102"/>
          <p:cNvSpPr txBox="1"/>
          <p:nvPr/>
        </p:nvSpPr>
        <p:spPr>
          <a:xfrm>
            <a:off x="3401568" y="517980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−$19K</a:t>
            </a:r>
            <a:endParaRPr lang="en-US" sz="1300" dirty="0"/>
          </a:p>
        </p:txBody>
      </p:sp>
      <p:sp>
        <p:nvSpPr>
          <p:cNvPr id="105" name="Text 103"/>
          <p:cNvSpPr txBox="1"/>
          <p:nvPr/>
        </p:nvSpPr>
        <p:spPr>
          <a:xfrm>
            <a:off x="440740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a:t>
            </a:r>
            <a:endParaRPr lang="en-US" sz="1300" dirty="0"/>
          </a:p>
        </p:txBody>
      </p:sp>
      <p:sp>
        <p:nvSpPr>
          <p:cNvPr id="106" name="Text 10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07" name="Text 10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8" name="Text 106"/>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09" name="Shape 107"/>
          <p:cNvSpPr/>
          <p:nvPr/>
        </p:nvSpPr>
        <p:spPr>
          <a:xfrm>
            <a:off x="3040249" y="5484222"/>
            <a:ext cx="37915" cy="136676"/>
          </a:xfrm>
          <a:prstGeom prst="rect">
            <a:avLst/>
          </a:prstGeom>
          <a:solidFill>
            <a:srgbClr val="C2352F"/>
          </a:solidFill>
          <a:ln/>
        </p:spPr>
        <p:txBody>
          <a:bodyPr/>
          <a:p/>
        </p:txBody>
      </p:sp>
      <p:sp>
        <p:nvSpPr>
          <p:cNvPr id="110" name="Text 108"/>
          <p:cNvSpPr txBox="1"/>
          <p:nvPr/>
        </p:nvSpPr>
        <p:spPr>
          <a:xfrm>
            <a:off x="3401568" y="542830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111" name="Text 109"/>
          <p:cNvSpPr txBox="1"/>
          <p:nvPr/>
        </p:nvSpPr>
        <p:spPr>
          <a:xfrm>
            <a:off x="440740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−131</a:t>
            </a:r>
            <a:endParaRPr lang="en-US" sz="1300" dirty="0"/>
          </a:p>
        </p:txBody>
      </p:sp>
      <p:sp>
        <p:nvSpPr>
          <p:cNvPr id="112" name="Text 110"/>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113" name="Text 111"/>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4" name="Text 112"/>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15" name="Shape 113"/>
          <p:cNvSpPr/>
          <p:nvPr/>
        </p:nvSpPr>
        <p:spPr>
          <a:xfrm>
            <a:off x="3036175" y="5732723"/>
            <a:ext cx="41989" cy="136676"/>
          </a:xfrm>
          <a:prstGeom prst="rect">
            <a:avLst/>
          </a:prstGeom>
          <a:solidFill>
            <a:srgbClr val="C2352F"/>
          </a:solidFill>
          <a:ln/>
        </p:spPr>
        <p:txBody>
          <a:bodyPr/>
          <a:p/>
        </p:txBody>
      </p:sp>
      <p:sp>
        <p:nvSpPr>
          <p:cNvPr id="116" name="Text 114"/>
          <p:cNvSpPr txBox="1"/>
          <p:nvPr/>
        </p:nvSpPr>
        <p:spPr>
          <a:xfrm>
            <a:off x="3401568" y="567681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117" name="Text 115"/>
          <p:cNvSpPr txBox="1"/>
          <p:nvPr/>
        </p:nvSpPr>
        <p:spPr>
          <a:xfrm>
            <a:off x="440740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a:t>
            </a:r>
            <a:endParaRPr lang="en-US" sz="1300" dirty="0"/>
          </a:p>
        </p:txBody>
      </p:sp>
      <p:sp>
        <p:nvSpPr>
          <p:cNvPr id="118" name="Text 116"/>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19" name="Text 117"/>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0" name="Text 118"/>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21" name="Shape 119"/>
          <p:cNvSpPr/>
          <p:nvPr/>
        </p:nvSpPr>
        <p:spPr>
          <a:xfrm>
            <a:off x="8579493" y="1756697"/>
            <a:ext cx="49079" cy="136676"/>
          </a:xfrm>
          <a:prstGeom prst="rect">
            <a:avLst/>
          </a:prstGeom>
          <a:solidFill>
            <a:srgbClr val="C2352F"/>
          </a:solidFill>
          <a:ln/>
        </p:spPr>
        <p:txBody>
          <a:bodyPr/>
          <a:p/>
        </p:txBody>
      </p:sp>
      <p:sp>
        <p:nvSpPr>
          <p:cNvPr id="122" name="Text 120"/>
          <p:cNvSpPr txBox="1"/>
          <p:nvPr/>
        </p:nvSpPr>
        <p:spPr>
          <a:xfrm>
            <a:off x="8951976" y="170078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23" name="Text 121"/>
          <p:cNvSpPr txBox="1"/>
          <p:nvPr/>
        </p:nvSpPr>
        <p:spPr>
          <a:xfrm>
            <a:off x="995781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a:t>
            </a:r>
            <a:endParaRPr lang="en-US" sz="1300" dirty="0"/>
          </a:p>
        </p:txBody>
      </p:sp>
      <p:sp>
        <p:nvSpPr>
          <p:cNvPr id="124" name="Text 122"/>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a:t>
            </a:r>
            <a:endParaRPr lang="en-US" sz="1300" dirty="0"/>
          </a:p>
        </p:txBody>
      </p:sp>
      <p:sp>
        <p:nvSpPr>
          <p:cNvPr id="125" name="Shape 123"/>
          <p:cNvSpPr/>
          <p:nvPr/>
        </p:nvSpPr>
        <p:spPr>
          <a:xfrm>
            <a:off x="11521440" y="1746504"/>
            <a:ext cx="54864" cy="157062"/>
          </a:xfrm>
          <a:prstGeom prst="rect">
            <a:avLst/>
          </a:prstGeom>
          <a:solidFill>
            <a:srgbClr val="C2352F"/>
          </a:solidFill>
          <a:ln/>
        </p:spPr>
        <p:txBody>
          <a:bodyPr/>
          <a:p/>
        </p:txBody>
      </p:sp>
      <p:sp>
        <p:nvSpPr>
          <p:cNvPr id="126" name="Text 124"/>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7" name="Text 125"/>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8" name="Shape 126"/>
          <p:cNvSpPr/>
          <p:nvPr/>
        </p:nvSpPr>
        <p:spPr>
          <a:xfrm>
            <a:off x="8561923" y="2005199"/>
            <a:ext cx="66649" cy="136676"/>
          </a:xfrm>
          <a:prstGeom prst="rect">
            <a:avLst/>
          </a:prstGeom>
          <a:solidFill>
            <a:srgbClr val="C2352F"/>
          </a:solidFill>
          <a:ln/>
        </p:spPr>
        <p:txBody>
          <a:bodyPr/>
          <a:p/>
        </p:txBody>
      </p:sp>
      <p:sp>
        <p:nvSpPr>
          <p:cNvPr id="129" name="Text 127"/>
          <p:cNvSpPr txBox="1"/>
          <p:nvPr/>
        </p:nvSpPr>
        <p:spPr>
          <a:xfrm>
            <a:off x="8951976" y="194928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−$34K</a:t>
            </a:r>
            <a:endParaRPr lang="en-US" sz="1300" dirty="0"/>
          </a:p>
        </p:txBody>
      </p:sp>
      <p:sp>
        <p:nvSpPr>
          <p:cNvPr id="130" name="Text 128"/>
          <p:cNvSpPr txBox="1"/>
          <p:nvPr/>
        </p:nvSpPr>
        <p:spPr>
          <a:xfrm>
            <a:off x="995781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a:t>
            </a:r>
            <a:endParaRPr lang="en-US" sz="1300" dirty="0"/>
          </a:p>
        </p:txBody>
      </p:sp>
      <p:sp>
        <p:nvSpPr>
          <p:cNvPr id="131" name="Text 129"/>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a:t>
            </a:r>
            <a:endParaRPr lang="en-US" sz="1300" dirty="0"/>
          </a:p>
        </p:txBody>
      </p:sp>
      <p:sp>
        <p:nvSpPr>
          <p:cNvPr id="132" name="Text 130"/>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3" name="Text 131"/>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4" name="Shape 132"/>
          <p:cNvSpPr/>
          <p:nvPr/>
        </p:nvSpPr>
        <p:spPr>
          <a:xfrm>
            <a:off x="8553773" y="2253700"/>
            <a:ext cx="74798" cy="136676"/>
          </a:xfrm>
          <a:prstGeom prst="rect">
            <a:avLst/>
          </a:prstGeom>
          <a:solidFill>
            <a:srgbClr val="C2352F"/>
          </a:solidFill>
          <a:ln/>
        </p:spPr>
        <p:txBody>
          <a:bodyPr/>
          <a:p/>
        </p:txBody>
      </p:sp>
      <p:sp>
        <p:nvSpPr>
          <p:cNvPr id="135" name="Text 133"/>
          <p:cNvSpPr txBox="1"/>
          <p:nvPr/>
        </p:nvSpPr>
        <p:spPr>
          <a:xfrm>
            <a:off x="8951976" y="219778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36" name="Text 134"/>
          <p:cNvSpPr txBox="1"/>
          <p:nvPr/>
        </p:nvSpPr>
        <p:spPr>
          <a:xfrm>
            <a:off x="995781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a:t>
            </a:r>
            <a:endParaRPr lang="en-US" sz="1300" dirty="0"/>
          </a:p>
        </p:txBody>
      </p:sp>
      <p:sp>
        <p:nvSpPr>
          <p:cNvPr id="137" name="Text 135"/>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0.8%</a:t>
            </a:r>
            <a:endParaRPr lang="en-US" sz="1300" dirty="0"/>
          </a:p>
        </p:txBody>
      </p:sp>
      <p:sp>
        <p:nvSpPr>
          <p:cNvPr id="138" name="Shape 136"/>
          <p:cNvSpPr/>
          <p:nvPr/>
        </p:nvSpPr>
        <p:spPr>
          <a:xfrm>
            <a:off x="11521440" y="2243507"/>
            <a:ext cx="54864" cy="157062"/>
          </a:xfrm>
          <a:prstGeom prst="rect">
            <a:avLst/>
          </a:prstGeom>
          <a:solidFill>
            <a:srgbClr val="9AA3AD"/>
          </a:solidFill>
          <a:ln/>
        </p:spPr>
        <p:txBody>
          <a:bodyPr/>
          <a:p/>
        </p:txBody>
      </p:sp>
      <p:sp>
        <p:nvSpPr>
          <p:cNvPr id="139" name="Text 137"/>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40" name="Text 138"/>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41" name="Shape 139"/>
          <p:cNvSpPr/>
          <p:nvPr/>
        </p:nvSpPr>
        <p:spPr>
          <a:xfrm>
            <a:off x="8547178" y="2502202"/>
            <a:ext cx="81394" cy="136676"/>
          </a:xfrm>
          <a:prstGeom prst="rect">
            <a:avLst/>
          </a:prstGeom>
          <a:solidFill>
            <a:srgbClr val="C2352F"/>
          </a:solidFill>
          <a:ln/>
        </p:spPr>
        <p:txBody>
          <a:bodyPr/>
          <a:p/>
        </p:txBody>
      </p:sp>
      <p:sp>
        <p:nvSpPr>
          <p:cNvPr id="142" name="Text 140"/>
          <p:cNvSpPr txBox="1"/>
          <p:nvPr/>
        </p:nvSpPr>
        <p:spPr>
          <a:xfrm>
            <a:off x="8951976" y="244628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143" name="Text 141"/>
          <p:cNvSpPr txBox="1"/>
          <p:nvPr/>
        </p:nvSpPr>
        <p:spPr>
          <a:xfrm>
            <a:off x="995781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−255</a:t>
            </a:r>
            <a:endParaRPr lang="en-US" sz="1300" dirty="0"/>
          </a:p>
        </p:txBody>
      </p:sp>
      <p:sp>
        <p:nvSpPr>
          <p:cNvPr id="144" name="Text 142"/>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45" name="Shape 143"/>
          <p:cNvSpPr/>
          <p:nvPr/>
        </p:nvSpPr>
        <p:spPr>
          <a:xfrm>
            <a:off x="11521440" y="2492009"/>
            <a:ext cx="54864" cy="157062"/>
          </a:xfrm>
          <a:prstGeom prst="rect">
            <a:avLst/>
          </a:prstGeom>
          <a:solidFill>
            <a:srgbClr val="9AA3AD"/>
          </a:solidFill>
          <a:ln/>
        </p:spPr>
        <p:txBody>
          <a:bodyPr/>
          <a:p/>
        </p:txBody>
      </p:sp>
      <p:sp>
        <p:nvSpPr>
          <p:cNvPr id="146" name="Text 144"/>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47" name="Text 145"/>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48" name="Shape 146"/>
          <p:cNvSpPr/>
          <p:nvPr/>
        </p:nvSpPr>
        <p:spPr>
          <a:xfrm>
            <a:off x="8547001" y="2750703"/>
            <a:ext cx="81571" cy="136676"/>
          </a:xfrm>
          <a:prstGeom prst="rect">
            <a:avLst/>
          </a:prstGeom>
          <a:solidFill>
            <a:srgbClr val="C2352F"/>
          </a:solidFill>
          <a:ln/>
        </p:spPr>
        <p:txBody>
          <a:bodyPr/>
          <a:p/>
        </p:txBody>
      </p:sp>
      <p:sp>
        <p:nvSpPr>
          <p:cNvPr id="149" name="Text 147"/>
          <p:cNvSpPr txBox="1"/>
          <p:nvPr/>
        </p:nvSpPr>
        <p:spPr>
          <a:xfrm>
            <a:off x="8951976" y="2694791"/>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150" name="Text 148"/>
          <p:cNvSpPr txBox="1"/>
          <p:nvPr/>
        </p:nvSpPr>
        <p:spPr>
          <a:xfrm>
            <a:off x="995781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−290</a:t>
            </a:r>
            <a:endParaRPr lang="en-US" sz="1300" dirty="0"/>
          </a:p>
        </p:txBody>
      </p:sp>
      <p:sp>
        <p:nvSpPr>
          <p:cNvPr id="151" name="Text 14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a:t>
            </a:r>
            <a:endParaRPr lang="en-US" sz="1300" dirty="0"/>
          </a:p>
        </p:txBody>
      </p:sp>
      <p:sp>
        <p:nvSpPr>
          <p:cNvPr id="152" name="Text 15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53" name="Text 151"/>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54" name="Shape 152"/>
          <p:cNvSpPr/>
          <p:nvPr/>
        </p:nvSpPr>
        <p:spPr>
          <a:xfrm>
            <a:off x="8541404" y="2999205"/>
            <a:ext cx="87168" cy="136676"/>
          </a:xfrm>
          <a:prstGeom prst="rect">
            <a:avLst/>
          </a:prstGeom>
          <a:solidFill>
            <a:srgbClr val="C2352F"/>
          </a:solidFill>
          <a:ln/>
        </p:spPr>
        <p:txBody>
          <a:bodyPr/>
          <a:p/>
        </p:txBody>
      </p:sp>
      <p:sp>
        <p:nvSpPr>
          <p:cNvPr id="155" name="Text 153"/>
          <p:cNvSpPr txBox="1"/>
          <p:nvPr/>
        </p:nvSpPr>
        <p:spPr>
          <a:xfrm>
            <a:off x="8951976" y="294329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−$45K</a:t>
            </a:r>
            <a:endParaRPr lang="en-US" sz="1300" dirty="0"/>
          </a:p>
        </p:txBody>
      </p:sp>
      <p:sp>
        <p:nvSpPr>
          <p:cNvPr id="156" name="Text 154"/>
          <p:cNvSpPr txBox="1"/>
          <p:nvPr/>
        </p:nvSpPr>
        <p:spPr>
          <a:xfrm>
            <a:off x="995781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−273</a:t>
            </a:r>
            <a:endParaRPr lang="en-US" sz="1300" dirty="0"/>
          </a:p>
        </p:txBody>
      </p:sp>
      <p:sp>
        <p:nvSpPr>
          <p:cNvPr id="157" name="Text 155"/>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0.7%</a:t>
            </a:r>
            <a:endParaRPr lang="en-US" sz="1300" dirty="0"/>
          </a:p>
        </p:txBody>
      </p:sp>
      <p:sp>
        <p:nvSpPr>
          <p:cNvPr id="158" name="Shape 156"/>
          <p:cNvSpPr/>
          <p:nvPr/>
        </p:nvSpPr>
        <p:spPr>
          <a:xfrm>
            <a:off x="11521440" y="2989012"/>
            <a:ext cx="54864" cy="157062"/>
          </a:xfrm>
          <a:prstGeom prst="rect">
            <a:avLst/>
          </a:prstGeom>
          <a:solidFill>
            <a:srgbClr val="C2352F"/>
          </a:solidFill>
          <a:ln/>
        </p:spPr>
        <p:txBody>
          <a:bodyPr/>
          <a:p/>
        </p:txBody>
      </p:sp>
      <p:sp>
        <p:nvSpPr>
          <p:cNvPr id="159" name="Text 157"/>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60" name="Text 158"/>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61" name="Shape 159"/>
          <p:cNvSpPr/>
          <p:nvPr/>
        </p:nvSpPr>
        <p:spPr>
          <a:xfrm>
            <a:off x="8538750" y="3247707"/>
            <a:ext cx="89822" cy="136676"/>
          </a:xfrm>
          <a:prstGeom prst="rect">
            <a:avLst/>
          </a:prstGeom>
          <a:solidFill>
            <a:srgbClr val="C2352F"/>
          </a:solidFill>
          <a:ln/>
        </p:spPr>
        <p:txBody>
          <a:bodyPr/>
          <a:p/>
        </p:txBody>
      </p:sp>
      <p:sp>
        <p:nvSpPr>
          <p:cNvPr id="162" name="Text 160"/>
          <p:cNvSpPr txBox="1"/>
          <p:nvPr/>
        </p:nvSpPr>
        <p:spPr>
          <a:xfrm>
            <a:off x="8951976" y="319179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−$46K</a:t>
            </a:r>
            <a:endParaRPr lang="en-US" sz="1300" dirty="0"/>
          </a:p>
        </p:txBody>
      </p:sp>
      <p:sp>
        <p:nvSpPr>
          <p:cNvPr id="163" name="Text 161"/>
          <p:cNvSpPr txBox="1"/>
          <p:nvPr/>
        </p:nvSpPr>
        <p:spPr>
          <a:xfrm>
            <a:off x="995781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−241</a:t>
            </a:r>
            <a:endParaRPr lang="en-US" sz="1300" dirty="0"/>
          </a:p>
        </p:txBody>
      </p:sp>
      <p:sp>
        <p:nvSpPr>
          <p:cNvPr id="164" name="Text 162"/>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165" name="Text 163"/>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66" name="Text 164"/>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67" name="Shape 165"/>
          <p:cNvSpPr/>
          <p:nvPr/>
        </p:nvSpPr>
        <p:spPr>
          <a:xfrm>
            <a:off x="8538158" y="3496208"/>
            <a:ext cx="90414" cy="136676"/>
          </a:xfrm>
          <a:prstGeom prst="rect">
            <a:avLst/>
          </a:prstGeom>
          <a:solidFill>
            <a:srgbClr val="C2352F"/>
          </a:solidFill>
          <a:ln/>
        </p:spPr>
        <p:txBody>
          <a:bodyPr/>
          <a:p/>
        </p:txBody>
      </p:sp>
      <p:sp>
        <p:nvSpPr>
          <p:cNvPr id="168" name="Text 166"/>
          <p:cNvSpPr txBox="1"/>
          <p:nvPr/>
        </p:nvSpPr>
        <p:spPr>
          <a:xfrm>
            <a:off x="8951976" y="3440296"/>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−$47K</a:t>
            </a:r>
            <a:endParaRPr lang="en-US" sz="1300" dirty="0"/>
          </a:p>
        </p:txBody>
      </p:sp>
      <p:sp>
        <p:nvSpPr>
          <p:cNvPr id="169" name="Text 167"/>
          <p:cNvSpPr txBox="1"/>
          <p:nvPr/>
        </p:nvSpPr>
        <p:spPr>
          <a:xfrm>
            <a:off x="995781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−283</a:t>
            </a:r>
            <a:endParaRPr lang="en-US" sz="1300" dirty="0"/>
          </a:p>
        </p:txBody>
      </p:sp>
      <p:sp>
        <p:nvSpPr>
          <p:cNvPr id="170" name="Text 168"/>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71" name="Shape 169"/>
          <p:cNvSpPr/>
          <p:nvPr/>
        </p:nvSpPr>
        <p:spPr>
          <a:xfrm>
            <a:off x="11521440" y="3486016"/>
            <a:ext cx="54864" cy="157062"/>
          </a:xfrm>
          <a:prstGeom prst="rect">
            <a:avLst/>
          </a:prstGeom>
          <a:solidFill>
            <a:srgbClr val="9AA3AD"/>
          </a:solidFill>
          <a:ln/>
        </p:spPr>
        <p:txBody>
          <a:bodyPr/>
          <a:p/>
        </p:txBody>
      </p:sp>
      <p:sp>
        <p:nvSpPr>
          <p:cNvPr id="172" name="Text 17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73" name="Text 17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74" name="Shape 172"/>
          <p:cNvSpPr/>
          <p:nvPr/>
        </p:nvSpPr>
        <p:spPr>
          <a:xfrm>
            <a:off x="8536111" y="3744710"/>
            <a:ext cx="92460" cy="136676"/>
          </a:xfrm>
          <a:prstGeom prst="rect">
            <a:avLst/>
          </a:prstGeom>
          <a:solidFill>
            <a:srgbClr val="C2352F"/>
          </a:solidFill>
          <a:ln/>
        </p:spPr>
        <p:txBody>
          <a:bodyPr/>
          <a:p/>
        </p:txBody>
      </p:sp>
      <p:sp>
        <p:nvSpPr>
          <p:cNvPr id="175" name="Text 173"/>
          <p:cNvSpPr txBox="1"/>
          <p:nvPr/>
        </p:nvSpPr>
        <p:spPr>
          <a:xfrm>
            <a:off x="8951976" y="368879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176" name="Text 174"/>
          <p:cNvSpPr txBox="1"/>
          <p:nvPr/>
        </p:nvSpPr>
        <p:spPr>
          <a:xfrm>
            <a:off x="995781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−231</a:t>
            </a:r>
            <a:endParaRPr lang="en-US" sz="1300" dirty="0"/>
          </a:p>
        </p:txBody>
      </p:sp>
      <p:sp>
        <p:nvSpPr>
          <p:cNvPr id="177" name="Text 175"/>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178" name="Text 17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79" name="Text 17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80" name="Shape 178"/>
          <p:cNvSpPr/>
          <p:nvPr/>
        </p:nvSpPr>
        <p:spPr>
          <a:xfrm>
            <a:off x="8533760" y="3993212"/>
            <a:ext cx="94812" cy="136676"/>
          </a:xfrm>
          <a:prstGeom prst="rect">
            <a:avLst/>
          </a:prstGeom>
          <a:solidFill>
            <a:srgbClr val="C2352F"/>
          </a:solidFill>
          <a:ln/>
        </p:spPr>
        <p:txBody>
          <a:bodyPr/>
          <a:p/>
        </p:txBody>
      </p:sp>
      <p:sp>
        <p:nvSpPr>
          <p:cNvPr id="181" name="Text 179"/>
          <p:cNvSpPr txBox="1"/>
          <p:nvPr/>
        </p:nvSpPr>
        <p:spPr>
          <a:xfrm>
            <a:off x="8951976" y="393729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−$49K</a:t>
            </a:r>
            <a:endParaRPr lang="en-US" sz="1300" dirty="0"/>
          </a:p>
        </p:txBody>
      </p:sp>
      <p:sp>
        <p:nvSpPr>
          <p:cNvPr id="182" name="Text 180"/>
          <p:cNvSpPr txBox="1"/>
          <p:nvPr/>
        </p:nvSpPr>
        <p:spPr>
          <a:xfrm>
            <a:off x="995781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−300</a:t>
            </a:r>
            <a:endParaRPr lang="en-US" sz="1300" dirty="0"/>
          </a:p>
        </p:txBody>
      </p:sp>
      <p:sp>
        <p:nvSpPr>
          <p:cNvPr id="183" name="Text 181"/>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84" name="Text 18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85" name="Text 18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86" name="Shape 184"/>
          <p:cNvSpPr/>
          <p:nvPr/>
        </p:nvSpPr>
        <p:spPr>
          <a:xfrm>
            <a:off x="8519388" y="4241713"/>
            <a:ext cx="109184" cy="136676"/>
          </a:xfrm>
          <a:prstGeom prst="rect">
            <a:avLst/>
          </a:prstGeom>
          <a:solidFill>
            <a:srgbClr val="C2352F"/>
          </a:solidFill>
          <a:ln/>
        </p:spPr>
        <p:txBody>
          <a:bodyPr/>
          <a:p/>
        </p:txBody>
      </p:sp>
      <p:sp>
        <p:nvSpPr>
          <p:cNvPr id="187" name="Text 185"/>
          <p:cNvSpPr txBox="1"/>
          <p:nvPr/>
        </p:nvSpPr>
        <p:spPr>
          <a:xfrm>
            <a:off x="8951976" y="4185800"/>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−$56K</a:t>
            </a:r>
            <a:endParaRPr lang="en-US" sz="1300" dirty="0"/>
          </a:p>
        </p:txBody>
      </p:sp>
      <p:sp>
        <p:nvSpPr>
          <p:cNvPr id="188" name="Text 186"/>
          <p:cNvSpPr txBox="1"/>
          <p:nvPr/>
        </p:nvSpPr>
        <p:spPr>
          <a:xfrm>
            <a:off x="995781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−382</a:t>
            </a:r>
            <a:endParaRPr lang="en-US" sz="1300" dirty="0"/>
          </a:p>
        </p:txBody>
      </p:sp>
      <p:sp>
        <p:nvSpPr>
          <p:cNvPr id="189" name="Text 187"/>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a:t>
            </a:r>
            <a:endParaRPr lang="en-US" sz="1300" dirty="0"/>
          </a:p>
        </p:txBody>
      </p:sp>
      <p:sp>
        <p:nvSpPr>
          <p:cNvPr id="190" name="Text 18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91" name="Text 18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92" name="Shape 190"/>
          <p:cNvSpPr/>
          <p:nvPr/>
        </p:nvSpPr>
        <p:spPr>
          <a:xfrm>
            <a:off x="8518626" y="4490215"/>
            <a:ext cx="109946" cy="136676"/>
          </a:xfrm>
          <a:prstGeom prst="rect">
            <a:avLst/>
          </a:prstGeom>
          <a:solidFill>
            <a:srgbClr val="C2352F"/>
          </a:solidFill>
          <a:ln/>
        </p:spPr>
        <p:txBody>
          <a:bodyPr/>
          <a:p/>
        </p:txBody>
      </p:sp>
      <p:sp>
        <p:nvSpPr>
          <p:cNvPr id="193" name="Text 191"/>
          <p:cNvSpPr txBox="1"/>
          <p:nvPr/>
        </p:nvSpPr>
        <p:spPr>
          <a:xfrm>
            <a:off x="8951976" y="4434302"/>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−$57K</a:t>
            </a:r>
            <a:endParaRPr lang="en-US" sz="1300" dirty="0"/>
          </a:p>
        </p:txBody>
      </p:sp>
      <p:sp>
        <p:nvSpPr>
          <p:cNvPr id="194" name="Text 192"/>
          <p:cNvSpPr txBox="1"/>
          <p:nvPr/>
        </p:nvSpPr>
        <p:spPr>
          <a:xfrm>
            <a:off x="995781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a:t>
            </a:r>
            <a:endParaRPr lang="en-US" sz="1300" dirty="0"/>
          </a:p>
        </p:txBody>
      </p:sp>
      <p:sp>
        <p:nvSpPr>
          <p:cNvPr id="195" name="Text 193"/>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a:t>
            </a:r>
            <a:endParaRPr lang="en-US" sz="1300" dirty="0"/>
          </a:p>
        </p:txBody>
      </p:sp>
      <p:sp>
        <p:nvSpPr>
          <p:cNvPr id="196" name="Text 19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97" name="Text 19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98" name="Shape 196"/>
          <p:cNvSpPr/>
          <p:nvPr/>
        </p:nvSpPr>
        <p:spPr>
          <a:xfrm>
            <a:off x="8505476" y="4738717"/>
            <a:ext cx="123095" cy="136676"/>
          </a:xfrm>
          <a:prstGeom prst="rect">
            <a:avLst/>
          </a:prstGeom>
          <a:solidFill>
            <a:srgbClr val="C2352F"/>
          </a:solidFill>
          <a:ln/>
        </p:spPr>
        <p:txBody>
          <a:bodyPr/>
          <a:p/>
        </p:txBody>
      </p:sp>
      <p:sp>
        <p:nvSpPr>
          <p:cNvPr id="199" name="Text 197"/>
          <p:cNvSpPr txBox="1"/>
          <p:nvPr/>
        </p:nvSpPr>
        <p:spPr>
          <a:xfrm>
            <a:off x="8951976" y="4682804"/>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−$63K</a:t>
            </a:r>
            <a:endParaRPr lang="en-US" sz="1300" dirty="0"/>
          </a:p>
        </p:txBody>
      </p:sp>
      <p:sp>
        <p:nvSpPr>
          <p:cNvPr id="200" name="Text 198"/>
          <p:cNvSpPr txBox="1"/>
          <p:nvPr/>
        </p:nvSpPr>
        <p:spPr>
          <a:xfrm>
            <a:off x="995781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−386</a:t>
            </a:r>
            <a:endParaRPr lang="en-US" sz="1300" dirty="0"/>
          </a:p>
        </p:txBody>
      </p:sp>
      <p:sp>
        <p:nvSpPr>
          <p:cNvPr id="201" name="Text 199"/>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202" name="Shape 200"/>
          <p:cNvSpPr/>
          <p:nvPr/>
        </p:nvSpPr>
        <p:spPr>
          <a:xfrm>
            <a:off x="11521440" y="4728524"/>
            <a:ext cx="54864" cy="157062"/>
          </a:xfrm>
          <a:prstGeom prst="rect">
            <a:avLst/>
          </a:prstGeom>
          <a:solidFill>
            <a:srgbClr val="9AA3AD"/>
          </a:solidFill>
          <a:ln/>
        </p:spPr>
        <p:txBody>
          <a:bodyPr/>
          <a:p/>
        </p:txBody>
      </p:sp>
      <p:sp>
        <p:nvSpPr>
          <p:cNvPr id="203" name="Text 201"/>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204" name="Text 202"/>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205" name="Shape 203"/>
          <p:cNvSpPr/>
          <p:nvPr/>
        </p:nvSpPr>
        <p:spPr>
          <a:xfrm>
            <a:off x="8470218" y="4987218"/>
            <a:ext cx="158353" cy="136676"/>
          </a:xfrm>
          <a:prstGeom prst="rect">
            <a:avLst/>
          </a:prstGeom>
          <a:solidFill>
            <a:srgbClr val="C2352F"/>
          </a:solidFill>
          <a:ln/>
        </p:spPr>
        <p:txBody>
          <a:bodyPr/>
          <a:p/>
        </p:txBody>
      </p:sp>
      <p:sp>
        <p:nvSpPr>
          <p:cNvPr id="206" name="Text 204"/>
          <p:cNvSpPr txBox="1"/>
          <p:nvPr/>
        </p:nvSpPr>
        <p:spPr>
          <a:xfrm>
            <a:off x="8951976" y="4931305"/>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−$82K</a:t>
            </a:r>
            <a:endParaRPr lang="en-US" sz="1300" dirty="0"/>
          </a:p>
        </p:txBody>
      </p:sp>
      <p:sp>
        <p:nvSpPr>
          <p:cNvPr id="207" name="Text 205"/>
          <p:cNvSpPr txBox="1"/>
          <p:nvPr/>
        </p:nvSpPr>
        <p:spPr>
          <a:xfrm>
            <a:off x="995781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−880</a:t>
            </a:r>
            <a:endParaRPr lang="en-US" sz="1300" dirty="0"/>
          </a:p>
        </p:txBody>
      </p:sp>
      <p:sp>
        <p:nvSpPr>
          <p:cNvPr id="208" name="Text 206"/>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209" name="Shape 207"/>
          <p:cNvSpPr/>
          <p:nvPr/>
        </p:nvSpPr>
        <p:spPr>
          <a:xfrm>
            <a:off x="11521440" y="4977025"/>
            <a:ext cx="54864" cy="157062"/>
          </a:xfrm>
          <a:prstGeom prst="rect">
            <a:avLst/>
          </a:prstGeom>
          <a:solidFill>
            <a:srgbClr val="C2352F"/>
          </a:solidFill>
          <a:ln/>
        </p:spPr>
        <p:txBody>
          <a:bodyPr/>
          <a:p/>
        </p:txBody>
      </p:sp>
      <p:sp>
        <p:nvSpPr>
          <p:cNvPr id="210" name="Text 208"/>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211" name="Text 209"/>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212" name="Shape 210"/>
          <p:cNvSpPr/>
          <p:nvPr/>
        </p:nvSpPr>
        <p:spPr>
          <a:xfrm>
            <a:off x="8441579" y="5235720"/>
            <a:ext cx="186992" cy="136676"/>
          </a:xfrm>
          <a:prstGeom prst="rect">
            <a:avLst/>
          </a:prstGeom>
          <a:solidFill>
            <a:srgbClr val="C2352F"/>
          </a:solidFill>
          <a:ln/>
        </p:spPr>
        <p:txBody>
          <a:bodyPr/>
          <a:p/>
        </p:txBody>
      </p:sp>
      <p:sp>
        <p:nvSpPr>
          <p:cNvPr id="213" name="Text 211"/>
          <p:cNvSpPr txBox="1"/>
          <p:nvPr/>
        </p:nvSpPr>
        <p:spPr>
          <a:xfrm>
            <a:off x="8951976" y="5179807"/>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−$96K</a:t>
            </a:r>
            <a:endParaRPr lang="en-US" sz="1300" dirty="0"/>
          </a:p>
        </p:txBody>
      </p:sp>
      <p:sp>
        <p:nvSpPr>
          <p:cNvPr id="214" name="Text 212"/>
          <p:cNvSpPr txBox="1"/>
          <p:nvPr/>
        </p:nvSpPr>
        <p:spPr>
          <a:xfrm>
            <a:off x="995781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−792</a:t>
            </a:r>
            <a:endParaRPr lang="en-US" sz="1300" dirty="0"/>
          </a:p>
        </p:txBody>
      </p:sp>
      <p:sp>
        <p:nvSpPr>
          <p:cNvPr id="215" name="Text 213"/>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216" name="Text 214"/>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17" name="Text 215"/>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18" name="Shape 216"/>
          <p:cNvSpPr/>
          <p:nvPr/>
        </p:nvSpPr>
        <p:spPr>
          <a:xfrm>
            <a:off x="8421624" y="5484222"/>
            <a:ext cx="206947" cy="136676"/>
          </a:xfrm>
          <a:prstGeom prst="rect">
            <a:avLst/>
          </a:prstGeom>
          <a:solidFill>
            <a:srgbClr val="C2352F"/>
          </a:solidFill>
          <a:ln/>
        </p:spPr>
        <p:txBody>
          <a:bodyPr/>
          <a:p/>
        </p:txBody>
      </p:sp>
      <p:sp>
        <p:nvSpPr>
          <p:cNvPr id="219" name="Text 217"/>
          <p:cNvSpPr txBox="1"/>
          <p:nvPr/>
        </p:nvSpPr>
        <p:spPr>
          <a:xfrm>
            <a:off x="8951976" y="5428309"/>
            <a:ext cx="100584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−$107K</a:t>
            </a:r>
            <a:endParaRPr lang="en-US" sz="1300" dirty="0"/>
          </a:p>
        </p:txBody>
      </p:sp>
      <p:sp>
        <p:nvSpPr>
          <p:cNvPr id="220" name="Text 218"/>
          <p:cNvSpPr txBox="1"/>
          <p:nvPr/>
        </p:nvSpPr>
        <p:spPr>
          <a:xfrm>
            <a:off x="995781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−439</a:t>
            </a:r>
            <a:endParaRPr lang="en-US" sz="1300" dirty="0"/>
          </a:p>
        </p:txBody>
      </p:sp>
      <p:sp>
        <p:nvSpPr>
          <p:cNvPr id="221" name="Text 219"/>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222" name="Shape 220"/>
          <p:cNvSpPr/>
          <p:nvPr/>
        </p:nvSpPr>
        <p:spPr>
          <a:xfrm>
            <a:off x="6085332" y="1700784"/>
            <a:ext cx="10973" cy="4224528"/>
          </a:xfrm>
          <a:prstGeom prst="rect">
            <a:avLst/>
          </a:prstGeom>
          <a:solidFill>
            <a:srgbClr val="D9D9D9"/>
          </a:solidFill>
          <a:ln/>
        </p:spPr>
        <p:txBody>
          <a:bodyPr/>
          <a:p/>
        </p:txBody>
      </p:sp>
      <p:sp>
        <p:nvSpPr>
          <p:cNvPr id="223" name="Shape 221"/>
          <p:cNvSpPr/>
          <p:nvPr/>
        </p:nvSpPr>
        <p:spPr>
          <a:xfrm>
            <a:off x="457200" y="6126480"/>
            <a:ext cx="11274552" cy="615696"/>
          </a:xfrm>
          <a:prstGeom prst="rect">
            <a:avLst/>
          </a:prstGeom>
          <a:solidFill>
            <a:srgbClr val="FBEBEA"/>
          </a:solidFill>
          <a:ln/>
        </p:spPr>
        <p:txBody>
          <a:bodyPr/>
          <a:p/>
        </p:txBody>
      </p:sp>
      <p:sp>
        <p:nvSpPr>
          <p:cNvPr id="224" name="Text 22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26 stores under 7.5% have left $1,017,661 so far this year; 7 are at or above it. Chevy LV is furthest below at −$107K.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2026-10-26T20:24:03Z</dcterms:created>
  <dcterms:modified xsi:type="dcterms:W3CDTF">2026-10-26T20:24:03Z</dcterms:modified>
</cp:coreProperties>
</file>