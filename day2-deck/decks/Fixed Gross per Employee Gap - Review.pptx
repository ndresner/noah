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Gross: Qlik - Productivity app, P&amp;L Total Gross Profit - Fixed Ops. Headcount: ADP Employee Master extract 10/19/2026 (rebuilt 2026-10-20; the Qlik headcount history undercounted). Fixed gross per fixed employee = gross / fixed employees, Jan-Sep 2026 monthly average. Same-store, INEOS excluded (opened 2026). GMC Prescott body shop gross and body shop staff excluded. Each store compared with its own segment average a month: luxury $16,998, non-luxury $12,714 (luxury = Lexus, Lincoln, Cadillac, Volvo, Audi Reno, Audi Henderson, LR Reno, LR LV, LR Henderson). Gross/yr = (segment average - store) x the store's average fixed employees x 12. Stores at or above their segment average are not shown. Per emp = the store's fixed gross per fixed employee a month. Seg avg = its segment's average.Framing: gross the team already in the building could produce, not a headcount target. Luxury stores are measured against luxury, non-luxury against non-luxury. Audi Henderson ($23,686) lifts the luxury average; Lincoln ($11,127) sits below even the non-luxury average.
CADILLAC (luxury): $14,260 per employee a month vs $16,998; 74.8 fixed employees; $2,456,862 a year
LINCOLN (luxury): $10,963 per employee a month vs $16,998; 30.2 fixed employees; $2,188,561 a year
CHEVY GMC BULLHEAD (non-luxury): $10,391 per employee a month vs $12,714; 48.4 fixed employees; $1,350,504 a year
CDJR POST FALLS (non-luxury): $9,953 per employee a month vs $12,714; 39.7 fixed employees; $1,314,435 a year
CHEVY LV (non-luxury): $12,042 per employee a month vs $12,714; 152.7 fixed employees; $1,232,343 a year
TOYOTA SPOKANE (non-luxury): $11,128 per employee a month vs $12,714; 59.2 fixed employees; $1,127,104 a year
TOYOTA FLAGSTAFF (non-luxury): $10,794 per employee a month vs $12,714; 46.0 fixed employees; $1,060,118 a year
GMC PRESCOTT (non-luxury): $9,498 per employee a month vs $12,714; 26.6 fixed employees; $1,024,925 a year
TOYOTA PRESCOTT (non-luxury): $11,044 per employee a month vs $12,714; 51.1 fixed employees; $1,024,357 a year
AUDI RENO (luxury): $14,916 per employee a month vs $16,998; 33.2 fixed employees; $830,073 a year
HONDA FLAGSTAFF (non-luxury): $9,149 per employee a month vs $12,714; 19.3 fixed employees; $827,082 a year
NISSAN (non-luxury): $11,957 per employee a month vs $12,714; 44.4 fixed employees; $403,638 a year
VW HENDERSON (non-luxury): $12,006 per employee a month vs $12,714; 44.3 fixed employees; $376,895 a year
VW ST GEORGE (non-luxury): $9,878 per employee a month vs $12,714; 10.9 fixed employees; $370,634 a year
LR RENO (luxury): $15,226 per employee a month vs $16,998; 16.1 fixed employees; $342,526 a year
HYUNDAI ST GEORGE (non-luxury): $11,541 per employee a month vs $12,714; 22.0 fixed employees; $309,678 a year
HYUNDAI PRESCOTT (non-luxury): $11,631 per employee a month vs $12,714; 14.7 fixed employees; $190,674 a year
KIA ST GEORGE (non-luxury): $12,103 per employee a month vs $12,714; 21.4 fixed employees; $157,193 a year
ACURA (non-luxury): $12,364 per employee a month vs $12,714; 26.0 fixed employees; $109,303 a year
SUBARU PRESCOTT (non-luxury): $12,501 per employee a month vs $12,714; 24.0 fixed employees; $61,379 a year
LEXUS (luxury): $16,919 per employee a month vs $16,998; 27.2 fixed employees; $25,739 a year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 per Fixed Employee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355848" y="1316736"/>
            <a:ext cx="1024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379976" y="1316736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emp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48072" y="1316736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 avg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06256" y="1316736"/>
            <a:ext cx="1024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930384" y="1316736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emp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698480" y="1316736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 avg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70078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871216" y="1787195"/>
            <a:ext cx="42976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55848" y="170078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$2,456,862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379976" y="170078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$14,260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148072" y="170078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208483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14984" y="208483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871216" y="2171243"/>
            <a:ext cx="382835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355848" y="2084832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$2,188,561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379976" y="208483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$10,963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148072" y="208483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246888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" y="246888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871216" y="2555291"/>
            <a:ext cx="23623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355848" y="246888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$1,350,504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379976" y="246888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$10,391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148072" y="246888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852928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85292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871216" y="2939339"/>
            <a:ext cx="22992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355848" y="285292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$1,314,435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4379976" y="285292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$9,953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148072" y="285292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236976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23697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71216" y="3323387"/>
            <a:ext cx="21556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355848" y="323697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$1,232,343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379976" y="323697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$12,042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48072" y="323697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621024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62102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871216" y="3707435"/>
            <a:ext cx="197159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355848" y="362102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$1,127,104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379976" y="362102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$11,128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5148072" y="362102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400507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014984" y="40050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2871216" y="4091483"/>
            <a:ext cx="185442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355848" y="4005072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$1,060,118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379976" y="400507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$10,794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148072" y="400507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438912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1014984" y="438912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2871216" y="4475531"/>
            <a:ext cx="179286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355848" y="438912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$1,024,925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379976" y="438912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$9,498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148072" y="438912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4773168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477316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2871216" y="4859579"/>
            <a:ext cx="179186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3355848" y="477316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$1,024,357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379976" y="477316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$11,044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148072" y="477316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5157216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515721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2871216" y="5243627"/>
            <a:ext cx="145201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355848" y="515721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$830,073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379976" y="515721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$14,916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148072" y="515721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5541264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554126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>
            <a:off x="2871216" y="5627675"/>
            <a:ext cx="14467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3355848" y="554126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$827,082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4379976" y="554126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$9,149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48072" y="554126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6208776" y="1700784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565392" y="170078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8421624" y="1787195"/>
            <a:ext cx="70607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8906256" y="170078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$403,638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9930384" y="170078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$11,957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10698480" y="170078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208776" y="208483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6565392" y="208483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8421624" y="2171243"/>
            <a:ext cx="65929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8906256" y="2084832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$376,895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9930384" y="208483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$12,006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10698480" y="208483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6208776" y="246888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565392" y="246888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92" name="Shape 90"/>
          <p:cNvSpPr/>
          <p:nvPr/>
        </p:nvSpPr>
        <p:spPr>
          <a:xfrm>
            <a:off x="8421624" y="2555291"/>
            <a:ext cx="64833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8906256" y="246888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$370,634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9930384" y="246888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$9,878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10698480" y="246888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2852928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285292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8421624" y="2939339"/>
            <a:ext cx="59917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8906256" y="285292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$342,526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9930384" y="285292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$15,226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698480" y="285292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3236976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565392" y="323697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04" name="Shape 102"/>
          <p:cNvSpPr/>
          <p:nvPr/>
        </p:nvSpPr>
        <p:spPr>
          <a:xfrm>
            <a:off x="8421624" y="3323387"/>
            <a:ext cx="54171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8906256" y="323697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$309,678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9930384" y="323697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$11,541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10698480" y="323697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208776" y="3621024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6565392" y="362102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10" name="Shape 108"/>
          <p:cNvSpPr/>
          <p:nvPr/>
        </p:nvSpPr>
        <p:spPr>
          <a:xfrm>
            <a:off x="8421624" y="3707435"/>
            <a:ext cx="33354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8906256" y="362102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$190,674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9930384" y="362102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$11,631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10698480" y="362102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400507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565392" y="40050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16" name="Shape 114"/>
          <p:cNvSpPr/>
          <p:nvPr/>
        </p:nvSpPr>
        <p:spPr>
          <a:xfrm>
            <a:off x="8421624" y="4091483"/>
            <a:ext cx="27497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8906256" y="4005072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$157,193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9930384" y="400507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$12,103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10698480" y="400507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438912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438912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22" name="Shape 120"/>
          <p:cNvSpPr/>
          <p:nvPr/>
        </p:nvSpPr>
        <p:spPr>
          <a:xfrm>
            <a:off x="8421624" y="4475531"/>
            <a:ext cx="19120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8906256" y="438912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$109,303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9930384" y="438912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$12,364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698480" y="438912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4773168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477316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421624" y="4859579"/>
            <a:ext cx="1828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8906256" y="477316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$61,379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930384" y="477316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$12,501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698480" y="477316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5157216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515721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34" name="Shape 132"/>
          <p:cNvSpPr/>
          <p:nvPr/>
        </p:nvSpPr>
        <p:spPr>
          <a:xfrm>
            <a:off x="8421624" y="5243627"/>
            <a:ext cx="1828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8906256" y="515721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$25,739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9930384" y="515721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$16,919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10698480" y="515721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Luxury stores are compared with $16,998 a month, non-luxury with $12,714. 21 stores below their average leave $16,784,025 a year with the same staff.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2026-10-25T23:10:55Z</dcterms:created>
  <dcterms:modified xsi:type="dcterms:W3CDTF">2026-10-25T23:10:55Z</dcterms:modified>
</cp:coreProperties>
</file>